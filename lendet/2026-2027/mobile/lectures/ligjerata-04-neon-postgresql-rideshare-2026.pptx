
<file path=[Content_Types].xml><?xml version="1.0" encoding="utf-8"?>
<Types xmlns="http://schemas.openxmlformats.org/package/2006/content-types">
  <Default Extension="xml" ContentType="application/vnd.openxmlformats-package.core-properties+xml"/>
  <Default Extension="png" ContentType="image/png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</Types>
</file>

<file path=_rels/.rels><?xml version='1.0' encoding='utf-8'?>
<Relationships xmlns="http://schemas.openxmlformats.org/package/2006/relationships"><Relationship Type="http://schemas.openxmlformats.org/package/2006/relationships/metadata/core-properties" Target="/docProps/core.xml" Id="R09007da319ea4a3b"/><Relationship Type="http://schemas.openxmlformats.org/officeDocument/2006/relationships/extended-properties" Target="/docProps/app.xml" Id="Rfa6cd50827a24427"/><Relationship Type="http://schemas.openxmlformats.org/officeDocument/2006/relationships/officeDocument" Target="/ppt/presentation.xml" Id="Recf6c511f7364f93"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32f700e982f04b62"/>
  </p:sldMasterIdLst>
  <p:sldIdLst>
    <p:sldId xmlns:r="http://schemas.openxmlformats.org/officeDocument/2006/relationships" id="256" r:id="R0b58241ca65c4a25"/>
    <p:sldId xmlns:r="http://schemas.openxmlformats.org/officeDocument/2006/relationships" id="257" r:id="R1b08c80eb2854183"/>
    <p:sldId xmlns:r="http://schemas.openxmlformats.org/officeDocument/2006/relationships" id="258" r:id="R04221dabb39d48ab"/>
    <p:sldId xmlns:r="http://schemas.openxmlformats.org/officeDocument/2006/relationships" id="259" r:id="R9579cb5cf91147ab"/>
    <p:sldId xmlns:r="http://schemas.openxmlformats.org/officeDocument/2006/relationships" id="260" r:id="R68057e8fac5c4adf"/>
    <p:sldId xmlns:r="http://schemas.openxmlformats.org/officeDocument/2006/relationships" id="261" r:id="Re270c51eb55c4cd3"/>
    <p:sldId xmlns:r="http://schemas.openxmlformats.org/officeDocument/2006/relationships" id="262" r:id="Ra926b2f054134575"/>
    <p:sldId xmlns:r="http://schemas.openxmlformats.org/officeDocument/2006/relationships" id="263" r:id="R43da0ced30d34969"/>
    <p:sldId xmlns:r="http://schemas.openxmlformats.org/officeDocument/2006/relationships" id="264" r:id="R051e3f8fba1f44ff"/>
    <p:sldId xmlns:r="http://schemas.openxmlformats.org/officeDocument/2006/relationships" id="265" r:id="R9639caeb60ec4bdb"/>
    <p:sldId xmlns:r="http://schemas.openxmlformats.org/officeDocument/2006/relationships" id="266" r:id="Rdaf5fcf9055c40e3"/>
    <p:sldId xmlns:r="http://schemas.openxmlformats.org/officeDocument/2006/relationships" id="267" r:id="Rb7f18537419343c1"/>
    <p:sldId xmlns:r="http://schemas.openxmlformats.org/officeDocument/2006/relationships" id="268" r:id="R54faa88fb0da400f"/>
    <p:sldId xmlns:r="http://schemas.openxmlformats.org/officeDocument/2006/relationships" id="269" r:id="R0d90b6d7a7b940b0"/>
    <p:sldId xmlns:r="http://schemas.openxmlformats.org/officeDocument/2006/relationships" id="270" r:id="R124c16c5404a4ef3"/>
    <p:sldId xmlns:r="http://schemas.openxmlformats.org/officeDocument/2006/relationships" id="271" r:id="R4b6017b86c7a430f"/>
    <p:sldId xmlns:r="http://schemas.openxmlformats.org/officeDocument/2006/relationships" id="272" r:id="R870c7b9d29244f78"/>
    <p:sldId xmlns:r="http://schemas.openxmlformats.org/officeDocument/2006/relationships" id="273" r:id="R878a77bad1e34ea8"/>
    <p:sldId xmlns:r="http://schemas.openxmlformats.org/officeDocument/2006/relationships" id="274" r:id="R549bd33a29c84bc2"/>
  </p:sldIdLst>
  <p:sldSz cx="12192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<?xml version='1.0' encoding='utf-8'?>
<Relationships xmlns="http://schemas.openxmlformats.org/package/2006/relationships"><Relationship Type="http://schemas.openxmlformats.org/officeDocument/2006/relationships/theme" Target="/ppt/theme/theme1.xml" Id="Rcdfde993b79444b9"/><Relationship Type="http://schemas.openxmlformats.org/officeDocument/2006/relationships/slideMaster" Target="/ppt/slideMasters/slideMaster1.xml" Id="R32f700e982f04b62"/><Relationship Type="http://schemas.openxmlformats.org/officeDocument/2006/relationships/presProps" Target="/ppt/presProps.xml" Id="R313e706772264d0a"/><Relationship Type="http://schemas.openxmlformats.org/officeDocument/2006/relationships/tableStyles" Target="/ppt/tableStyles.xml" Id="Rc5a6fd0a5f824471"/><Relationship Type="http://schemas.openxmlformats.org/officeDocument/2006/relationships/slide" Target="/ppt/slides/slide1.xml" Id="R0b58241ca65c4a25"/><Relationship Type="http://schemas.openxmlformats.org/officeDocument/2006/relationships/slide" Target="/ppt/slides/slide2.xml" Id="R1b08c80eb2854183"/><Relationship Type="http://schemas.openxmlformats.org/officeDocument/2006/relationships/slide" Target="/ppt/slides/slide3.xml" Id="R04221dabb39d48ab"/><Relationship Type="http://schemas.openxmlformats.org/officeDocument/2006/relationships/slide" Target="/ppt/slides/slide4.xml" Id="R9579cb5cf91147ab"/><Relationship Type="http://schemas.openxmlformats.org/officeDocument/2006/relationships/slide" Target="/ppt/slides/slide5.xml" Id="R68057e8fac5c4adf"/><Relationship Type="http://schemas.openxmlformats.org/officeDocument/2006/relationships/slide" Target="/ppt/slides/slide6.xml" Id="Re270c51eb55c4cd3"/><Relationship Type="http://schemas.openxmlformats.org/officeDocument/2006/relationships/slide" Target="/ppt/slides/slide7.xml" Id="Ra926b2f054134575"/><Relationship Type="http://schemas.openxmlformats.org/officeDocument/2006/relationships/slide" Target="/ppt/slides/slide8.xml" Id="R43da0ced30d34969"/><Relationship Type="http://schemas.openxmlformats.org/officeDocument/2006/relationships/slide" Target="/ppt/slides/slide9.xml" Id="R051e3f8fba1f44ff"/><Relationship Type="http://schemas.openxmlformats.org/officeDocument/2006/relationships/slide" Target="/ppt/slides/slide10.xml" Id="R9639caeb60ec4bdb"/><Relationship Type="http://schemas.openxmlformats.org/officeDocument/2006/relationships/slide" Target="/ppt/slides/slide11.xml" Id="Rdaf5fcf9055c40e3"/><Relationship Type="http://schemas.openxmlformats.org/officeDocument/2006/relationships/slide" Target="/ppt/slides/slide12.xml" Id="Rb7f18537419343c1"/><Relationship Type="http://schemas.openxmlformats.org/officeDocument/2006/relationships/slide" Target="/ppt/slides/slide13.xml" Id="R54faa88fb0da400f"/><Relationship Type="http://schemas.openxmlformats.org/officeDocument/2006/relationships/slide" Target="/ppt/slides/slide14.xml" Id="R0d90b6d7a7b940b0"/><Relationship Type="http://schemas.openxmlformats.org/officeDocument/2006/relationships/slide" Target="/ppt/slides/slide15.xml" Id="R124c16c5404a4ef3"/><Relationship Type="http://schemas.openxmlformats.org/officeDocument/2006/relationships/slide" Target="/ppt/slides/slide16.xml" Id="R4b6017b86c7a430f"/><Relationship Type="http://schemas.openxmlformats.org/officeDocument/2006/relationships/slide" Target="/ppt/slides/slide17.xml" Id="R870c7b9d29244f78"/><Relationship Type="http://schemas.openxmlformats.org/officeDocument/2006/relationships/slide" Target="/ppt/slides/slide18.xml" Id="R878a77bad1e34ea8"/><Relationship Type="http://schemas.openxmlformats.org/officeDocument/2006/relationships/slide" Target="/ppt/slides/slide19.xml" Id="R549bd33a29c84bc2"/></Relationships>
</file>

<file path=ppt/slideLayouts/_rels/slideLayout1.xml.rels><?xml version='1.0' encoding='utf-8'?>
<Relationships xmlns="http://schemas.openxmlformats.org/package/2006/relationships"><Relationship Type="http://schemas.openxmlformats.org/officeDocument/2006/relationships/slideMaster" Target="/ppt/slideMasters/slideMaster1.xml" Id="R715074a80b024b3e"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<?xml version='1.0' encoding='utf-8'?>
<Relationships xmlns="http://schemas.openxmlformats.org/package/2006/relationships"><Relationship Type="http://schemas.openxmlformats.org/officeDocument/2006/relationships/theme" Target="/ppt/slideMasters/theme/theme2.xml" Id="Rf55d21786d2b421f"/><Relationship Type="http://schemas.openxmlformats.org/officeDocument/2006/relationships/slideLayout" Target="/ppt/slideLayouts/slideLayout1.xml" Id="R74ad0ca9acd54305"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74ad0ca9acd54305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<?xml version='1.0' encoding='utf-8'?>
<Relationships xmlns="http://schemas.openxmlformats.org/package/2006/relationships"><Relationship Type="http://schemas.openxmlformats.org/officeDocument/2006/relationships/slideLayout" Target="/ppt/slideLayouts/slideLayout1.xml" Id="Re4fe9c7735a64a96"/><Relationship Type="http://schemas.openxmlformats.org/officeDocument/2006/relationships/image" Target="/ppt/media/image.png" Id="Ra635b39037004be5"/><Relationship Type="http://schemas.openxmlformats.org/officeDocument/2006/relationships/image" Target="/ppt/media/image2.png" Id="R0ec69f57b29549c1"/></Relationships>
</file>

<file path=ppt/slides/_rels/slide2.xml.rels><?xml version='1.0' encoding='utf-8'?>
<Relationships xmlns="http://schemas.openxmlformats.org/package/2006/relationships"><Relationship Type="http://schemas.openxmlformats.org/officeDocument/2006/relationships/slideLayout" Target="/ppt/slideLayouts/slideLayout1.xml" Id="Rf0cad1003ce742a7"/></Relationships>
</file>

<file path=ppt/slides/_rels/slide3.xml.rels><?xml version='1.0' encoding='utf-8'?>
<Relationships xmlns="http://schemas.openxmlformats.org/package/2006/relationships"><Relationship Type="http://schemas.openxmlformats.org/officeDocument/2006/relationships/slideLayout" Target="/ppt/slideLayouts/slideLayout1.xml" Id="Ra59e1b9630804fa4"/></Relationships>
</file>

<file path=ppt/slides/_rels/slide4.xml.rels><?xml version='1.0' encoding='utf-8'?>
<Relationships xmlns="http://schemas.openxmlformats.org/package/2006/relationships"><Relationship Type="http://schemas.openxmlformats.org/officeDocument/2006/relationships/slideLayout" Target="/ppt/slideLayouts/slideLayout1.xml" Id="R309aeab35c984d0f"/></Relationships>
</file>

<file path=ppt/slides/_rels/slide5.xml.rels><?xml version='1.0' encoding='utf-8'?>
<Relationships xmlns="http://schemas.openxmlformats.org/package/2006/relationships"><Relationship Type="http://schemas.openxmlformats.org/officeDocument/2006/relationships/slideLayout" Target="/ppt/slideLayouts/slideLayout1.xml" Id="R843c39d822374281"/></Relationships>
</file>

<file path=ppt/slides/_rels/slide6.xml.rels><?xml version='1.0' encoding='utf-8'?>
<Relationships xmlns="http://schemas.openxmlformats.org/package/2006/relationships"><Relationship Type="http://schemas.openxmlformats.org/officeDocument/2006/relationships/slideLayout" Target="/ppt/slideLayouts/slideLayout1.xml" Id="R8b4908321473425f"/></Relationships>
</file>

<file path=ppt/slides/_rels/slide7.xml.rels><?xml version='1.0' encoding='utf-8'?>
<Relationships xmlns="http://schemas.openxmlformats.org/package/2006/relationships"><Relationship Type="http://schemas.openxmlformats.org/officeDocument/2006/relationships/slideLayout" Target="/ppt/slideLayouts/slideLayout1.xml" Id="R8e17d9216f444f2e"/></Relationships>
</file>

<file path=ppt/slides/_rels/slide8.xml.rels><?xml version='1.0' encoding='utf-8'?>
<Relationships xmlns="http://schemas.openxmlformats.org/package/2006/relationships"><Relationship Type="http://schemas.openxmlformats.org/officeDocument/2006/relationships/slideLayout" Target="/ppt/slideLayouts/slideLayout1.xml" Id="Rb7bc5d0bb7a3403c"/></Relationships>
</file>

<file path=ppt/slides/_rels/slide9.xml.rels><?xml version='1.0' encoding='utf-8'?>
<Relationships xmlns="http://schemas.openxmlformats.org/package/2006/relationships"><Relationship Type="http://schemas.openxmlformats.org/officeDocument/2006/relationships/slideLayout" Target="/ppt/slideLayouts/slideLayout1.xml" Id="R1d499dde17c546c7"/><Relationship Type="http://schemas.openxmlformats.org/officeDocument/2006/relationships/image" Target="/ppt/media/image3.png" Id="R99d400a2c64241a8"/></Relationships>
</file>

<file path=ppt/slides/_rels/slide10.xml.rels><?xml version='1.0' encoding='utf-8'?>
<Relationships xmlns="http://schemas.openxmlformats.org/package/2006/relationships"><Relationship Type="http://schemas.openxmlformats.org/officeDocument/2006/relationships/slideLayout" Target="/ppt/slideLayouts/slideLayout1.xml" Id="R00a335402a334c64"/></Relationships>
</file>

<file path=ppt/slides/_rels/slide11.xml.rels><?xml version='1.0' encoding='utf-8'?>
<Relationships xmlns="http://schemas.openxmlformats.org/package/2006/relationships"><Relationship Type="http://schemas.openxmlformats.org/officeDocument/2006/relationships/slideLayout" Target="/ppt/slideLayouts/slideLayout1.xml" Id="Rc78730420e9741c7"/></Relationships>
</file>

<file path=ppt/slides/_rels/slide12.xml.rels><?xml version='1.0' encoding='utf-8'?>
<Relationships xmlns="http://schemas.openxmlformats.org/package/2006/relationships"><Relationship Type="http://schemas.openxmlformats.org/officeDocument/2006/relationships/slideLayout" Target="/ppt/slideLayouts/slideLayout1.xml" Id="R7cbade475a8c4b33"/></Relationships>
</file>

<file path=ppt/slides/_rels/slide13.xml.rels><?xml version='1.0' encoding='utf-8'?>
<Relationships xmlns="http://schemas.openxmlformats.org/package/2006/relationships"><Relationship Type="http://schemas.openxmlformats.org/officeDocument/2006/relationships/slideLayout" Target="/ppt/slideLayouts/slideLayout1.xml" Id="R2e8629e2d1ec44fb"/></Relationships>
</file>

<file path=ppt/slides/_rels/slide14.xml.rels><?xml version='1.0' encoding='utf-8'?>
<Relationships xmlns="http://schemas.openxmlformats.org/package/2006/relationships"><Relationship Type="http://schemas.openxmlformats.org/officeDocument/2006/relationships/slideLayout" Target="/ppt/slideLayouts/slideLayout1.xml" Id="Rf5db8c4d0d1747a7"/></Relationships>
</file>

<file path=ppt/slides/_rels/slide15.xml.rels><?xml version='1.0' encoding='utf-8'?>
<Relationships xmlns="http://schemas.openxmlformats.org/package/2006/relationships"><Relationship Type="http://schemas.openxmlformats.org/officeDocument/2006/relationships/slideLayout" Target="/ppt/slideLayouts/slideLayout1.xml" Id="Rf5db5fe9b5b14c5d"/></Relationships>
</file>

<file path=ppt/slides/_rels/slide16.xml.rels><?xml version='1.0' encoding='utf-8'?>
<Relationships xmlns="http://schemas.openxmlformats.org/package/2006/relationships"><Relationship Type="http://schemas.openxmlformats.org/officeDocument/2006/relationships/slideLayout" Target="/ppt/slideLayouts/slideLayout1.xml" Id="Rc0e7f9c065f940d0"/></Relationships>
</file>

<file path=ppt/slides/_rels/slide17.xml.rels><?xml version='1.0' encoding='utf-8'?>
<Relationships xmlns="http://schemas.openxmlformats.org/package/2006/relationships"><Relationship Type="http://schemas.openxmlformats.org/officeDocument/2006/relationships/slideLayout" Target="/ppt/slideLayouts/slideLayout1.xml" Id="Ra3b8f45b15e448db"/></Relationships>
</file>

<file path=ppt/slides/_rels/slide18.xml.rels><?xml version='1.0' encoding='utf-8'?>
<Relationships xmlns="http://schemas.openxmlformats.org/package/2006/relationships"><Relationship Type="http://schemas.openxmlformats.org/officeDocument/2006/relationships/slideLayout" Target="/ppt/slideLayouts/slideLayout1.xml" Id="Radbd143c6fad4d88"/></Relationships>
</file>

<file path=ppt/slides/_rels/slide19.xml.rels><?xml version='1.0' encoding='utf-8'?>
<Relationships xmlns="http://schemas.openxmlformats.org/package/2006/relationships"><Relationship Type="http://schemas.openxmlformats.org/officeDocument/2006/relationships/slideLayout" Target="/ppt/slideLayouts/slideLayout1.xml" Id="Ra01b208f67c14d39"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0B101B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6064AF25-45BB-47C9-8EF5-E05D740685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23850"/>
            <a:ext cx="10191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350" b="1">
                <a:solidFill>
                  <a:srgbClr val="89DDFF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89DDFF"/>
                </a:solidFill>
                <a:latin typeface="Arial"/>
                <a:ea typeface="Arial"/>
                <a:cs typeface="Arial"/>
              </a:rPr>
              <a:t>JAVA 4 · 08.10.2026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84C947D0-34F6-41A3-934C-AC377664CC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01350" y="323850"/>
            <a:ext cx="8572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350" b="0">
                <a:solidFill>
                  <a:srgbClr val="B7C5DB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B7C5DB"/>
                </a:solidFill>
                <a:latin typeface="Arial"/>
                <a:ea typeface="Arial"/>
                <a:cs typeface="Arial"/>
              </a:rPr>
              <a:t>01 / 19</a:t>
            </a:r>
          </a:p>
        </p:txBody>
      </p:sp>
      <p:pic>
        <p:nvPicPr>
          <p:cNvPr id="9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a635b39037004be5"/>
          <a:stretch xmlns:a="http://schemas.openxmlformats.org/drawingml/2006/main"/>
        </p:blipFill>
        <p:spPr>
          <a:xfrm xmlns:a="http://schemas.openxmlformats.org/drawingml/2006/main">
            <a:off x="10287000" y="925435"/>
            <a:ext cx="1238250" cy="244630"/>
          </a:xfrm>
          <a:prstGeom xmlns:a="http://schemas.openxmlformats.org/drawingml/2006/main" prst="rect">
            <a:avLst/>
          </a:prstGeom>
        </p:spPr>
      </p:pic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1529EFF1-364B-4D09-B31B-4B1DFEC03C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57250"/>
            <a:ext cx="9429750" cy="714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33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33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RideShare mban mend udhëtimet</a:t>
            </a:r>
          </a:p>
        </p:txBody>
      </p:sp>
      <p:pic>
        <p:nvPicPr>
          <p:cNvPr id="11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0ec69f57b29549c1"/>
          <a:stretch xmlns:a="http://schemas.openxmlformats.org/drawingml/2006/main"/>
        </p:blipFill>
        <p:spPr>
          <a:xfrm xmlns:a="http://schemas.openxmlformats.org/drawingml/2006/main">
            <a:off x="2659297" y="1666875"/>
            <a:ext cx="6854356" cy="3857625"/>
          </a:xfrm>
          <a:prstGeom xmlns:a="http://schemas.openxmlformats.org/drawingml/2006/main" prst="rect">
            <a:avLst/>
          </a:prstGeom>
        </p:spPr>
      </p:pic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C9ABD680-DE0C-45AB-A475-3307236780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667375"/>
            <a:ext cx="1095375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725" b="0">
                <a:solidFill>
                  <a:srgbClr val="EAF1FF"/>
                </a:solidFill>
                <a:latin typeface="Arial"/>
                <a:ea typeface="Arial"/>
                <a:cs typeface="Arial"/>
              </a:defRPr>
            </a:pPr>
            <a:r>
              <a:rPr sz="1725" b="0">
                <a:solidFill>
                  <a:srgbClr val="EAF1FF"/>
                </a:solidFill>
                <a:latin typeface="Arial"/>
                <a:ea typeface="Arial"/>
                <a:cs typeface="Arial"/>
              </a:rPr>
              <a:t>Javën e kaluar ndërtuam ekranet. Sot u japim një burim të përbashkët të dhënash.</a:t>
            </a:r>
          </a:p>
          <a:p xmlns:a="http://schemas.openxmlformats.org/drawingml/2006/main">
            <a:pPr>
              <a:defRPr sz="1725" b="0">
                <a:solidFill>
                  <a:srgbClr val="EAF1FF"/>
                </a:solidFill>
                <a:latin typeface="Arial"/>
                <a:ea typeface="Arial"/>
                <a:cs typeface="Arial"/>
              </a:defRPr>
            </a:pPr>
            <a:r>
              <a:rPr sz="1725" b="0">
                <a:solidFill>
                  <a:srgbClr val="EAF1FF"/>
                </a:solidFill>
                <a:latin typeface="Arial"/>
                <a:ea typeface="Arial"/>
                <a:cs typeface="Arial"/>
              </a:rPr>
              <a:t>Neon + PostgreSQL · Ligjëratë 45 minuta për secilin grup</a:t>
            </a:r>
          </a:p>
        </p:txBody>
      </p:sp>
    </p:spTree>
    <p:extLst>
      <p:ext uri="{BB962C8B-B14F-4D97-AF65-F5344CB8AC3E}">
        <p14:creationId xmlns:p14="http://schemas.microsoft.com/office/powerpoint/2010/main" val="1013837018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0B101B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E7600D80-EC2B-4612-A924-A22A39999C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23850"/>
            <a:ext cx="10191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350" b="1">
                <a:solidFill>
                  <a:srgbClr val="89DDFF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89DDFF"/>
                </a:solidFill>
                <a:latin typeface="Arial"/>
                <a:ea typeface="Arial"/>
                <a:cs typeface="Arial"/>
              </a:rPr>
              <a:t>PROBLEMI · 0–5 MIN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0D0C8B76-EEC5-499B-B7A4-88B81B8BF9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01350" y="323850"/>
            <a:ext cx="8572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350" b="0">
                <a:solidFill>
                  <a:srgbClr val="B7C5DB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B7C5DB"/>
                </a:solidFill>
                <a:latin typeface="Arial"/>
                <a:ea typeface="Arial"/>
                <a:cs typeface="Arial"/>
              </a:rPr>
              <a:t>02 / 19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6304849B-404E-4BBD-B6D5-1D619B7882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933450"/>
            <a:ext cx="1095375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33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33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Shoferi ndryshon orën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38549393-176D-45DE-938A-C966AFDDB7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047875"/>
            <a:ext cx="10953750" cy="3048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175" b="0">
                <a:solidFill>
                  <a:srgbClr val="EAF1FF"/>
                </a:solidFill>
                <a:latin typeface="Arial"/>
                <a:ea typeface="Arial"/>
                <a:cs typeface="Arial"/>
              </a:defRPr>
            </a:pPr>
            <a:r>
              <a:rPr sz="2175" b="0">
                <a:solidFill>
                  <a:srgbClr val="EAF1FF"/>
                </a:solidFill>
                <a:latin typeface="Arial"/>
                <a:ea typeface="Arial"/>
                <a:cs typeface="Arial"/>
              </a:rPr>
              <a:t>Arta zgjodhi udhëtimin e orës 08:15. Shoferi e ndryshon nisjen në 08:25.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>
              <a:defRPr sz="2175" b="0">
                <a:solidFill>
                  <a:srgbClr val="EAF1FF"/>
                </a:solidFill>
                <a:latin typeface="Arial"/>
                <a:ea typeface="Arial"/>
                <a:cs typeface="Arial"/>
              </a:defRPr>
            </a:pPr>
            <a:r>
              <a:rPr sz="2175" b="0">
                <a:solidFill>
                  <a:srgbClr val="EAF1FF"/>
                </a:solidFill>
                <a:latin typeface="Arial"/>
                <a:ea typeface="Arial"/>
                <a:cs typeface="Arial"/>
              </a:rPr>
              <a:t>Parashiko: ku duhet të shihet ora e re — në kartë, në detaje apo në të dyja?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>
              <a:defRPr sz="2175" b="0">
                <a:solidFill>
                  <a:srgbClr val="EAF1FF"/>
                </a:solidFill>
                <a:latin typeface="Arial"/>
                <a:ea typeface="Arial"/>
                <a:cs typeface="Arial"/>
              </a:defRPr>
            </a:pPr>
            <a:r>
              <a:rPr sz="2175" b="0">
                <a:solidFill>
                  <a:srgbClr val="EAF1FF"/>
                </a:solidFill>
                <a:latin typeface="Arial"/>
                <a:ea typeface="Arial"/>
                <a:cs typeface="Arial"/>
              </a:rPr>
              <a:t>Diskuto me personin pranë teje për 20 sekonda; pastaj zbulojmë përgjigjen.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B77BD5C1-C3B8-474D-BAE9-58BDABD621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334000"/>
            <a:ext cx="10953750" cy="1095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800" b="0">
                <a:solidFill>
                  <a:srgbClr val="8EE9D1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8EE9D1"/>
                </a:solidFill>
                <a:latin typeface="Arial"/>
                <a:ea typeface="Arial"/>
                <a:cs typeface="Arial"/>
              </a:rPr>
              <a:t>Përgjigjja: Në të dyja. Ora është e dhënë: e ndryshojmë një herë në databazë dhe të dy ekranet e lexojnë përsëri.</a:t>
            </a:r>
          </a:p>
        </p:txBody>
      </p:sp>
    </p:spTree>
    <p:extLst>
      <p:ext uri="{BB962C8B-B14F-4D97-AF65-F5344CB8AC3E}">
        <p14:creationId xmlns:p14="http://schemas.microsoft.com/office/powerpoint/2010/main" val="991943503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0B101B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24A7A570-817F-4813-923F-E470ABE826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23850"/>
            <a:ext cx="10191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350" b="1">
                <a:solidFill>
                  <a:srgbClr val="89DDFF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89DDFF"/>
                </a:solidFill>
                <a:latin typeface="Arial"/>
                <a:ea typeface="Arial"/>
                <a:cs typeface="Arial"/>
              </a:rPr>
              <a:t>VAZHDIMI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9C77A48B-3E3E-4EF9-82CF-6074368F2D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01350" y="323850"/>
            <a:ext cx="8572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350" b="0">
                <a:solidFill>
                  <a:srgbClr val="B7C5DB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B7C5DB"/>
                </a:solidFill>
                <a:latin typeface="Arial"/>
                <a:ea typeface="Arial"/>
                <a:cs typeface="Arial"/>
              </a:rPr>
              <a:t>03 / 19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021F3AF5-74E0-449E-AB13-215D9425FB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933450"/>
            <a:ext cx="1095375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33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33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Çfarë mbajmë nga Java 3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A4CEF351-8D75-4548-A9A7-EF95365DC5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047875"/>
            <a:ext cx="10953750" cy="2333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950" b="0">
                <a:solidFill>
                  <a:srgbClr val="EAF1FF"/>
                </a:solidFill>
                <a:latin typeface="Arial"/>
                <a:ea typeface="Arial"/>
                <a:cs typeface="Arial"/>
              </a:defRPr>
            </a:pPr>
            <a:r>
              <a:rPr sz="1950" b="0">
                <a:solidFill>
                  <a:srgbClr val="EAF1FF"/>
                </a:solidFill>
                <a:latin typeface="Arial"/>
                <a:ea typeface="Arial"/>
                <a:cs typeface="Arial"/>
              </a:rPr>
              <a:t>Tri kartat, komponenti KartaUdhetimi dhe adresat mbeten.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>
              <a:defRPr sz="1950" b="0">
                <a:solidFill>
                  <a:srgbClr val="EAF1FF"/>
                </a:solidFill>
                <a:latin typeface="Arial"/>
                <a:ea typeface="Arial"/>
                <a:cs typeface="Arial"/>
              </a:defRPr>
            </a:pPr>
            <a:r>
              <a:rPr sz="1950" b="0">
                <a:solidFill>
                  <a:srgbClr val="EAF1FF"/>
                </a:solidFill>
                <a:latin typeface="Arial"/>
                <a:ea typeface="Arial"/>
                <a:cs typeface="Arial"/>
              </a:rPr>
              <a:t>Lista → /udhetimi/2 → /udhetimi/2/kerkesa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>
              <a:defRPr sz="1950" b="0">
                <a:solidFill>
                  <a:srgbClr val="EAF1FF"/>
                </a:solidFill>
                <a:latin typeface="Arial"/>
                <a:ea typeface="Arial"/>
                <a:cs typeface="Arial"/>
              </a:defRPr>
            </a:pPr>
            <a:r>
              <a:rPr sz="1950" b="0">
                <a:solidFill>
                  <a:srgbClr val="EAF1FF"/>
                </a:solidFill>
                <a:latin typeface="Arial"/>
                <a:ea typeface="Arial"/>
                <a:cs typeface="Arial"/>
              </a:rPr>
              <a:t>Ndryshon burimi: vargu në kod zëvendësohet me një pyetje te Neon.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59E3496F-DE82-4500-B606-6FC9185BDB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514850"/>
            <a:ext cx="10953750" cy="1333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875" b="0">
                <a:solidFill>
                  <a:srgbClr val="8EE9D1"/>
                </a:solidFill>
                <a:latin typeface="Arial"/>
                <a:ea typeface="Arial"/>
                <a:cs typeface="Arial"/>
              </a:defRPr>
            </a:pPr>
            <a:r>
              <a:rPr sz="1875" b="0">
                <a:solidFill>
                  <a:srgbClr val="8EE9D1"/>
                </a:solidFill>
                <a:latin typeface="Arial"/>
                <a:ea typeface="Arial"/>
                <a:cs typeface="Arial"/>
              </a:rPr>
              <a:t>Java 3: udhetimet.find(...)</a:t>
            </a:r>
          </a:p>
          <a:p xmlns:a="http://schemas.openxmlformats.org/drawingml/2006/main">
            <a:pPr>
              <a:defRPr sz="1875" b="0">
                <a:solidFill>
                  <a:srgbClr val="8EE9D1"/>
                </a:solidFill>
                <a:latin typeface="Arial"/>
                <a:ea typeface="Arial"/>
                <a:cs typeface="Arial"/>
              </a:defRPr>
            </a:pPr>
            <a:r>
              <a:rPr sz="1875" b="0">
                <a:solidFill>
                  <a:srgbClr val="8EE9D1"/>
                </a:solidFill>
                <a:latin typeface="Arial"/>
                <a:ea typeface="Arial"/>
                <a:cs typeface="Arial"/>
              </a:rPr>
              <a:t>Java 4: await gjejUdhetimin(id)</a:t>
            </a:r>
          </a:p>
        </p:txBody>
      </p:sp>
    </p:spTree>
    <p:extLst>
      <p:ext uri="{BB962C8B-B14F-4D97-AF65-F5344CB8AC3E}">
        <p14:creationId xmlns:p14="http://schemas.microsoft.com/office/powerpoint/2010/main" val="76419847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0B101B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044F6874-130F-4748-B8A6-0864B39A1C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23850"/>
            <a:ext cx="10191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350" b="1">
                <a:solidFill>
                  <a:srgbClr val="89DDFF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89DDFF"/>
                </a:solidFill>
                <a:latin typeface="Arial"/>
                <a:ea typeface="Arial"/>
                <a:cs typeface="Arial"/>
              </a:rPr>
              <a:t>KONCEPTET · 5–15 MIN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79E11CB0-0F8B-4B40-AA45-5523210858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01350" y="323850"/>
            <a:ext cx="8572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350" b="0">
                <a:solidFill>
                  <a:srgbClr val="B7C5DB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B7C5DB"/>
                </a:solidFill>
                <a:latin typeface="Arial"/>
                <a:ea typeface="Arial"/>
                <a:cs typeface="Arial"/>
              </a:rPr>
              <a:t>04 / 19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08FB5C11-D550-439C-820F-E4750446E3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933450"/>
            <a:ext cx="1095375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33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33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Databaza dhe shërbimi Neon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F11C9278-B812-4D90-81FF-969402F962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047875"/>
            <a:ext cx="10953750" cy="3048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175" b="0">
                <a:solidFill>
                  <a:srgbClr val="EAF1FF"/>
                </a:solidFill>
                <a:latin typeface="Arial"/>
                <a:ea typeface="Arial"/>
                <a:cs typeface="Arial"/>
              </a:defRPr>
            </a:pPr>
            <a:r>
              <a:rPr sz="2175" b="0">
                <a:solidFill>
                  <a:srgbClr val="EAF1FF"/>
                </a:solidFill>
                <a:latin typeface="Arial"/>
                <a:ea typeface="Arial"/>
                <a:cs typeface="Arial"/>
              </a:rPr>
              <a:t>DB (Database – bazë e të dhënave) ruan të dhënat veçmas nga ekranet.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>
              <a:defRPr sz="2175" b="0">
                <a:solidFill>
                  <a:srgbClr val="EAF1FF"/>
                </a:solidFill>
                <a:latin typeface="Arial"/>
                <a:ea typeface="Arial"/>
                <a:cs typeface="Arial"/>
              </a:defRPr>
            </a:pPr>
            <a:r>
              <a:rPr sz="2175" b="0">
                <a:solidFill>
                  <a:srgbClr val="EAF1FF"/>
                </a:solidFill>
                <a:latin typeface="Arial"/>
                <a:ea typeface="Arial"/>
                <a:cs typeface="Arial"/>
              </a:rPr>
              <a:t>PostgreSQL është sistemi që organizon tabelat dhe ekzekuton pyetjet SQL. Neon ofron PostgreSQL në cloud.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>
              <a:defRPr sz="2175" b="0">
                <a:solidFill>
                  <a:srgbClr val="EAF1FF"/>
                </a:solidFill>
                <a:latin typeface="Arial"/>
                <a:ea typeface="Arial"/>
                <a:cs typeface="Arial"/>
              </a:defRPr>
            </a:pPr>
            <a:r>
              <a:rPr sz="2175" b="0">
                <a:solidFill>
                  <a:srgbClr val="EAF1FF"/>
                </a:solidFill>
                <a:latin typeface="Arial"/>
                <a:ea typeface="Arial"/>
                <a:cs typeface="Arial"/>
              </a:rPr>
              <a:t>Neon është zgjedhja jonë kryesore përmes Vercel Marketplace. Supabase mbetet alternativë.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8ABC2A7B-80C7-48E7-8A3A-99327E4200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72250"/>
            <a:ext cx="10953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900" b="0">
                <a:solidFill>
                  <a:srgbClr val="B7C5DB"/>
                </a:solidFill>
                <a:latin typeface="Arial"/>
                <a:ea typeface="Arial"/>
                <a:cs typeface="Arial"/>
              </a:defRPr>
            </a:pPr>
            <a:r>
              <a:rPr sz="900" b="0">
                <a:solidFill>
                  <a:srgbClr val="B7C5DB"/>
                </a:solidFill>
                <a:latin typeface="Arial"/>
                <a:ea typeface="Arial"/>
                <a:cs typeface="Arial"/>
              </a:rPr>
              <a:t>https://neon.com/docs/guides/vercel-native-integration  |  https://vercel.com/docs/marketplace-storage</a:t>
            </a:r>
          </a:p>
        </p:txBody>
      </p:sp>
    </p:spTree>
    <p:extLst>
      <p:ext uri="{BB962C8B-B14F-4D97-AF65-F5344CB8AC3E}">
        <p14:creationId xmlns:p14="http://schemas.microsoft.com/office/powerpoint/2010/main" val="1243842282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0B101B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C382FEA6-32CE-4F82-AC30-EF6C341D29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23850"/>
            <a:ext cx="10191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350" b="1">
                <a:solidFill>
                  <a:srgbClr val="89DDFF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89DDFF"/>
                </a:solidFill>
                <a:latin typeface="Arial"/>
                <a:ea typeface="Arial"/>
                <a:cs typeface="Arial"/>
              </a:rPr>
              <a:t>MODELI I RIDESHARE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81328DB9-07DF-414B-9439-1A51994AB9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01350" y="323850"/>
            <a:ext cx="8572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350" b="0">
                <a:solidFill>
                  <a:srgbClr val="B7C5DB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B7C5DB"/>
                </a:solidFill>
                <a:latin typeface="Arial"/>
                <a:ea typeface="Arial"/>
                <a:cs typeface="Arial"/>
              </a:rPr>
              <a:t>05 / 19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3EA7DCD4-FECC-4CEB-8255-1615D50B4B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933450"/>
            <a:ext cx="1095375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33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33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Një tabelë, tri udhëtime</a:t>
            </a:r>
          </a:p>
        </p:txBody>
      </p:sp>
      <p:graphicFrame>
        <p:nvGraphicFramePr>
          <p:cNvPr id="10" name=""/>
          <p:cNvGraphicFramePr/>
          <p:nvPr/>
        </p:nvGraphicFramePr>
        <p:xfrm>
          <a:off xmlns:a="http://schemas.openxmlformats.org/drawingml/2006/main" x="609600" y="2047875"/>
          <a:ext xmlns:a="http://schemas.openxmlformats.org/drawingml/2006/main" cx="10953750" cy="2238375"/>
        </p:xfrm>
        <a:graphic xmlns:a="http://schemas.openxmlformats.org/drawingml/2006/main">
          <a:graphicData uri="http://schemas.openxmlformats.org/drawingml/2006/table">
            <a:tbl>
              <a:tblPr/>
              <a:tblGrid>
                <a:gridCol w="1190625"/>
                <a:gridCol w="5000625"/>
                <a:gridCol w="2381250"/>
                <a:gridCol w="2381250"/>
              </a:tblGrid>
              <a:tr h="559594">
                <a:tc>
                  <a:txBody>
                    <a:bodyPr/>
                    <a:lstStyle/>
                    <a:p>
                      <a:r>
                        <a:rPr sz="2025" b="1">
                          <a:solidFill>
                            <a:srgbClr val="89DDFF"/>
                          </a:solidFill>
                          <a:latin typeface="Arial"/>
                          <a:ea typeface="Arial"/>
                          <a:cs typeface="Arial"/>
                        </a:rPr>
                        <a:t>id</a:t>
                      </a:r>
                    </a:p>
                  </a:txBody>
                  <a:tcPr marL="152400" marR="152400" marT="95250" marB="95250">
                    <a:solidFill>
                      <a:srgbClr val="14223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25" b="1">
                          <a:solidFill>
                            <a:srgbClr val="89DDFF"/>
                          </a:solidFill>
                          <a:latin typeface="Arial"/>
                          <a:ea typeface="Arial"/>
                          <a:cs typeface="Arial"/>
                        </a:rPr>
                        <a:t>nisja</a:t>
                      </a:r>
                    </a:p>
                  </a:txBody>
                  <a:tcPr marL="152400" marR="152400" marT="95250" marB="95250">
                    <a:solidFill>
                      <a:srgbClr val="14223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25" b="1">
                          <a:solidFill>
                            <a:srgbClr val="89DDFF"/>
                          </a:solidFill>
                          <a:latin typeface="Arial"/>
                          <a:ea typeface="Arial"/>
                          <a:cs typeface="Arial"/>
                        </a:rPr>
                        <a:t>ora</a:t>
                      </a:r>
                    </a:p>
                  </a:txBody>
                  <a:tcPr marL="152400" marR="152400" marT="95250" marB="95250">
                    <a:solidFill>
                      <a:srgbClr val="14223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25" b="1">
                          <a:solidFill>
                            <a:srgbClr val="89DDFF"/>
                          </a:solidFill>
                          <a:latin typeface="Arial"/>
                          <a:ea typeface="Arial"/>
                          <a:cs typeface="Arial"/>
                        </a:rPr>
                        <a:t>vende</a:t>
                      </a:r>
                    </a:p>
                  </a:txBody>
                  <a:tcPr marL="152400" marR="152400" marT="95250" marB="95250">
                    <a:solidFill>
                      <a:srgbClr val="142238"/>
                    </a:solidFill>
                  </a:tcPr>
                </a:tc>
              </a:tr>
              <a:tr h="559594">
                <a:tc>
                  <a:txBody>
                    <a:bodyPr/>
                    <a:lstStyle/>
                    <a:p>
                      <a:r>
                        <a:rPr sz="2025">
                          <a:solidFill>
                            <a:srgbClr val="EAF1FF"/>
                          </a:solidFill>
                          <a:latin typeface="Arial"/>
                          <a:ea typeface="Arial"/>
                          <a:cs typeface="Arial"/>
                        </a:rPr>
                        <a:t>1</a:t>
                      </a:r>
                    </a:p>
                  </a:txBody>
                  <a:tcPr marL="152400" marR="152400" marT="95250" marB="95250">
                    <a:solidFill>
                      <a:srgbClr val="14223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25">
                          <a:solidFill>
                            <a:srgbClr val="EAF1FF"/>
                          </a:solidFill>
                          <a:latin typeface="Arial"/>
                          <a:ea typeface="Arial"/>
                          <a:cs typeface="Arial"/>
                        </a:rPr>
                        <a:t>Prishtinë</a:t>
                      </a:r>
                    </a:p>
                  </a:txBody>
                  <a:tcPr marL="152400" marR="152400" marT="95250" marB="95250">
                    <a:solidFill>
                      <a:srgbClr val="14223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25">
                          <a:solidFill>
                            <a:srgbClr val="EAF1FF"/>
                          </a:solidFill>
                          <a:latin typeface="Arial"/>
                          <a:ea typeface="Arial"/>
                          <a:cs typeface="Arial"/>
                        </a:rPr>
                        <a:t>08:00</a:t>
                      </a:r>
                    </a:p>
                  </a:txBody>
                  <a:tcPr marL="152400" marR="152400" marT="95250" marB="95250">
                    <a:solidFill>
                      <a:srgbClr val="14223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25">
                          <a:solidFill>
                            <a:srgbClr val="EAF1FF"/>
                          </a:solidFill>
                          <a:latin typeface="Arial"/>
                          <a:ea typeface="Arial"/>
                          <a:cs typeface="Arial"/>
                        </a:rPr>
                        <a:t>2</a:t>
                      </a:r>
                    </a:p>
                  </a:txBody>
                  <a:tcPr marL="152400" marR="152400" marT="95250" marB="95250">
                    <a:solidFill>
                      <a:srgbClr val="142238"/>
                    </a:solidFill>
                  </a:tcPr>
                </a:tc>
              </a:tr>
              <a:tr h="559594">
                <a:tc>
                  <a:txBody>
                    <a:bodyPr/>
                    <a:lstStyle/>
                    <a:p>
                      <a:r>
                        <a:rPr sz="2025">
                          <a:solidFill>
                            <a:srgbClr val="EAF1FF"/>
                          </a:solidFill>
                          <a:latin typeface="Arial"/>
                          <a:ea typeface="Arial"/>
                          <a:cs typeface="Arial"/>
                        </a:rPr>
                        <a:t>2</a:t>
                      </a:r>
                    </a:p>
                  </a:txBody>
                  <a:tcPr marL="152400" marR="152400" marT="95250" marB="95250">
                    <a:solidFill>
                      <a:srgbClr val="14223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25">
                          <a:solidFill>
                            <a:srgbClr val="EAF1FF"/>
                          </a:solidFill>
                          <a:latin typeface="Arial"/>
                          <a:ea typeface="Arial"/>
                          <a:cs typeface="Arial"/>
                        </a:rPr>
                        <a:t>Fushë Kosovë</a:t>
                      </a:r>
                    </a:p>
                  </a:txBody>
                  <a:tcPr marL="152400" marR="152400" marT="95250" marB="95250">
                    <a:solidFill>
                      <a:srgbClr val="14223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25">
                          <a:solidFill>
                            <a:srgbClr val="EAF1FF"/>
                          </a:solidFill>
                          <a:latin typeface="Arial"/>
                          <a:ea typeface="Arial"/>
                          <a:cs typeface="Arial"/>
                        </a:rPr>
                        <a:t>08:15</a:t>
                      </a:r>
                    </a:p>
                  </a:txBody>
                  <a:tcPr marL="152400" marR="152400" marT="95250" marB="95250">
                    <a:solidFill>
                      <a:srgbClr val="14223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25">
                          <a:solidFill>
                            <a:srgbClr val="EAF1FF"/>
                          </a:solidFill>
                          <a:latin typeface="Arial"/>
                          <a:ea typeface="Arial"/>
                          <a:cs typeface="Arial"/>
                        </a:rPr>
                        <a:t>1</a:t>
                      </a:r>
                    </a:p>
                  </a:txBody>
                  <a:tcPr marL="152400" marR="152400" marT="95250" marB="95250">
                    <a:solidFill>
                      <a:srgbClr val="142238"/>
                    </a:solidFill>
                  </a:tcPr>
                </a:tc>
              </a:tr>
              <a:tr h="559594">
                <a:tc>
                  <a:txBody>
                    <a:bodyPr/>
                    <a:lstStyle/>
                    <a:p>
                      <a:r>
                        <a:rPr sz="2025">
                          <a:solidFill>
                            <a:srgbClr val="EAF1FF"/>
                          </a:solidFill>
                          <a:latin typeface="Arial"/>
                          <a:ea typeface="Arial"/>
                          <a:cs typeface="Arial"/>
                        </a:rPr>
                        <a:t>3</a:t>
                      </a:r>
                    </a:p>
                  </a:txBody>
                  <a:tcPr marL="152400" marR="152400" marT="95250" marB="95250">
                    <a:solidFill>
                      <a:srgbClr val="14223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25">
                          <a:solidFill>
                            <a:srgbClr val="EAF1FF"/>
                          </a:solidFill>
                          <a:latin typeface="Arial"/>
                          <a:ea typeface="Arial"/>
                          <a:cs typeface="Arial"/>
                        </a:rPr>
                        <a:t>Lipjan</a:t>
                      </a:r>
                    </a:p>
                  </a:txBody>
                  <a:tcPr marL="152400" marR="152400" marT="95250" marB="95250">
                    <a:solidFill>
                      <a:srgbClr val="14223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25">
                          <a:solidFill>
                            <a:srgbClr val="EAF1FF"/>
                          </a:solidFill>
                          <a:latin typeface="Arial"/>
                          <a:ea typeface="Arial"/>
                          <a:cs typeface="Arial"/>
                        </a:rPr>
                        <a:t>07:45</a:t>
                      </a:r>
                    </a:p>
                  </a:txBody>
                  <a:tcPr marL="152400" marR="152400" marT="95250" marB="95250">
                    <a:solidFill>
                      <a:srgbClr val="14223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25">
                          <a:solidFill>
                            <a:srgbClr val="EAF1FF"/>
                          </a:solidFill>
                          <a:latin typeface="Arial"/>
                          <a:ea typeface="Arial"/>
                          <a:cs typeface="Arial"/>
                        </a:rPr>
                        <a:t>0</a:t>
                      </a:r>
                    </a:p>
                  </a:txBody>
                  <a:tcPr marL="152400" marR="152400" marT="95250" marB="95250">
                    <a:solidFill>
                      <a:srgbClr val="142238"/>
                    </a:solidFill>
                  </a:tcPr>
                </a:tc>
              </a:tr>
            </a:tbl>
          </a:graphicData>
        </a:graphic>
      </p:graphicFrame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4E0EA83A-B5BB-4513-9635-7B87DD7188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524375"/>
            <a:ext cx="10953750" cy="1047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950" b="0">
                <a:solidFill>
                  <a:srgbClr val="EAF1FF"/>
                </a:solidFill>
                <a:latin typeface="Arial"/>
                <a:ea typeface="Arial"/>
                <a:cs typeface="Arial"/>
              </a:defRPr>
            </a:pPr>
            <a:r>
              <a:rPr sz="1950" b="0">
                <a:solidFill>
                  <a:srgbClr val="EAF1FF"/>
                </a:solidFill>
                <a:latin typeface="Arial"/>
                <a:ea typeface="Arial"/>
                <a:cs typeface="Arial"/>
              </a:rPr>
              <a:t>Gjeje udhëtimin e Artës: Fushë Kosovë, 08:15. Cili është identifikuesi?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>
              <a:defRPr sz="1950" b="0">
                <a:solidFill>
                  <a:srgbClr val="EAF1FF"/>
                </a:solidFill>
                <a:latin typeface="Arial"/>
                <a:ea typeface="Arial"/>
                <a:cs typeface="Arial"/>
              </a:defRPr>
            </a:pPr>
            <a:r>
              <a:rPr sz="1950" b="0">
                <a:solidFill>
                  <a:srgbClr val="EAF1FF"/>
                </a:solidFill>
                <a:latin typeface="Arial"/>
                <a:ea typeface="Arial"/>
                <a:cs typeface="Arial"/>
              </a:rPr>
              <a:t>Zgjidh rreshtin për ta zgjedhur. Pastaj ndrysho vetëm orën në mendje: a ndryshon edhe ID?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F2049937-290E-44AE-9209-C791B1F5C3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715000"/>
            <a:ext cx="109537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650" b="0">
                <a:solidFill>
                  <a:srgbClr val="8EE9D1"/>
                </a:solidFill>
                <a:latin typeface="Arial"/>
                <a:ea typeface="Arial"/>
                <a:cs typeface="Arial"/>
              </a:defRPr>
            </a:pPr>
            <a:r>
              <a:rPr sz="1650" b="0">
                <a:solidFill>
                  <a:srgbClr val="8EE9D1"/>
                </a:solidFill>
                <a:latin typeface="Arial"/>
                <a:ea typeface="Arial"/>
                <a:cs typeface="Arial"/>
              </a:rPr>
              <a:t>Përgjigjja: ID mbetet 2. Identifikuesi tregon cilin udhëtim kemi; ora është një veti që mund të ndryshojë.</a:t>
            </a:r>
          </a:p>
        </p:txBody>
      </p:sp>
    </p:spTree>
    <p:extLst>
      <p:ext uri="{BB962C8B-B14F-4D97-AF65-F5344CB8AC3E}">
        <p14:creationId xmlns:p14="http://schemas.microsoft.com/office/powerpoint/2010/main" val="1242275336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0B101B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E2B4374B-5EEF-45A1-9363-694734D0EB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23850"/>
            <a:ext cx="10191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350" b="1">
                <a:solidFill>
                  <a:srgbClr val="89DDFF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89DDFF"/>
                </a:solidFill>
                <a:latin typeface="Arial"/>
                <a:ea typeface="Arial"/>
                <a:cs typeface="Arial"/>
              </a:rPr>
              <a:t>INTEGRITETI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2F9AC65A-CAF8-4DF3-9854-0052A0620D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01350" y="323850"/>
            <a:ext cx="8572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350" b="0">
                <a:solidFill>
                  <a:srgbClr val="B7C5DB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B7C5DB"/>
                </a:solidFill>
                <a:latin typeface="Arial"/>
                <a:ea typeface="Arial"/>
                <a:cs typeface="Arial"/>
              </a:rPr>
              <a:t>06 / 19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8B79825F-4CB1-4E04-B63D-E9F9E37E26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933450"/>
            <a:ext cx="1095375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33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33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Rregullat që ruajnë kuptimin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C08212D9-9188-4C36-96E1-C799256424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047875"/>
            <a:ext cx="10953750" cy="2333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950" b="0">
                <a:solidFill>
                  <a:srgbClr val="EAF1FF"/>
                </a:solidFill>
                <a:latin typeface="Arial"/>
                <a:ea typeface="Arial"/>
                <a:cs typeface="Arial"/>
              </a:defRPr>
            </a:pPr>
            <a:r>
              <a:rPr sz="1950" b="0">
                <a:solidFill>
                  <a:srgbClr val="EAF1FF"/>
                </a:solidFill>
                <a:latin typeface="Arial"/>
                <a:ea typeface="Arial"/>
                <a:cs typeface="Arial"/>
              </a:rPr>
              <a:t>PRIMARY KEY: nuk mund të kemi dy udhëtime me të njëjtin ID.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>
              <a:defRPr sz="1950" b="0">
                <a:solidFill>
                  <a:srgbClr val="EAF1FF"/>
                </a:solidFill>
                <a:latin typeface="Arial"/>
                <a:ea typeface="Arial"/>
                <a:cs typeface="Arial"/>
              </a:defRPr>
            </a:pPr>
            <a:r>
              <a:rPr sz="1950" b="0">
                <a:solidFill>
                  <a:srgbClr val="EAF1FF"/>
                </a:solidFill>
                <a:latin typeface="Arial"/>
                <a:ea typeface="Arial"/>
                <a:cs typeface="Arial"/>
              </a:rPr>
              <a:t>NOT NULL: nisja nuk mund të mungojë.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>
              <a:defRPr sz="1950" b="0">
                <a:solidFill>
                  <a:srgbClr val="EAF1FF"/>
                </a:solidFill>
                <a:latin typeface="Arial"/>
                <a:ea typeface="Arial"/>
                <a:cs typeface="Arial"/>
              </a:defRPr>
            </a:pPr>
            <a:r>
              <a:rPr sz="1950" b="0">
                <a:solidFill>
                  <a:srgbClr val="EAF1FF"/>
                </a:solidFill>
                <a:latin typeface="Arial"/>
                <a:ea typeface="Arial"/>
                <a:cs typeface="Arial"/>
              </a:rPr>
              <a:t>CHECK (vende &gt;= 0): databaza refuzon −1 vende.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>
              <a:defRPr sz="1950" b="0">
                <a:solidFill>
                  <a:srgbClr val="EAF1FF"/>
                </a:solidFill>
                <a:latin typeface="Arial"/>
                <a:ea typeface="Arial"/>
                <a:cs typeface="Arial"/>
              </a:defRPr>
            </a:pPr>
            <a:r>
              <a:rPr sz="1950" b="0">
                <a:solidFill>
                  <a:srgbClr val="EAF1FF"/>
                </a:solidFill>
                <a:latin typeface="Arial"/>
                <a:ea typeface="Arial"/>
                <a:cs typeface="Arial"/>
              </a:rPr>
              <a:t>Zero vende është e vlefshme: udhëtimi ekziston, por është i plotë.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EDA61498-4EB6-4476-AEF7-300C0309C2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514850"/>
            <a:ext cx="10953750" cy="1333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875" b="0">
                <a:solidFill>
                  <a:srgbClr val="8EE9D1"/>
                </a:solidFill>
                <a:latin typeface="Arial"/>
                <a:ea typeface="Arial"/>
                <a:cs typeface="Arial"/>
              </a:defRPr>
            </a:pPr>
            <a:r>
              <a:rPr sz="1875" b="0">
                <a:solidFill>
                  <a:srgbClr val="8EE9D1"/>
                </a:solidFill>
                <a:latin typeface="Arial"/>
                <a:ea typeface="Arial"/>
                <a:cs typeface="Arial"/>
              </a:rPr>
              <a:t>id TEXT PRIMARY KEY</a:t>
            </a:r>
          </a:p>
          <a:p xmlns:a="http://schemas.openxmlformats.org/drawingml/2006/main">
            <a:pPr>
              <a:defRPr sz="1875" b="0">
                <a:solidFill>
                  <a:srgbClr val="8EE9D1"/>
                </a:solidFill>
                <a:latin typeface="Arial"/>
                <a:ea typeface="Arial"/>
                <a:cs typeface="Arial"/>
              </a:defRPr>
            </a:pPr>
            <a:r>
              <a:rPr sz="1875" b="0">
                <a:solidFill>
                  <a:srgbClr val="8EE9D1"/>
                </a:solidFill>
                <a:latin typeface="Arial"/>
                <a:ea typeface="Arial"/>
                <a:cs typeface="Arial"/>
              </a:rPr>
              <a:t>nisja TEXT NOT NULL</a:t>
            </a:r>
          </a:p>
          <a:p xmlns:a="http://schemas.openxmlformats.org/drawingml/2006/main">
            <a:pPr>
              <a:defRPr sz="1875" b="0">
                <a:solidFill>
                  <a:srgbClr val="8EE9D1"/>
                </a:solidFill>
                <a:latin typeface="Arial"/>
                <a:ea typeface="Arial"/>
                <a:cs typeface="Arial"/>
              </a:defRPr>
            </a:pPr>
            <a:r>
              <a:rPr sz="1875" b="0">
                <a:solidFill>
                  <a:srgbClr val="8EE9D1"/>
                </a:solidFill>
                <a:latin typeface="Arial"/>
                <a:ea typeface="Arial"/>
                <a:cs typeface="Arial"/>
              </a:rPr>
              <a:t>vende INTEGER CHECK (vende &gt;= 0)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621BED62-59E4-4375-9AF2-D21CD96584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715000"/>
            <a:ext cx="109537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650" b="0">
                <a:solidFill>
                  <a:srgbClr val="8EE9D1"/>
                </a:solidFill>
                <a:latin typeface="Arial"/>
                <a:ea typeface="Arial"/>
                <a:cs typeface="Arial"/>
              </a:defRPr>
            </a:pPr>
            <a:r>
              <a:rPr sz="1650" b="0">
                <a:solidFill>
                  <a:srgbClr val="8EE9D1"/>
                </a:solidFill>
                <a:latin typeface="Arial"/>
                <a:ea typeface="Arial"/>
                <a:cs typeface="Arial"/>
              </a:rPr>
              <a:t>Përgjigjja: Provoje në mendje: −1 vende refuzohet nga CHECK. Zero vende pranohet, sepse udhëtimi mund të jetë i plotë.</a:t>
            </a:r>
          </a:p>
        </p:txBody>
      </p:sp>
    </p:spTree>
    <p:extLst>
      <p:ext uri="{BB962C8B-B14F-4D97-AF65-F5344CB8AC3E}">
        <p14:creationId xmlns:p14="http://schemas.microsoft.com/office/powerpoint/2010/main" val="1818488791"/>
      </p:ext>
    </p:extLst>
  </p:cSld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0B101B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3AD65419-AE2D-47ED-9E30-753BB17184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23850"/>
            <a:ext cx="10191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350" b="1">
                <a:solidFill>
                  <a:srgbClr val="89DDFF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89DDFF"/>
                </a:solidFill>
                <a:latin typeface="Arial"/>
                <a:ea typeface="Arial"/>
                <a:cs typeface="Arial"/>
              </a:rPr>
              <a:t>LEXIMI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26768E4B-B51F-4B09-A5F2-9BC960B157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01350" y="323850"/>
            <a:ext cx="8572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350" b="0">
                <a:solidFill>
                  <a:srgbClr val="B7C5DB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B7C5DB"/>
                </a:solidFill>
                <a:latin typeface="Arial"/>
                <a:ea typeface="Arial"/>
                <a:cs typeface="Arial"/>
              </a:rPr>
              <a:t>07 / 19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DD23FF3D-E33F-4F56-9DA0-E112797AB8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933450"/>
            <a:ext cx="1095375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33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33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SQL është mënyra si pyesim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64D62F80-28AB-42F2-8AAC-92825A4136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047875"/>
            <a:ext cx="10953750" cy="2333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950" b="0">
                <a:solidFill>
                  <a:srgbClr val="EAF1FF"/>
                </a:solidFill>
                <a:latin typeface="Arial"/>
                <a:ea typeface="Arial"/>
                <a:cs typeface="Arial"/>
              </a:defRPr>
            </a:pPr>
            <a:r>
              <a:rPr sz="1950" b="0">
                <a:solidFill>
                  <a:srgbClr val="EAF1FF"/>
                </a:solidFill>
                <a:latin typeface="Arial"/>
                <a:ea typeface="Arial"/>
                <a:cs typeface="Arial"/>
              </a:rPr>
              <a:t>SQL (Structured Query Language – gjuhë e strukturuar për pyetje).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>
              <a:defRPr sz="1950" b="0">
                <a:solidFill>
                  <a:srgbClr val="EAF1FF"/>
                </a:solidFill>
                <a:latin typeface="Arial"/>
                <a:ea typeface="Arial"/>
                <a:cs typeface="Arial"/>
              </a:defRPr>
            </a:pPr>
            <a:r>
              <a:rPr sz="1950" b="0">
                <a:solidFill>
                  <a:srgbClr val="EAF1FF"/>
                </a:solidFill>
                <a:latin typeface="Arial"/>
                <a:ea typeface="Arial"/>
                <a:cs typeface="Arial"/>
              </a:rPr>
              <a:t>SELECT zgjedh kolonat. FROM tregon tabelën. ORDER BY vendos rendin.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>
              <a:defRPr sz="1950" b="0">
                <a:solidFill>
                  <a:srgbClr val="EAF1FF"/>
                </a:solidFill>
                <a:latin typeface="Arial"/>
                <a:ea typeface="Arial"/>
                <a:cs typeface="Arial"/>
              </a:defRPr>
            </a:pPr>
            <a:r>
              <a:rPr sz="1950" b="0">
                <a:solidFill>
                  <a:srgbClr val="EAF1FF"/>
                </a:solidFill>
                <a:latin typeface="Arial"/>
                <a:ea typeface="Arial"/>
                <a:cs typeface="Arial"/>
              </a:rPr>
              <a:t>Kjo pyetje sjell të gjitha udhëtimet, jo vetëm ato me vende të lira.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284BAB30-1A34-4875-AAB6-7C6831906B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514850"/>
            <a:ext cx="10953750" cy="1333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875" b="0">
                <a:solidFill>
                  <a:srgbClr val="8EE9D1"/>
                </a:solidFill>
                <a:latin typeface="Arial"/>
                <a:ea typeface="Arial"/>
                <a:cs typeface="Arial"/>
              </a:defRPr>
            </a:pPr>
            <a:r>
              <a:rPr sz="1875" b="0">
                <a:solidFill>
                  <a:srgbClr val="8EE9D1"/>
                </a:solidFill>
                <a:latin typeface="Arial"/>
                <a:ea typeface="Arial"/>
                <a:cs typeface="Arial"/>
              </a:rPr>
              <a:t>SELECT id, nisja, ora, vende</a:t>
            </a:r>
          </a:p>
          <a:p xmlns:a="http://schemas.openxmlformats.org/drawingml/2006/main">
            <a:pPr>
              <a:defRPr sz="1875" b="0">
                <a:solidFill>
                  <a:srgbClr val="8EE9D1"/>
                </a:solidFill>
                <a:latin typeface="Arial"/>
                <a:ea typeface="Arial"/>
                <a:cs typeface="Arial"/>
              </a:defRPr>
            </a:pPr>
            <a:r>
              <a:rPr sz="1875" b="0">
                <a:solidFill>
                  <a:srgbClr val="8EE9D1"/>
                </a:solidFill>
                <a:latin typeface="Arial"/>
                <a:ea typeface="Arial"/>
                <a:cs typeface="Arial"/>
              </a:rPr>
              <a:t>FROM udhetimet</a:t>
            </a:r>
          </a:p>
          <a:p xmlns:a="http://schemas.openxmlformats.org/drawingml/2006/main">
            <a:pPr>
              <a:defRPr sz="1875" b="0">
                <a:solidFill>
                  <a:srgbClr val="8EE9D1"/>
                </a:solidFill>
                <a:latin typeface="Arial"/>
                <a:ea typeface="Arial"/>
                <a:cs typeface="Arial"/>
              </a:defRPr>
            </a:pPr>
            <a:r>
              <a:rPr sz="1875" b="0">
                <a:solidFill>
                  <a:srgbClr val="8EE9D1"/>
                </a:solidFill>
                <a:latin typeface="Arial"/>
                <a:ea typeface="Arial"/>
                <a:cs typeface="Arial"/>
              </a:rPr>
              <a:t>ORDER BY id;</a:t>
            </a:r>
          </a:p>
        </p:txBody>
      </p:sp>
    </p:spTree>
    <p:extLst>
      <p:ext uri="{BB962C8B-B14F-4D97-AF65-F5344CB8AC3E}">
        <p14:creationId xmlns:p14="http://schemas.microsoft.com/office/powerpoint/2010/main" val="872823588"/>
      </p:ext>
    </p:extLst>
  </p:cSld>
</p:sld>
</file>

<file path=ppt/slides/slide8.xml><?xml version="1.0" encoding="utf-8"?>
<p:sld xmlns:p="http://schemas.openxmlformats.org/presentationml/2006/main">
  <p:cSld>
    <p:bg>
      <p:bgPr>
        <a:solidFill xmlns:a="http://schemas.openxmlformats.org/drawingml/2006/main">
          <a:srgbClr val="0B101B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B0AA2F7A-9824-40AC-A440-AB900DA5BD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23850"/>
            <a:ext cx="10191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350" b="1">
                <a:solidFill>
                  <a:srgbClr val="89DDFF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89DDFF"/>
                </a:solidFill>
                <a:latin typeface="Arial"/>
                <a:ea typeface="Arial"/>
                <a:cs typeface="Arial"/>
              </a:rPr>
              <a:t>NDRYSHIMI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8862D0A0-4463-4CA2-9563-6FF88D6731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01350" y="323850"/>
            <a:ext cx="8572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350" b="0">
                <a:solidFill>
                  <a:srgbClr val="B7C5DB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B7C5DB"/>
                </a:solidFill>
                <a:latin typeface="Arial"/>
                <a:ea typeface="Arial"/>
                <a:cs typeface="Arial"/>
              </a:rPr>
              <a:t>08 / 19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8541FE2F-EE22-42AD-B6B5-5B4BA7335B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933450"/>
            <a:ext cx="1095375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33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33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Ndrysho vetëm udhëtimin 2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6D737F55-8A28-41BC-9C57-DE5DD8D021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047875"/>
            <a:ext cx="10953750" cy="2333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950" b="0">
                <a:solidFill>
                  <a:srgbClr val="EAF1FF"/>
                </a:solidFill>
                <a:latin typeface="Arial"/>
                <a:ea typeface="Arial"/>
                <a:cs typeface="Arial"/>
              </a:defRPr>
            </a:pPr>
            <a:r>
              <a:rPr sz="1950" b="0">
                <a:solidFill>
                  <a:srgbClr val="EAF1FF"/>
                </a:solidFill>
                <a:latin typeface="Arial"/>
                <a:ea typeface="Arial"/>
                <a:cs typeface="Arial"/>
              </a:rPr>
              <a:t>UPDATE ndryshon të dhënat. WHERE tregon cilin rresht.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>
              <a:defRPr sz="1950" b="0">
                <a:solidFill>
                  <a:srgbClr val="EAF1FF"/>
                </a:solidFill>
                <a:latin typeface="Arial"/>
                <a:ea typeface="Arial"/>
                <a:cs typeface="Arial"/>
              </a:defRPr>
            </a:pPr>
            <a:r>
              <a:rPr sz="1950" b="0">
                <a:solidFill>
                  <a:srgbClr val="EAF1FF"/>
                </a:solidFill>
                <a:latin typeface="Arial"/>
                <a:ea typeface="Arial"/>
                <a:cs typeface="Arial"/>
              </a:rPr>
              <a:t>Sfida 20-sekondëshe: çfarë ndodh nëse fshijmë rreshtin WHERE?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2797EC1D-EFE8-4DDF-A250-0E927B1E19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514850"/>
            <a:ext cx="10953750" cy="1333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875" b="0">
                <a:solidFill>
                  <a:srgbClr val="8EE9D1"/>
                </a:solidFill>
                <a:latin typeface="Arial"/>
                <a:ea typeface="Arial"/>
                <a:cs typeface="Arial"/>
              </a:defRPr>
            </a:pPr>
            <a:r>
              <a:rPr sz="1875" b="0">
                <a:solidFill>
                  <a:srgbClr val="8EE9D1"/>
                </a:solidFill>
                <a:latin typeface="Arial"/>
                <a:ea typeface="Arial"/>
                <a:cs typeface="Arial"/>
              </a:rPr>
              <a:t>UPDATE udhetimet</a:t>
            </a:r>
          </a:p>
          <a:p xmlns:a="http://schemas.openxmlformats.org/drawingml/2006/main">
            <a:pPr>
              <a:defRPr sz="1875" b="0">
                <a:solidFill>
                  <a:srgbClr val="8EE9D1"/>
                </a:solidFill>
                <a:latin typeface="Arial"/>
                <a:ea typeface="Arial"/>
                <a:cs typeface="Arial"/>
              </a:defRPr>
            </a:pPr>
            <a:r>
              <a:rPr sz="1875" b="0">
                <a:solidFill>
                  <a:srgbClr val="8EE9D1"/>
                </a:solidFill>
                <a:latin typeface="Arial"/>
                <a:ea typeface="Arial"/>
                <a:cs typeface="Arial"/>
              </a:rPr>
              <a:t>SET ora = '08:25'</a:t>
            </a:r>
          </a:p>
          <a:p xmlns:a="http://schemas.openxmlformats.org/drawingml/2006/main">
            <a:pPr>
              <a:defRPr sz="1875" b="0">
                <a:solidFill>
                  <a:srgbClr val="8EE9D1"/>
                </a:solidFill>
                <a:latin typeface="Arial"/>
                <a:ea typeface="Arial"/>
                <a:cs typeface="Arial"/>
              </a:defRPr>
            </a:pPr>
            <a:r>
              <a:rPr sz="1875" b="0">
                <a:solidFill>
                  <a:srgbClr val="8EE9D1"/>
                </a:solidFill>
                <a:latin typeface="Arial"/>
                <a:ea typeface="Arial"/>
                <a:cs typeface="Arial"/>
              </a:rPr>
              <a:t>WHERE id = '2';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49C5674A-412F-47AE-9B20-45DF65A388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715000"/>
            <a:ext cx="109537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650" b="0">
                <a:solidFill>
                  <a:srgbClr val="8EE9D1"/>
                </a:solidFill>
                <a:latin typeface="Arial"/>
                <a:ea typeface="Arial"/>
                <a:cs typeface="Arial"/>
              </a:defRPr>
            </a:pPr>
            <a:r>
              <a:rPr sz="1650" b="0">
                <a:solidFill>
                  <a:srgbClr val="8EE9D1"/>
                </a:solidFill>
                <a:latin typeface="Arial"/>
                <a:ea typeface="Arial"/>
                <a:cs typeface="Arial"/>
              </a:rPr>
              <a:t>Përgjigjja: Ora 08:25 vendoset te të gjitha udhëtimet. Prandaj, para Run kontrollojmë cilët rreshta do të ndryshojmë.</a:t>
            </a:r>
          </a:p>
        </p:txBody>
      </p:sp>
    </p:spTree>
    <p:extLst>
      <p:ext uri="{BB962C8B-B14F-4D97-AF65-F5344CB8AC3E}">
        <p14:creationId xmlns:p14="http://schemas.microsoft.com/office/powerpoint/2010/main" val="237674924"/>
      </p:ext>
    </p:extLst>
  </p:cSld>
</p:sld>
</file>

<file path=ppt/slides/slide9.xml><?xml version="1.0" encoding="utf-8"?>
<p:sld xmlns:p="http://schemas.openxmlformats.org/presentationml/2006/main">
  <p:cSld>
    <p:bg>
      <p:bgPr>
        <a:solidFill xmlns:a="http://schemas.openxmlformats.org/drawingml/2006/main">
          <a:srgbClr val="0B101B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F2002B98-DBEE-47B1-B91E-DC5C5ACA45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23850"/>
            <a:ext cx="10191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350" b="1">
                <a:solidFill>
                  <a:srgbClr val="89DDFF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89DDFF"/>
                </a:solidFill>
                <a:latin typeface="Arial"/>
                <a:ea typeface="Arial"/>
                <a:cs typeface="Arial"/>
              </a:rPr>
              <a:t>HARTA E APLIKACIONIT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8CC93428-7895-4618-9C9F-1E470B3DB8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01350" y="323850"/>
            <a:ext cx="8572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350" b="0">
                <a:solidFill>
                  <a:srgbClr val="B7C5DB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B7C5DB"/>
                </a:solidFill>
                <a:latin typeface="Arial"/>
                <a:ea typeface="Arial"/>
                <a:cs typeface="Arial"/>
              </a:rPr>
              <a:t>09 / 19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A2177AE7-3CF3-430D-BA11-4BECB23523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62000"/>
            <a:ext cx="10953750" cy="714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31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31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Ku jeton kodi? Ku jetojnë të dhënat?</a:t>
            </a:r>
          </a:p>
        </p:txBody>
      </p:sp>
      <p:pic>
        <p:nvPicPr>
          <p:cNvPr id="10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99d400a2c64241a8"/>
          <a:stretch xmlns:a="http://schemas.openxmlformats.org/drawingml/2006/main"/>
        </p:blipFill>
        <p:spPr>
          <a:xfrm xmlns:a="http://schemas.openxmlformats.org/drawingml/2006/main">
            <a:off x="2288024" y="1524000"/>
            <a:ext cx="7615951" cy="4286250"/>
          </a:xfrm>
          <a:prstGeom xmlns:a="http://schemas.openxmlformats.org/drawingml/2006/main" prst="rect">
            <a:avLst/>
          </a:prstGeom>
        </p:spPr>
      </p:pic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556E404A-7271-4FF6-91FA-7C02CAA1D8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924550"/>
            <a:ext cx="109537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650" b="0">
                <a:solidFill>
                  <a:srgbClr val="EAF1FF"/>
                </a:solidFill>
                <a:latin typeface="Arial"/>
                <a:ea typeface="Arial"/>
                <a:cs typeface="Arial"/>
              </a:defRPr>
            </a:pPr>
            <a:r>
              <a:rPr sz="1650" b="0">
                <a:solidFill>
                  <a:srgbClr val="EAF1FF"/>
                </a:solidFill>
                <a:latin typeface="Arial"/>
                <a:ea typeface="Arial"/>
                <a:cs typeface="Arial"/>
              </a:rPr>
              <a:t>Nëse ndryshon ora në Neon, a duhet Push në GitHub? Parashiko para përgjigjes.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933D0E42-4DE5-4598-9013-BDFA85FE8B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62700"/>
            <a:ext cx="109537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275" b="0">
                <a:solidFill>
                  <a:srgbClr val="8EE9D1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8EE9D1"/>
                </a:solidFill>
                <a:latin typeface="Arial"/>
                <a:ea typeface="Arial"/>
                <a:cs typeface="Arial"/>
              </a:rPr>
              <a:t>Përgjigjja: Jo. Push nevojitet për ndryshimet e kodit. Ndryshimi i një rreshti në Neon lexohet kur aplikacioni e pyet databazën përsëri.</a:t>
            </a:r>
          </a:p>
        </p:txBody>
      </p:sp>
    </p:spTree>
    <p:extLst>
      <p:ext uri="{BB962C8B-B14F-4D97-AF65-F5344CB8AC3E}">
        <p14:creationId xmlns:p14="http://schemas.microsoft.com/office/powerpoint/2010/main" val="97481855"/>
      </p:ext>
    </p:extLst>
  </p:cSld>
</p:sld>
</file>

<file path=ppt/slides/slide10.xml><?xml version="1.0" encoding="utf-8"?>
<p:sld xmlns:p="http://schemas.openxmlformats.org/presentationml/2006/main">
  <p:cSld>
    <p:bg>
      <p:bgPr>
        <a:solidFill xmlns:a="http://schemas.openxmlformats.org/drawingml/2006/main">
          <a:srgbClr val="0B101B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3FBB8C48-CF46-4590-B667-17BADA7F11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23850"/>
            <a:ext cx="10191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350" b="1">
                <a:solidFill>
                  <a:srgbClr val="89DDFF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89DDFF"/>
                </a:solidFill>
                <a:latin typeface="Arial"/>
                <a:ea typeface="Arial"/>
                <a:cs typeface="Arial"/>
              </a:rPr>
              <a:t>SERVERI · 15–25 MIN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21362C45-9BCE-4C53-9337-FBAB5DEE25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01350" y="323850"/>
            <a:ext cx="8572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350" b="0">
                <a:solidFill>
                  <a:srgbClr val="B7C5DB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B7C5DB"/>
                </a:solidFill>
                <a:latin typeface="Arial"/>
                <a:ea typeface="Arial"/>
                <a:cs typeface="Arial"/>
              </a:rPr>
              <a:t>10 / 19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1B112E3A-D2E4-47E9-8B30-CFE2B0CF6A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933450"/>
            <a:ext cx="1095375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33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33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Rruga e të dhënave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7C9C2F61-A5A0-4D26-8063-5F2AEE4D48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047875"/>
            <a:ext cx="10953750" cy="2333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950" b="0">
                <a:solidFill>
                  <a:srgbClr val="EAF1FF"/>
                </a:solidFill>
                <a:latin typeface="Arial"/>
                <a:ea typeface="Arial"/>
                <a:cs typeface="Arial"/>
              </a:defRPr>
            </a:pPr>
            <a:r>
              <a:rPr sz="1950" b="0">
                <a:solidFill>
                  <a:srgbClr val="EAF1FF"/>
                </a:solidFill>
                <a:latin typeface="Arial"/>
                <a:ea typeface="Arial"/>
                <a:cs typeface="Arial"/>
              </a:rPr>
              <a:t>Ndajeni rrugën në klasë: një student është telefoni, një është serveri, një është databaza.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>
              <a:defRPr sz="1950" b="0">
                <a:solidFill>
                  <a:srgbClr val="EAF1FF"/>
                </a:solidFill>
                <a:latin typeface="Arial"/>
                <a:ea typeface="Arial"/>
                <a:cs typeface="Arial"/>
              </a:defRPr>
            </a:pPr>
            <a:r>
              <a:rPr sz="1950" b="0">
                <a:solidFill>
                  <a:srgbClr val="EAF1FF"/>
                </a:solidFill>
                <a:latin typeface="Arial"/>
                <a:ea typeface="Arial"/>
                <a:cs typeface="Arial"/>
              </a:rPr>
              <a:t>Telefoni kërkon udhëtimet. Serveri pyet Neon. Databaza kthen rreshtat; serveri ndërton kartat.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>
              <a:defRPr sz="1950" b="0">
                <a:solidFill>
                  <a:srgbClr val="EAF1FF"/>
                </a:solidFill>
                <a:latin typeface="Arial"/>
                <a:ea typeface="Arial"/>
                <a:cs typeface="Arial"/>
              </a:defRPr>
            </a:pPr>
            <a:r>
              <a:rPr sz="1950" b="0">
                <a:solidFill>
                  <a:srgbClr val="EAF1FF"/>
                </a:solidFill>
                <a:latin typeface="Arial"/>
                <a:ea typeface="Arial"/>
                <a:cs typeface="Arial"/>
              </a:rPr>
              <a:t>Kush e mban kredencialin? Telefoni merr pamjen; sekreti mbetet në server.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E4222ADF-4DC1-4AE7-BA46-1B6EFD1219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514850"/>
            <a:ext cx="10953750" cy="1333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875" b="0">
                <a:solidFill>
                  <a:srgbClr val="8EE9D1"/>
                </a:solidFill>
                <a:latin typeface="Arial"/>
                <a:ea typeface="Arial"/>
                <a:cs typeface="Arial"/>
              </a:defRPr>
            </a:pPr>
            <a:r>
              <a:rPr sz="1875" b="0">
                <a:solidFill>
                  <a:srgbClr val="8EE9D1"/>
                </a:solidFill>
                <a:latin typeface="Arial"/>
                <a:ea typeface="Arial"/>
                <a:cs typeface="Arial"/>
              </a:rPr>
              <a:t>Telefoni → Next.js në server → Neon</a:t>
            </a:r>
          </a:p>
          <a:p xmlns:a="http://schemas.openxmlformats.org/drawingml/2006/main">
            <a:pPr>
              <a:defRPr sz="1875" b="0">
                <a:solidFill>
                  <a:srgbClr val="8EE9D1"/>
                </a:solidFill>
                <a:latin typeface="Arial"/>
                <a:ea typeface="Arial"/>
                <a:cs typeface="Arial"/>
              </a:defRPr>
            </a:pPr>
            <a:r>
              <a:rPr sz="1875" b="0">
                <a:solidFill>
                  <a:srgbClr val="8EE9D1"/>
                </a:solidFill>
                <a:latin typeface="Arial"/>
                <a:ea typeface="Arial"/>
                <a:cs typeface="Arial"/>
              </a:rPr>
              <a:t>Telefoni ← Kartat e udhëtimeve ← Rreshtat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D582E342-0644-4559-AAD0-845F11A65A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72250"/>
            <a:ext cx="10953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900" b="0">
                <a:solidFill>
                  <a:srgbClr val="B7C5DB"/>
                </a:solidFill>
                <a:latin typeface="Arial"/>
                <a:ea typeface="Arial"/>
                <a:cs typeface="Arial"/>
              </a:defRPr>
            </a:pPr>
            <a:r>
              <a:rPr sz="900" b="0">
                <a:solidFill>
                  <a:srgbClr val="B7C5DB"/>
                </a:solidFill>
                <a:latin typeface="Arial"/>
                <a:ea typeface="Arial"/>
                <a:cs typeface="Arial"/>
              </a:rPr>
              <a:t>https://nextjs.org/docs/app/guides/data-security</a:t>
            </a:r>
          </a:p>
        </p:txBody>
      </p:sp>
    </p:spTree>
    <p:extLst>
      <p:ext uri="{BB962C8B-B14F-4D97-AF65-F5344CB8AC3E}">
        <p14:creationId xmlns:p14="http://schemas.microsoft.com/office/powerpoint/2010/main" val="43629586"/>
      </p:ext>
    </p:extLst>
  </p:cSld>
</p:sld>
</file>

<file path=ppt/slides/slide11.xml><?xml version="1.0" encoding="utf-8"?>
<p:sld xmlns:p="http://schemas.openxmlformats.org/presentationml/2006/main">
  <p:cSld>
    <p:bg>
      <p:bgPr>
        <a:solidFill xmlns:a="http://schemas.openxmlformats.org/drawingml/2006/main">
          <a:srgbClr val="0B101B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9223843D-A577-46F0-A853-FEB583FE2A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23850"/>
            <a:ext cx="10191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350" b="1">
                <a:solidFill>
                  <a:srgbClr val="89DDFF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89DDFF"/>
                </a:solidFill>
                <a:latin typeface="Arial"/>
                <a:ea typeface="Arial"/>
                <a:cs typeface="Arial"/>
              </a:rPr>
              <a:t>KUFIRI PRIVAT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C9020730-60B0-44DD-AA4F-96E9CDDB6D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01350" y="323850"/>
            <a:ext cx="8572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350" b="0">
                <a:solidFill>
                  <a:srgbClr val="B7C5DB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B7C5DB"/>
                </a:solidFill>
                <a:latin typeface="Arial"/>
                <a:ea typeface="Arial"/>
                <a:cs typeface="Arial"/>
              </a:rPr>
              <a:t>11 / 19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3547F168-C2E8-41E2-A488-74DBED066A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933450"/>
            <a:ext cx="1095375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33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33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DATABASE_URL është kredencial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7AA93283-919D-4DAF-809F-372273FEAC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047875"/>
            <a:ext cx="10953750" cy="2333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950" b="0">
                <a:solidFill>
                  <a:srgbClr val="EAF1FF"/>
                </a:solidFill>
                <a:latin typeface="Arial"/>
                <a:ea typeface="Arial"/>
                <a:cs typeface="Arial"/>
              </a:defRPr>
            </a:pPr>
            <a:r>
              <a:rPr sz="1950" b="0">
                <a:solidFill>
                  <a:srgbClr val="EAF1FF"/>
                </a:solidFill>
                <a:latin typeface="Arial"/>
                <a:ea typeface="Arial"/>
                <a:cs typeface="Arial"/>
              </a:rPr>
              <a:t>Në kompjuter: .env.local pranë package.json. Në Vercel: Environment Variables.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>
              <a:defRPr sz="1950" b="0">
                <a:solidFill>
                  <a:srgbClr val="EAF1FF"/>
                </a:solidFill>
                <a:latin typeface="Arial"/>
                <a:ea typeface="Arial"/>
                <a:cs typeface="Arial"/>
              </a:defRPr>
            </a:pPr>
            <a:r>
              <a:rPr sz="1950" b="0">
                <a:solidFill>
                  <a:srgbClr val="EAF1FF"/>
                </a:solidFill>
                <a:latin typeface="Arial"/>
                <a:ea typeface="Arial"/>
                <a:cs typeface="Arial"/>
              </a:rPr>
              <a:t>Në GitHub ruajmë kodin dhe schema.sql; .env.local përjashtohet me .gitignore.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>
              <a:defRPr sz="1950" b="0">
                <a:solidFill>
                  <a:srgbClr val="EAF1FF"/>
                </a:solidFill>
                <a:latin typeface="Arial"/>
                <a:ea typeface="Arial"/>
                <a:cs typeface="Arial"/>
              </a:defRPr>
            </a:pPr>
            <a:r>
              <a:rPr sz="1950" b="0">
                <a:solidFill>
                  <a:srgbClr val="EAF1FF"/>
                </a:solidFill>
                <a:latin typeface="Arial"/>
                <a:ea typeface="Arial"/>
                <a:cs typeface="Arial"/>
              </a:rPr>
              <a:t>server-only mbron kufirin e kodit të serverit. Nuk është sistem hyrjeje ose leje përdoruesish.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52E3A1AD-ECE6-4A73-BB47-96C5D318AE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514850"/>
            <a:ext cx="10953750" cy="1333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875" b="0">
                <a:solidFill>
                  <a:srgbClr val="8EE9D1"/>
                </a:solidFill>
                <a:latin typeface="Arial"/>
                <a:ea typeface="Arial"/>
                <a:cs typeface="Arial"/>
              </a:defRPr>
            </a:pPr>
            <a:r>
              <a:rPr sz="1875" b="0">
                <a:solidFill>
                  <a:srgbClr val="8EE9D1"/>
                </a:solidFill>
                <a:latin typeface="Arial"/>
                <a:ea typeface="Arial"/>
                <a:cs typeface="Arial"/>
              </a:rPr>
              <a:t>process.env.DATABASE_URL</a:t>
            </a:r>
          </a:p>
          <a:p xmlns:a="http://schemas.openxmlformats.org/drawingml/2006/main">
            <a:pPr>
              <a:defRPr sz="1875" b="0">
                <a:solidFill>
                  <a:srgbClr val="8EE9D1"/>
                </a:solidFill>
                <a:latin typeface="Arial"/>
                <a:ea typeface="Arial"/>
                <a:cs typeface="Arial"/>
              </a:defRPr>
            </a:pPr>
            <a:r>
              <a:rPr sz="1875" b="0">
                <a:solidFill>
                  <a:srgbClr val="8EE9D1"/>
                </a:solidFill>
                <a:latin typeface="Arial"/>
                <a:ea typeface="Arial"/>
                <a:cs typeface="Arial"/>
              </a:rPr>
              <a:t>// Pa NEXT_PUBLIC_ për këtë sekret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DB4BE686-84DC-4821-B661-72300B7941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72250"/>
            <a:ext cx="10953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900" b="0">
                <a:solidFill>
                  <a:srgbClr val="B7C5DB"/>
                </a:solidFill>
                <a:latin typeface="Arial"/>
                <a:ea typeface="Arial"/>
                <a:cs typeface="Arial"/>
              </a:defRPr>
            </a:pPr>
            <a:r>
              <a:rPr sz="900" b="0">
                <a:solidFill>
                  <a:srgbClr val="B7C5DB"/>
                </a:solidFill>
                <a:latin typeface="Arial"/>
                <a:ea typeface="Arial"/>
                <a:cs typeface="Arial"/>
              </a:rPr>
              <a:t>https://nextjs.org/docs/app/guides/data-security  |  https://vercel.com/docs/marketplace-storage</a:t>
            </a:r>
          </a:p>
        </p:txBody>
      </p:sp>
    </p:spTree>
    <p:extLst>
      <p:ext uri="{BB962C8B-B14F-4D97-AF65-F5344CB8AC3E}">
        <p14:creationId xmlns:p14="http://schemas.microsoft.com/office/powerpoint/2010/main" val="313135659"/>
      </p:ext>
    </p:extLst>
  </p:cSld>
</p:sld>
</file>

<file path=ppt/slides/slide12.xml><?xml version="1.0" encoding="utf-8"?>
<p:sld xmlns:p="http://schemas.openxmlformats.org/presentationml/2006/main">
  <p:cSld>
    <p:bg>
      <p:bgPr>
        <a:solidFill xmlns:a="http://schemas.openxmlformats.org/drawingml/2006/main">
          <a:srgbClr val="0B101B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20CA51E5-167F-4542-A90B-D9FE7E60E0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23850"/>
            <a:ext cx="10191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350" b="1">
                <a:solidFill>
                  <a:srgbClr val="89DDFF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89DDFF"/>
                </a:solidFill>
                <a:latin typeface="Arial"/>
                <a:ea typeface="Arial"/>
                <a:cs typeface="Arial"/>
              </a:rPr>
              <a:t>DETAJET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49F8B9D2-BD7D-4BEB-869B-3DAF461571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01350" y="323850"/>
            <a:ext cx="8572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350" b="0">
                <a:solidFill>
                  <a:srgbClr val="B7C5DB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B7C5DB"/>
                </a:solidFill>
                <a:latin typeface="Arial"/>
                <a:ea typeface="Arial"/>
                <a:cs typeface="Arial"/>
              </a:rPr>
              <a:t>12 / 19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649164E0-16A7-4B4B-9964-1CB77EB931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933450"/>
            <a:ext cx="1095375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33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33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Pyetja përdor identitetin e zgjedhur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4476F3BB-7C15-4A4D-9A69-BF342C69E0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047875"/>
            <a:ext cx="10953750" cy="2333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950" b="0">
                <a:solidFill>
                  <a:srgbClr val="EAF1FF"/>
                </a:solidFill>
                <a:latin typeface="Arial"/>
                <a:ea typeface="Arial"/>
                <a:cs typeface="Arial"/>
              </a:defRPr>
            </a:pPr>
            <a:r>
              <a:rPr sz="1950" b="0">
                <a:solidFill>
                  <a:srgbClr val="EAF1FF"/>
                </a:solidFill>
                <a:latin typeface="Arial"/>
                <a:ea typeface="Arial"/>
                <a:cs typeface="Arial"/>
              </a:rPr>
              <a:t>Adresa /udhetimi/2 jep id = "2".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>
              <a:defRPr sz="1950" b="0">
                <a:solidFill>
                  <a:srgbClr val="EAF1FF"/>
                </a:solidFill>
                <a:latin typeface="Arial"/>
                <a:ea typeface="Arial"/>
                <a:cs typeface="Arial"/>
              </a:defRPr>
            </a:pPr>
            <a:r>
              <a:rPr sz="1950" b="0">
                <a:solidFill>
                  <a:srgbClr val="EAF1FF"/>
                </a:solidFill>
                <a:latin typeface="Arial"/>
                <a:ea typeface="Arial"/>
                <a:cs typeface="Arial"/>
              </a:rPr>
              <a:t>Driver-i Neon e kalon vlerën si parametër; nuk bashkojmë tekstin e përdoruesit me SQL.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>
              <a:defRPr sz="1950" b="0">
                <a:solidFill>
                  <a:srgbClr val="EAF1FF"/>
                </a:solidFill>
                <a:latin typeface="Arial"/>
                <a:ea typeface="Arial"/>
                <a:cs typeface="Arial"/>
              </a:defRPr>
            </a:pPr>
            <a:r>
              <a:rPr sz="1950" b="0">
                <a:solidFill>
                  <a:srgbClr val="EAF1FF"/>
                </a:solidFill>
                <a:latin typeface="Arial"/>
                <a:ea typeface="Arial"/>
                <a:cs typeface="Arial"/>
              </a:rPr>
              <a:t>Lista dhe detajet lexojnë të njëjtën tabelë.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4D447AB7-1ACF-4F1E-A969-0DBADC0470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514850"/>
            <a:ext cx="10953750" cy="1333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875" b="0">
                <a:solidFill>
                  <a:srgbClr val="8EE9D1"/>
                </a:solidFill>
                <a:latin typeface="Arial"/>
                <a:ea typeface="Arial"/>
                <a:cs typeface="Arial"/>
              </a:defRPr>
            </a:pPr>
            <a:r>
              <a:rPr sz="1875" b="0">
                <a:solidFill>
                  <a:srgbClr val="8EE9D1"/>
                </a:solidFill>
                <a:latin typeface="Arial"/>
                <a:ea typeface="Arial"/>
                <a:cs typeface="Arial"/>
              </a:rPr>
              <a:t>await sql`</a:t>
            </a:r>
          </a:p>
          <a:p xmlns:a="http://schemas.openxmlformats.org/drawingml/2006/main">
            <a:pPr>
              <a:defRPr sz="1875" b="0">
                <a:solidFill>
                  <a:srgbClr val="8EE9D1"/>
                </a:solidFill>
                <a:latin typeface="Arial"/>
                <a:ea typeface="Arial"/>
                <a:cs typeface="Arial"/>
              </a:defRPr>
            </a:pPr>
            <a:r>
              <a:rPr sz="1875" b="0">
                <a:solidFill>
                  <a:srgbClr val="8EE9D1"/>
                </a:solidFill>
                <a:latin typeface="Arial"/>
                <a:ea typeface="Arial"/>
                <a:cs typeface="Arial"/>
              </a:rPr>
              <a:t>  SELECT * FROM udhetimet</a:t>
            </a:r>
          </a:p>
          <a:p xmlns:a="http://schemas.openxmlformats.org/drawingml/2006/main">
            <a:pPr>
              <a:defRPr sz="1875" b="0">
                <a:solidFill>
                  <a:srgbClr val="8EE9D1"/>
                </a:solidFill>
                <a:latin typeface="Arial"/>
                <a:ea typeface="Arial"/>
                <a:cs typeface="Arial"/>
              </a:defRPr>
            </a:pPr>
            <a:r>
              <a:rPr sz="1875" b="0">
                <a:solidFill>
                  <a:srgbClr val="8EE9D1"/>
                </a:solidFill>
                <a:latin typeface="Arial"/>
                <a:ea typeface="Arial"/>
                <a:cs typeface="Arial"/>
              </a:rPr>
              <a:t>  WHERE id = ${id}</a:t>
            </a:r>
          </a:p>
          <a:p xmlns:a="http://schemas.openxmlformats.org/drawingml/2006/main">
            <a:pPr>
              <a:defRPr sz="1875" b="0">
                <a:solidFill>
                  <a:srgbClr val="8EE9D1"/>
                </a:solidFill>
                <a:latin typeface="Arial"/>
                <a:ea typeface="Arial"/>
                <a:cs typeface="Arial"/>
              </a:defRPr>
            </a:pPr>
            <a:r>
              <a:rPr sz="1875" b="0">
                <a:solidFill>
                  <a:srgbClr val="8EE9D1"/>
                </a:solidFill>
                <a:latin typeface="Arial"/>
                <a:ea typeface="Arial"/>
                <a:cs typeface="Arial"/>
              </a:rPr>
              <a:t>`;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A9DD9EA5-1033-4F77-BCE6-E631D5E257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72250"/>
            <a:ext cx="10953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900" b="0">
                <a:solidFill>
                  <a:srgbClr val="B7C5DB"/>
                </a:solidFill>
                <a:latin typeface="Arial"/>
                <a:ea typeface="Arial"/>
                <a:cs typeface="Arial"/>
              </a:defRPr>
            </a:pPr>
            <a:r>
              <a:rPr sz="900" b="0">
                <a:solidFill>
                  <a:srgbClr val="B7C5DB"/>
                </a:solidFill>
                <a:latin typeface="Arial"/>
                <a:ea typeface="Arial"/>
                <a:cs typeface="Arial"/>
              </a:rPr>
              <a:t>https://neon.com/docs/serverless/serverless-driver</a:t>
            </a:r>
          </a:p>
        </p:txBody>
      </p:sp>
    </p:spTree>
    <p:extLst>
      <p:ext uri="{BB962C8B-B14F-4D97-AF65-F5344CB8AC3E}">
        <p14:creationId xmlns:p14="http://schemas.microsoft.com/office/powerpoint/2010/main" val="1076910239"/>
      </p:ext>
    </p:extLst>
  </p:cSld>
</p:sld>
</file>

<file path=ppt/slides/slide13.xml><?xml version="1.0" encoding="utf-8"?>
<p:sld xmlns:p="http://schemas.openxmlformats.org/presentationml/2006/main">
  <p:cSld>
    <p:bg>
      <p:bgPr>
        <a:solidFill xmlns:a="http://schemas.openxmlformats.org/drawingml/2006/main">
          <a:srgbClr val="0B101B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06D8C397-2405-4549-93AF-E503ABEEE4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23850"/>
            <a:ext cx="10191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350" b="1">
                <a:solidFill>
                  <a:srgbClr val="89DDFF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89DDFF"/>
                </a:solidFill>
                <a:latin typeface="Arial"/>
                <a:ea typeface="Arial"/>
                <a:cs typeface="Arial"/>
              </a:rPr>
              <a:t>PRITJA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55326104-46A3-467A-9A98-75617C2D84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01350" y="323850"/>
            <a:ext cx="8572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350" b="0">
                <a:solidFill>
                  <a:srgbClr val="B7C5DB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B7C5DB"/>
                </a:solidFill>
                <a:latin typeface="Arial"/>
                <a:ea typeface="Arial"/>
                <a:cs typeface="Arial"/>
              </a:rPr>
              <a:t>13 / 19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A3510E55-6035-4B2C-B6CF-EAD5587528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933450"/>
            <a:ext cx="1095375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33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33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Pse përdorim await?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715DD66B-B209-42C3-82EE-3DB400AA01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047875"/>
            <a:ext cx="10953750" cy="2333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950" b="0">
                <a:solidFill>
                  <a:srgbClr val="EAF1FF"/>
                </a:solidFill>
                <a:latin typeface="Arial"/>
                <a:ea typeface="Arial"/>
                <a:cs typeface="Arial"/>
              </a:defRPr>
            </a:pPr>
            <a:r>
              <a:rPr sz="1950" b="0">
                <a:solidFill>
                  <a:srgbClr val="EAF1FF"/>
                </a:solidFill>
                <a:latin typeface="Arial"/>
                <a:ea typeface="Arial"/>
                <a:cs typeface="Arial"/>
              </a:rPr>
              <a:t>Vargu i Javës 3 ishte menjëherë në kujtesë. Databaza përgjigjet përmes rrjetit.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>
              <a:defRPr sz="1950" b="0">
                <a:solidFill>
                  <a:srgbClr val="EAF1FF"/>
                </a:solidFill>
                <a:latin typeface="Arial"/>
                <a:ea typeface="Arial"/>
                <a:cs typeface="Arial"/>
              </a:defRPr>
            </a:pPr>
            <a:r>
              <a:rPr sz="1950" b="0">
                <a:solidFill>
                  <a:srgbClr val="EAF1FF"/>
                </a:solidFill>
                <a:latin typeface="Arial"/>
                <a:ea typeface="Arial"/>
                <a:cs typeface="Arial"/>
              </a:rPr>
              <a:t>await pret përgjigjen para se të ndërtojmë kartat.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>
              <a:defRPr sz="1950" b="0">
                <a:solidFill>
                  <a:srgbClr val="EAF1FF"/>
                </a:solidFill>
                <a:latin typeface="Arial"/>
                <a:ea typeface="Arial"/>
                <a:cs typeface="Arial"/>
              </a:defRPr>
            </a:pPr>
            <a:r>
              <a:rPr sz="1950" b="0">
                <a:solidFill>
                  <a:srgbClr val="EAF1FF"/>
                </a:solidFill>
                <a:latin typeface="Arial"/>
                <a:ea typeface="Arial"/>
                <a:cs typeface="Arial"/>
              </a:rPr>
              <a:t>force-dynamic në faqet e këtij ushtrimi kërkon lexim të ri kur faqja hapet ose rifreskohet. Nuk është përditësim automatik në kohë reale.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C64FE656-0F18-456F-B8CE-4221C91812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514850"/>
            <a:ext cx="10953750" cy="1333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875" b="0">
                <a:solidFill>
                  <a:srgbClr val="8EE9D1"/>
                </a:solidFill>
                <a:latin typeface="Arial"/>
                <a:ea typeface="Arial"/>
                <a:cs typeface="Arial"/>
              </a:defRPr>
            </a:pPr>
            <a:r>
              <a:rPr sz="1875" b="0">
                <a:solidFill>
                  <a:srgbClr val="8EE9D1"/>
                </a:solidFill>
                <a:latin typeface="Arial"/>
                <a:ea typeface="Arial"/>
                <a:cs typeface="Arial"/>
              </a:rPr>
              <a:t>const udhetimet = await lexoUdhetimet();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76D94573-A9CD-4701-9118-CA2558B4B6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72250"/>
            <a:ext cx="10953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900" b="0">
                <a:solidFill>
                  <a:srgbClr val="B7C5DB"/>
                </a:solidFill>
                <a:latin typeface="Arial"/>
                <a:ea typeface="Arial"/>
                <a:cs typeface="Arial"/>
              </a:defRPr>
            </a:pPr>
            <a:r>
              <a:rPr sz="900" b="0">
                <a:solidFill>
                  <a:srgbClr val="B7C5DB"/>
                </a:solidFill>
                <a:latin typeface="Arial"/>
                <a:ea typeface="Arial"/>
                <a:cs typeface="Arial"/>
              </a:rPr>
              <a:t>https://nextjs.org/docs/app/api-reference/file-conventions/route-segment-config</a:t>
            </a:r>
          </a:p>
        </p:txBody>
      </p:sp>
    </p:spTree>
    <p:extLst>
      <p:ext uri="{BB962C8B-B14F-4D97-AF65-F5344CB8AC3E}">
        <p14:creationId xmlns:p14="http://schemas.microsoft.com/office/powerpoint/2010/main" val="1597028890"/>
      </p:ext>
    </p:extLst>
  </p:cSld>
</p:sld>
</file>

<file path=ppt/slides/slide14.xml><?xml version="1.0" encoding="utf-8"?>
<p:sld xmlns:p="http://schemas.openxmlformats.org/presentationml/2006/main">
  <p:cSld>
    <p:bg>
      <p:bgPr>
        <a:solidFill xmlns:a="http://schemas.openxmlformats.org/drawingml/2006/main">
          <a:srgbClr val="0B101B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7E032EEC-2864-47ED-A12D-FC39880BA6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23850"/>
            <a:ext cx="10191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350" b="1">
                <a:solidFill>
                  <a:srgbClr val="89DDFF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89DDFF"/>
                </a:solidFill>
                <a:latin typeface="Arial"/>
                <a:ea typeface="Arial"/>
                <a:cs typeface="Arial"/>
              </a:rPr>
              <a:t>SJELLJA E APLIKACIONIT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84AD6215-793B-4281-8156-8FCD67C3A1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01350" y="323850"/>
            <a:ext cx="8572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350" b="0">
                <a:solidFill>
                  <a:srgbClr val="B7C5DB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B7C5DB"/>
                </a:solidFill>
                <a:latin typeface="Arial"/>
                <a:ea typeface="Arial"/>
                <a:cs typeface="Arial"/>
              </a:rPr>
              <a:t>14 / 19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DE175D9D-0F57-49CB-A50E-122B642ED5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933450"/>
            <a:ext cx="1095375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33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33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Tri përgjigje të ndryshme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27D54040-5FFE-45D7-9C0F-DBD6EBE45C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047875"/>
            <a:ext cx="10953750" cy="3048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175" b="0">
                <a:solidFill>
                  <a:srgbClr val="EAF1FF"/>
                </a:solidFill>
                <a:latin typeface="Arial"/>
                <a:ea typeface="Arial"/>
                <a:cs typeface="Arial"/>
              </a:defRPr>
            </a:pPr>
            <a:r>
              <a:rPr sz="2175" b="0">
                <a:solidFill>
                  <a:srgbClr val="EAF1FF"/>
                </a:solidFill>
                <a:latin typeface="Arial"/>
                <a:ea typeface="Arial"/>
                <a:cs typeface="Arial"/>
              </a:rPr>
              <a:t>Ka rreshta → shfaq kartat.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>
              <a:defRPr sz="2175" b="0">
                <a:solidFill>
                  <a:srgbClr val="EAF1FF"/>
                </a:solidFill>
                <a:latin typeface="Arial"/>
                <a:ea typeface="Arial"/>
                <a:cs typeface="Arial"/>
              </a:defRPr>
            </a:pPr>
            <a:r>
              <a:rPr sz="2175" b="0">
                <a:solidFill>
                  <a:srgbClr val="EAF1FF"/>
                </a:solidFill>
                <a:latin typeface="Arial"/>
                <a:ea typeface="Arial"/>
                <a:cs typeface="Arial"/>
              </a:rPr>
              <a:t>Zero rreshta → “Nuk ka udhëtime për momentin.”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>
              <a:defRPr sz="2175" b="0">
                <a:solidFill>
                  <a:srgbClr val="EAF1FF"/>
                </a:solidFill>
                <a:latin typeface="Arial"/>
                <a:ea typeface="Arial"/>
                <a:cs typeface="Arial"/>
              </a:defRPr>
            </a:pPr>
            <a:r>
              <a:rPr sz="2175" b="0">
                <a:solidFill>
                  <a:srgbClr val="EAF1FF"/>
                </a:solidFill>
                <a:latin typeface="Arial"/>
                <a:ea typeface="Arial"/>
                <a:cs typeface="Arial"/>
              </a:rPr>
              <a:t>Lidhja dështoi → “Nuk u lidhëm me databazën. Provo përsëri.”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>
              <a:defRPr sz="2175" b="0">
                <a:solidFill>
                  <a:srgbClr val="EAF1FF"/>
                </a:solidFill>
                <a:latin typeface="Arial"/>
                <a:ea typeface="Arial"/>
                <a:cs typeface="Arial"/>
              </a:defRPr>
            </a:pPr>
            <a:r>
              <a:rPr sz="2175" b="0">
                <a:solidFill>
                  <a:srgbClr val="EAF1FF"/>
                </a:solidFill>
                <a:latin typeface="Arial"/>
                <a:ea typeface="Arial"/>
                <a:cs typeface="Arial"/>
              </a:rPr>
              <a:t>ID 99 mungon → “Udhëtimi nuk u gjet”, me kthim te lista.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E38C9EF5-BDD9-437A-ABFD-E44BC6063B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334000"/>
            <a:ext cx="10953750" cy="1095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800" b="0">
                <a:solidFill>
                  <a:srgbClr val="8EE9D1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8EE9D1"/>
                </a:solidFill>
                <a:latin typeface="Arial"/>
                <a:ea typeface="Arial"/>
                <a:cs typeface="Arial"/>
              </a:rPr>
              <a:t>Përgjigjja: Lista bosh është përgjigje e suksesshme me zero rreshta. Gabimi do të thotë se nuk arritëm ta lexojmë përgjigjen.</a:t>
            </a:r>
          </a:p>
        </p:txBody>
      </p:sp>
    </p:spTree>
    <p:extLst>
      <p:ext uri="{BB962C8B-B14F-4D97-AF65-F5344CB8AC3E}">
        <p14:creationId xmlns:p14="http://schemas.microsoft.com/office/powerpoint/2010/main" val="288069148"/>
      </p:ext>
    </p:extLst>
  </p:cSld>
</p:sld>
</file>

<file path=ppt/slides/slide15.xml><?xml version="1.0" encoding="utf-8"?>
<p:sld xmlns:p="http://schemas.openxmlformats.org/presentationml/2006/main">
  <p:cSld>
    <p:bg>
      <p:bgPr>
        <a:solidFill xmlns:a="http://schemas.openxmlformats.org/drawingml/2006/main">
          <a:srgbClr val="0B101B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005C0E5B-793F-45FF-A2F1-C9E4952782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23850"/>
            <a:ext cx="10191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350" b="1">
                <a:solidFill>
                  <a:srgbClr val="89DDFF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89DDFF"/>
                </a:solidFill>
                <a:latin typeface="Arial"/>
                <a:ea typeface="Arial"/>
                <a:cs typeface="Arial"/>
              </a:rPr>
              <a:t>DEMONSTRIMI · 25–37 MIN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70AEF83A-E897-4E42-8850-95BC0FBBF8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01350" y="323850"/>
            <a:ext cx="8572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350" b="0">
                <a:solidFill>
                  <a:srgbClr val="B7C5DB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B7C5DB"/>
                </a:solidFill>
                <a:latin typeface="Arial"/>
                <a:ea typeface="Arial"/>
                <a:cs typeface="Arial"/>
              </a:rPr>
              <a:t>15 / 19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28FE2936-DAFA-449F-AE27-9385502812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933450"/>
            <a:ext cx="1095375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33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33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Tani ndryshon baza, jo kodi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E9129264-EA85-494C-B9BC-35C1144B54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047875"/>
            <a:ext cx="10953750" cy="3048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175" b="0">
                <a:solidFill>
                  <a:srgbClr val="EAF1FF"/>
                </a:solidFill>
                <a:latin typeface="Arial"/>
                <a:ea typeface="Arial"/>
                <a:cs typeface="Arial"/>
              </a:defRPr>
            </a:pPr>
            <a:r>
              <a:rPr sz="2175" b="0">
                <a:solidFill>
                  <a:srgbClr val="EAF1FF"/>
                </a:solidFill>
                <a:latin typeface="Arial"/>
                <a:ea typeface="Arial"/>
                <a:cs typeface="Arial"/>
              </a:rPr>
              <a:t>Para klikimit, voto: pas ndryshimit në Neon, a përditësohen kartat pa rifreskim?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>
              <a:defRPr sz="2175" b="0">
                <a:solidFill>
                  <a:srgbClr val="EAF1FF"/>
                </a:solidFill>
                <a:latin typeface="Arial"/>
                <a:ea typeface="Arial"/>
                <a:cs typeface="Arial"/>
              </a:defRPr>
            </a:pPr>
            <a:r>
              <a:rPr sz="2175" b="0">
                <a:solidFill>
                  <a:srgbClr val="EAF1FF"/>
                </a:solidFill>
                <a:latin typeface="Arial"/>
                <a:ea typeface="Arial"/>
                <a:cs typeface="Arial"/>
              </a:rPr>
              <a:t>Provojmë 08:15 → 08:25 në listë dhe detaje, pastaj listën bosh dhe lidhjen e munguar.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>
              <a:defRPr sz="2175" b="0">
                <a:solidFill>
                  <a:srgbClr val="EAF1FF"/>
                </a:solidFill>
                <a:latin typeface="Arial"/>
                <a:ea typeface="Arial"/>
                <a:cs typeface="Arial"/>
              </a:defRPr>
            </a:pPr>
            <a:r>
              <a:rPr sz="2175" b="0">
                <a:solidFill>
                  <a:srgbClr val="EAF1FF"/>
                </a:solidFill>
                <a:latin typeface="Arial"/>
                <a:ea typeface="Arial"/>
                <a:cs typeface="Arial"/>
              </a:rPr>
              <a:t>Një student parashikon; një tjetër verifikon rezultatin. Në fund rikthejmë konfigurimin.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82A402E8-60E8-41D5-B923-90EF9C5C1C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334000"/>
            <a:ext cx="10953750" cy="1095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800" b="0">
                <a:solidFill>
                  <a:srgbClr val="8EE9D1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8EE9D1"/>
                </a:solidFill>
                <a:latin typeface="Arial"/>
                <a:ea typeface="Arial"/>
                <a:cs typeface="Arial"/>
              </a:rPr>
              <a:t>Përgjigjja: Në këtë ushtrim duhet hapje ose rifreskim i faqes. force-dynamic nuk është abonim në kohë reale.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C2F519D4-B5B6-41A8-BF05-95997C2552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15075"/>
            <a:ext cx="10953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350" b="0">
                <a:solidFill>
                  <a:srgbClr val="89DDFF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89DDFF"/>
                </a:solidFill>
                <a:latin typeface="Arial"/>
                <a:ea typeface="Arial"/>
                <a:cs typeface="Arial"/>
              </a:rPr>
              <a:t>Në faqe: Hap rrjedhën e demonstrimit ↗</a:t>
            </a:r>
          </a:p>
        </p:txBody>
      </p:sp>
    </p:spTree>
    <p:extLst>
      <p:ext uri="{BB962C8B-B14F-4D97-AF65-F5344CB8AC3E}">
        <p14:creationId xmlns:p14="http://schemas.microsoft.com/office/powerpoint/2010/main" val="262707331"/>
      </p:ext>
    </p:extLst>
  </p:cSld>
</p:sld>
</file>

<file path=ppt/slides/slide16.xml><?xml version="1.0" encoding="utf-8"?>
<p:sld xmlns:p="http://schemas.openxmlformats.org/presentationml/2006/main">
  <p:cSld>
    <p:bg>
      <p:bgPr>
        <a:solidFill xmlns:a="http://schemas.openxmlformats.org/drawingml/2006/main">
          <a:srgbClr val="0B101B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FF41871A-95E6-41B8-8530-95348086C7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23850"/>
            <a:ext cx="10191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350" b="1">
                <a:solidFill>
                  <a:srgbClr val="89DDFF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89DDFF"/>
                </a:solidFill>
                <a:latin typeface="Arial"/>
                <a:ea typeface="Arial"/>
                <a:cs typeface="Arial"/>
              </a:rPr>
              <a:t>SIGURIA DHE KUFIJTË · 37–45 MIN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D18A79FC-0D48-4863-B962-6D89279A4F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01350" y="323850"/>
            <a:ext cx="8572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350" b="0">
                <a:solidFill>
                  <a:srgbClr val="B7C5DB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B7C5DB"/>
                </a:solidFill>
                <a:latin typeface="Arial"/>
                <a:ea typeface="Arial"/>
                <a:cs typeface="Arial"/>
              </a:rPr>
              <a:t>16 / 19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347A2F1F-0015-4AA2-8F98-5A483EE8D5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933450"/>
            <a:ext cx="1095375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33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33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Kush mund ta ndryshojë udhëtimin?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9E60EC9A-A9CF-4EB0-8859-2B4481F2F4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047875"/>
            <a:ext cx="10953750" cy="3048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175" b="0">
                <a:solidFill>
                  <a:srgbClr val="EAF1FF"/>
                </a:solidFill>
                <a:latin typeface="Arial"/>
                <a:ea typeface="Arial"/>
                <a:cs typeface="Arial"/>
              </a:defRPr>
            </a:pPr>
            <a:r>
              <a:rPr sz="2175" b="0">
                <a:solidFill>
                  <a:srgbClr val="EAF1FF"/>
                </a:solidFill>
                <a:latin typeface="Arial"/>
                <a:ea typeface="Arial"/>
                <a:cs typeface="Arial"/>
              </a:rPr>
              <a:t>Sot ndryshon vetëm pronari i databazës nga SQL Editor; aplikacioni ynë ka vetëm lexim.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>
              <a:defRPr sz="2175" b="0">
                <a:solidFill>
                  <a:srgbClr val="EAF1FF"/>
                </a:solidFill>
                <a:latin typeface="Arial"/>
                <a:ea typeface="Arial"/>
                <a:cs typeface="Arial"/>
              </a:defRPr>
            </a:pPr>
            <a:r>
              <a:rPr sz="2175" b="0">
                <a:solidFill>
                  <a:srgbClr val="EAF1FF"/>
                </a:solidFill>
                <a:latin typeface="Arial"/>
                <a:ea typeface="Arial"/>
                <a:cs typeface="Arial"/>
              </a:rPr>
              <a:t>Mbajtja private e DATABASE_URL nuk vendos leje për shoferët.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>
              <a:defRPr sz="2175" b="0">
                <a:solidFill>
                  <a:srgbClr val="EAF1FF"/>
                </a:solidFill>
                <a:latin typeface="Arial"/>
                <a:ea typeface="Arial"/>
                <a:cs typeface="Arial"/>
              </a:defRPr>
            </a:pPr>
            <a:r>
              <a:rPr sz="2175" b="0">
                <a:solidFill>
                  <a:srgbClr val="EAF1FF"/>
                </a:solidFill>
                <a:latin typeface="Arial"/>
                <a:ea typeface="Arial"/>
                <a:cs typeface="Arial"/>
              </a:rPr>
              <a:t>Javën tjetër: hyrja dhe kontrolli në server që shoferi ndryshon vetëm udhëtimet e veta.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>
              <a:defRPr sz="2175" b="0">
                <a:solidFill>
                  <a:srgbClr val="EAF1FF"/>
                </a:solidFill>
                <a:latin typeface="Arial"/>
                <a:ea typeface="Arial"/>
                <a:cs typeface="Arial"/>
              </a:defRPr>
            </a:pPr>
            <a:r>
              <a:rPr sz="2175" b="0">
                <a:solidFill>
                  <a:srgbClr val="EAF1FF"/>
                </a:solidFill>
                <a:latin typeface="Arial"/>
                <a:ea typeface="Arial"/>
                <a:cs typeface="Arial"/>
              </a:rPr>
              <a:t>RLS (Row Level Security – siguri në nivel rreshti) është një mekanizëm shtesë; nuk e kemi aktivizuar në ushtrimin e sotëm.</a:t>
            </a:r>
          </a:p>
        </p:txBody>
      </p:sp>
    </p:spTree>
    <p:extLst>
      <p:ext uri="{BB962C8B-B14F-4D97-AF65-F5344CB8AC3E}">
        <p14:creationId xmlns:p14="http://schemas.microsoft.com/office/powerpoint/2010/main" val="1832751913"/>
      </p:ext>
    </p:extLst>
  </p:cSld>
</p:sld>
</file>

<file path=ppt/slides/slide17.xml><?xml version="1.0" encoding="utf-8"?>
<p:sld xmlns:p="http://schemas.openxmlformats.org/presentationml/2006/main">
  <p:cSld>
    <p:bg>
      <p:bgPr>
        <a:solidFill xmlns:a="http://schemas.openxmlformats.org/drawingml/2006/main">
          <a:srgbClr val="0B101B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CB99EE05-D039-41BD-A51C-222372CBD2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23850"/>
            <a:ext cx="10191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350" b="1">
                <a:solidFill>
                  <a:srgbClr val="89DDFF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89DDFF"/>
                </a:solidFill>
                <a:latin typeface="Arial"/>
                <a:ea typeface="Arial"/>
                <a:cs typeface="Arial"/>
              </a:rPr>
              <a:t>PROVO KUPTIMIN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C5D27AF6-268D-4184-9025-8E68F8DD1F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01350" y="323850"/>
            <a:ext cx="8572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350" b="0">
                <a:solidFill>
                  <a:srgbClr val="B7C5DB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B7C5DB"/>
                </a:solidFill>
                <a:latin typeface="Arial"/>
                <a:ea typeface="Arial"/>
                <a:cs typeface="Arial"/>
              </a:rPr>
              <a:t>17 / 19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84EEC89E-1B20-4F31-9F2A-CE9579EBBB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933450"/>
            <a:ext cx="1095375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33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33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Cili rast është lista bosh?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CAC82D99-2AB2-415A-A800-A6E92EAE74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047875"/>
            <a:ext cx="10953750" cy="3048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175" b="0">
                <a:solidFill>
                  <a:srgbClr val="EAF1FF"/>
                </a:solidFill>
                <a:latin typeface="Arial"/>
                <a:ea typeface="Arial"/>
                <a:cs typeface="Arial"/>
              </a:defRPr>
            </a:pPr>
            <a:r>
              <a:rPr sz="2175" b="0">
                <a:solidFill>
                  <a:srgbClr val="EAF1FF"/>
                </a:solidFill>
                <a:latin typeface="Arial"/>
                <a:ea typeface="Arial"/>
                <a:cs typeface="Arial"/>
              </a:rPr>
              <a:t>Databaza përgjigjet, por kthen zero rreshta. Çfarë duhet të shohë Arta?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>
              <a:defRPr sz="2175" b="0">
                <a:solidFill>
                  <a:srgbClr val="EAF1FF"/>
                </a:solidFill>
                <a:latin typeface="Arial"/>
                <a:ea typeface="Arial"/>
                <a:cs typeface="Arial"/>
              </a:defRPr>
            </a:pPr>
            <a:r>
              <a:rPr sz="2175" b="0">
                <a:solidFill>
                  <a:srgbClr val="EAF1FF"/>
                </a:solidFill>
                <a:latin typeface="Arial"/>
                <a:ea typeface="Arial"/>
                <a:cs typeface="Arial"/>
              </a:rPr>
              <a:t>Voto individualisht; shpjego përse para se ta kontrollosh.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016F8FAC-3B03-450A-826C-75E2718DE3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048125"/>
            <a:ext cx="10953750" cy="1095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875" b="0">
                <a:solidFill>
                  <a:srgbClr val="EAF1FF"/>
                </a:solidFill>
                <a:latin typeface="Arial"/>
                <a:ea typeface="Arial"/>
                <a:cs typeface="Arial"/>
              </a:defRPr>
            </a:pPr>
            <a:r>
              <a:rPr sz="1875" b="0">
                <a:solidFill>
                  <a:srgbClr val="EAF1FF"/>
                </a:solidFill>
                <a:latin typeface="Arial"/>
                <a:ea typeface="Arial"/>
                <a:cs typeface="Arial"/>
              </a:rPr>
              <a:t>A · Lista është bosh; shfaq një mesazh të qartë.</a:t>
            </a:r>
          </a:p>
          <a:p xmlns:a="http://schemas.openxmlformats.org/drawingml/2006/main">
            <a:pPr>
              <a:defRPr sz="1875" b="0">
                <a:solidFill>
                  <a:srgbClr val="EAF1FF"/>
                </a:solidFill>
                <a:latin typeface="Arial"/>
                <a:ea typeface="Arial"/>
                <a:cs typeface="Arial"/>
              </a:defRPr>
            </a:pPr>
            <a:r>
              <a:rPr sz="1875" b="0">
                <a:solidFill>
                  <a:srgbClr val="EAF1FF"/>
                </a:solidFill>
                <a:latin typeface="Arial"/>
                <a:ea typeface="Arial"/>
                <a:cs typeface="Arial"/>
              </a:rPr>
              <a:t>B · Shfaq gabim të fjalëkalimit.</a:t>
            </a:r>
          </a:p>
          <a:p xmlns:a="http://schemas.openxmlformats.org/drawingml/2006/main">
            <a:pPr>
              <a:defRPr sz="1875" b="0">
                <a:solidFill>
                  <a:srgbClr val="EAF1FF"/>
                </a:solidFill>
                <a:latin typeface="Arial"/>
                <a:ea typeface="Arial"/>
                <a:cs typeface="Arial"/>
              </a:defRPr>
            </a:pPr>
            <a:r>
              <a:rPr sz="1875" b="0">
                <a:solidFill>
                  <a:srgbClr val="EAF1FF"/>
                </a:solidFill>
                <a:latin typeface="Arial"/>
                <a:ea typeface="Arial"/>
                <a:cs typeface="Arial"/>
              </a:rPr>
              <a:t>C · Shfaq udhëtimin e javës së kaluar.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E43AF9DF-F330-4720-BC81-4A69AC5D99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476875"/>
            <a:ext cx="10953750" cy="904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800" b="0">
                <a:solidFill>
                  <a:srgbClr val="8EE9D1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8EE9D1"/>
                </a:solidFill>
                <a:latin typeface="Arial"/>
                <a:ea typeface="Arial"/>
                <a:cs typeface="Arial"/>
              </a:rPr>
              <a:t>Përgjigjja: Kemi përgjigje të suksesshme me zero rreshta. Gabimi i lidhjes trajtohet veçmas; nuk shpikim udhëtime.</a:t>
            </a:r>
          </a:p>
        </p:txBody>
      </p:sp>
    </p:spTree>
    <p:extLst>
      <p:ext uri="{BB962C8B-B14F-4D97-AF65-F5344CB8AC3E}">
        <p14:creationId xmlns:p14="http://schemas.microsoft.com/office/powerpoint/2010/main" val="1893970491"/>
      </p:ext>
    </p:extLst>
  </p:cSld>
</p:sld>
</file>

<file path=ppt/slides/slide18.xml><?xml version="1.0" encoding="utf-8"?>
<p:sld xmlns:p="http://schemas.openxmlformats.org/presentationml/2006/main">
  <p:cSld>
    <p:bg>
      <p:bgPr>
        <a:solidFill xmlns:a="http://schemas.openxmlformats.org/drawingml/2006/main">
          <a:srgbClr val="0B101B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B9F0533F-BAC2-4AF5-A974-241F2C6F6B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23850"/>
            <a:ext cx="10191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350" b="1">
                <a:solidFill>
                  <a:srgbClr val="89DDFF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89DDFF"/>
                </a:solidFill>
                <a:latin typeface="Arial"/>
                <a:ea typeface="Arial"/>
                <a:cs typeface="Arial"/>
              </a:rPr>
              <a:t>USHTRIMET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801BBD37-9781-4E35-8432-CAB5C23767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01350" y="323850"/>
            <a:ext cx="8572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350" b="0">
                <a:solidFill>
                  <a:srgbClr val="B7C5DB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B7C5DB"/>
                </a:solidFill>
                <a:latin typeface="Arial"/>
                <a:ea typeface="Arial"/>
                <a:cs typeface="Arial"/>
              </a:rPr>
              <a:t>18 / 19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399CD36E-186A-49DC-A042-1982D63CDC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933450"/>
            <a:ext cx="1095375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33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33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Çfarë do të mbyllni në 90 minuta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495126C5-281B-4D66-B548-D4A549D7AA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047875"/>
            <a:ext cx="10953750" cy="3048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175" b="0">
                <a:solidFill>
                  <a:srgbClr val="EAF1FF"/>
                </a:solidFill>
                <a:latin typeface="Arial"/>
                <a:ea typeface="Arial"/>
                <a:cs typeface="Arial"/>
              </a:defRPr>
            </a:pPr>
            <a:r>
              <a:rPr sz="2175" b="0">
                <a:solidFill>
                  <a:srgbClr val="EAF1FF"/>
                </a:solidFill>
                <a:latin typeface="Arial"/>
                <a:ea typeface="Arial"/>
                <a:cs typeface="Arial"/>
              </a:rPr>
              <a:t>Neon i lidhur + tabela me tri udhëtime fiktive.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>
              <a:defRPr sz="2175" b="0">
                <a:solidFill>
                  <a:srgbClr val="EAF1FF"/>
                </a:solidFill>
                <a:latin typeface="Arial"/>
                <a:ea typeface="Arial"/>
                <a:cs typeface="Arial"/>
              </a:defRPr>
            </a:pPr>
            <a:r>
              <a:rPr sz="2175" b="0">
                <a:solidFill>
                  <a:srgbClr val="EAF1FF"/>
                </a:solidFill>
                <a:latin typeface="Arial"/>
                <a:ea typeface="Arial"/>
                <a:cs typeface="Arial"/>
              </a:rPr>
              <a:t>Lista dhe detajet lexojnë nga databaza.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>
              <a:defRPr sz="2175" b="0">
                <a:solidFill>
                  <a:srgbClr val="EAF1FF"/>
                </a:solidFill>
                <a:latin typeface="Arial"/>
                <a:ea typeface="Arial"/>
                <a:cs typeface="Arial"/>
              </a:defRPr>
            </a:pPr>
            <a:r>
              <a:rPr sz="2175" b="0">
                <a:solidFill>
                  <a:srgbClr val="EAF1FF"/>
                </a:solidFill>
                <a:latin typeface="Arial"/>
                <a:ea typeface="Arial"/>
                <a:cs typeface="Arial"/>
              </a:rPr>
              <a:t>Tri prova në java-04.md: ndryshimi, lista bosh, lidhja e munguar.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>
              <a:defRPr sz="2175" b="0">
                <a:solidFill>
                  <a:srgbClr val="EAF1FF"/>
                </a:solidFill>
                <a:latin typeface="Arial"/>
                <a:ea typeface="Arial"/>
                <a:cs typeface="Arial"/>
              </a:defRPr>
            </a:pPr>
            <a:r>
              <a:rPr sz="2175" b="0">
                <a:solidFill>
                  <a:srgbClr val="EAF1FF"/>
                </a:solidFill>
                <a:latin typeface="Arial"/>
                <a:ea typeface="Arial"/>
                <a:cs typeface="Arial"/>
              </a:rPr>
              <a:t>Dorëzim në minutën 70; 20 minuta për përgjigjen dhe korrigjimet në GitHub.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A32898AD-C2EC-41A3-9931-CFF5A65362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15075"/>
            <a:ext cx="10953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350" b="0">
                <a:solidFill>
                  <a:srgbClr val="89DDFF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89DDFF"/>
                </a:solidFill>
                <a:latin typeface="Arial"/>
                <a:ea typeface="Arial"/>
                <a:cs typeface="Arial"/>
              </a:rPr>
              <a:t>Në faqe: Hap prezantimin e ushtrimeve →</a:t>
            </a:r>
          </a:p>
        </p:txBody>
      </p:sp>
    </p:spTree>
    <p:extLst>
      <p:ext uri="{BB962C8B-B14F-4D97-AF65-F5344CB8AC3E}">
        <p14:creationId xmlns:p14="http://schemas.microsoft.com/office/powerpoint/2010/main" val="1573002623"/>
      </p:ext>
    </p:extLst>
  </p:cSld>
</p:sld>
</file>

<file path=ppt/slides/slide19.xml><?xml version="1.0" encoding="utf-8"?>
<p:sld xmlns:p="http://schemas.openxmlformats.org/presentationml/2006/main">
  <p:cSld>
    <p:bg>
      <p:bgPr>
        <a:solidFill xmlns:a="http://schemas.openxmlformats.org/drawingml/2006/main">
          <a:srgbClr val="0B101B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F051809C-9230-468E-945E-EA844CDE4F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23850"/>
            <a:ext cx="10191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350" b="1">
                <a:solidFill>
                  <a:srgbClr val="89DDFF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89DDFF"/>
                </a:solidFill>
                <a:latin typeface="Arial"/>
                <a:ea typeface="Arial"/>
                <a:cs typeface="Arial"/>
              </a:rPr>
              <a:t>PËRMBYLLJA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69E9B0DF-BD85-4E9C-B1F5-DEC3233D8C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01350" y="323850"/>
            <a:ext cx="8572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350" b="0">
                <a:solidFill>
                  <a:srgbClr val="B7C5DB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B7C5DB"/>
                </a:solidFill>
                <a:latin typeface="Arial"/>
                <a:ea typeface="Arial"/>
                <a:cs typeface="Arial"/>
              </a:rPr>
              <a:t>19 / 19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B5E4A6C5-2E09-4D71-B937-F60E4EFF41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933450"/>
            <a:ext cx="1095375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33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33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Ekranet ndryshojnë. Burimi mbetet një.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971F69BD-945C-484D-A6C4-89A52BEFDF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047875"/>
            <a:ext cx="10953750" cy="3048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175" b="0">
                <a:solidFill>
                  <a:srgbClr val="EAF1FF"/>
                </a:solidFill>
                <a:latin typeface="Arial"/>
                <a:ea typeface="Arial"/>
                <a:cs typeface="Arial"/>
              </a:defRPr>
            </a:pPr>
            <a:r>
              <a:rPr sz="2175" b="0">
                <a:solidFill>
                  <a:srgbClr val="EAF1FF"/>
                </a:solidFill>
                <a:latin typeface="Arial"/>
                <a:ea typeface="Arial"/>
                <a:cs typeface="Arial"/>
              </a:rPr>
              <a:t>Një orë ndryshoi në Neon. Lista dhe detajet treguan të njëjtin ndryshim.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>
              <a:defRPr sz="2175" b="0">
                <a:solidFill>
                  <a:srgbClr val="EAF1FF"/>
                </a:solidFill>
                <a:latin typeface="Arial"/>
                <a:ea typeface="Arial"/>
                <a:cs typeface="Arial"/>
              </a:defRPr>
            </a:pPr>
            <a:r>
              <a:rPr sz="2175" b="0">
                <a:solidFill>
                  <a:srgbClr val="EAF1FF"/>
                </a:solidFill>
                <a:latin typeface="Arial"/>
                <a:ea typeface="Arial"/>
                <a:cs typeface="Arial"/>
              </a:rPr>
              <a:t>Kjo është aftësia e re: ta ndash informacionin nga pamja dhe ta lexosh përmes serverit.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>
              <a:defRPr sz="2175" b="0">
                <a:solidFill>
                  <a:srgbClr val="EAF1FF"/>
                </a:solidFill>
                <a:latin typeface="Arial"/>
                <a:ea typeface="Arial"/>
                <a:cs typeface="Arial"/>
              </a:defRPr>
            </a:pPr>
            <a:r>
              <a:rPr sz="2175" b="0">
                <a:solidFill>
                  <a:srgbClr val="EAF1FF"/>
                </a:solidFill>
                <a:latin typeface="Arial"/>
                <a:ea typeface="Arial"/>
                <a:cs typeface="Arial"/>
              </a:rPr>
              <a:t>Në biznesin tënd, i njëjti parim shërben për orare shërbimesh, termine ose porosi.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>
              <a:defRPr sz="2175" b="0">
                <a:solidFill>
                  <a:srgbClr val="EAF1FF"/>
                </a:solidFill>
                <a:latin typeface="Arial"/>
                <a:ea typeface="Arial"/>
                <a:cs typeface="Arial"/>
              </a:defRPr>
            </a:pPr>
            <a:r>
              <a:rPr sz="2175" b="0">
                <a:solidFill>
                  <a:srgbClr val="EAF1FF"/>
                </a:solidFill>
                <a:latin typeface="Arial"/>
                <a:ea typeface="Arial"/>
                <a:cs typeface="Arial"/>
              </a:rPr>
              <a:t>Exit ticket: ku ruhet ora, kush e lexon dhe ku qëndron sekreti?</a:t>
            </a:r>
          </a:p>
        </p:txBody>
      </p:sp>
    </p:spTree>
    <p:extLst>
      <p:ext uri="{BB962C8B-B14F-4D97-AF65-F5344CB8AC3E}">
        <p14:creationId xmlns:p14="http://schemas.microsoft.com/office/powerpoint/2010/main" val="2071209131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2026-10-07T18:13:08.9780000Z</dcterms:created>
  <dcterms:modified xsi:type="dcterms:W3CDTF">2026-10-07T18:13:08.9780000Z</dcterms:modified>
</coreProperties>
</file>