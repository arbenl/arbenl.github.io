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48640"/>
            <a:ext cx="329184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ab_logo_trim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658368"/>
            <a:ext cx="3017520" cy="6949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737360"/>
            <a:ext cx="7132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38BDF8"/>
                </a:solidFill>
                <a:latin typeface="Inter"/>
              </a:defRPr>
            </a:pPr>
            <a:r>
              <a:t>KOLEGJI AAB • SHKENCA KOMPJUTERIKE • 2026/2027</a:t>
            </a:r>
          </a:p>
          <a:p>
            <a:pPr>
              <a:spcAft>
                <a:spcPts val="1400"/>
              </a:spcAft>
              <a:defRPr sz="4600" b="1">
                <a:solidFill>
                  <a:srgbClr val="FFFFFF"/>
                </a:solidFill>
                <a:latin typeface="Inter"/>
              </a:defRPr>
            </a:pPr>
            <a:r>
              <a:t>Programimi për</a:t>
            </a:r>
            <a:br/>
            <a:r>
              <a:t>Pajisje Mobile</a:t>
            </a:r>
          </a:p>
          <a:p>
            <a:pPr>
              <a:spcAft>
                <a:spcPts val="2400"/>
              </a:spcAft>
              <a:defRPr sz="2300" b="1">
                <a:solidFill>
                  <a:srgbClr val="10B981"/>
                </a:solidFill>
                <a:latin typeface="Inter"/>
              </a:defRPr>
            </a:pPr>
            <a:r>
              <a:t>The Founder's Expedition: Nga Skica në Letër te Mobile PWA me AI</a:t>
            </a:r>
          </a:p>
          <a:p>
            <a:pPr>
              <a:defRPr sz="2000">
                <a:solidFill>
                  <a:srgbClr val="E2E8F0"/>
                </a:solidFill>
                <a:latin typeface="Inter"/>
              </a:defRPr>
            </a:pPr>
            <a:r>
              <a:t>Prof. Asoc. PhD. C. Arben Lila</a:t>
            </a:r>
            <a:br/>
            <a:r>
              <a:t>Semestri V • 6 ECTS • 2h Ligjëratë + 2h Ushtrime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097280"/>
            <a:ext cx="3291840" cy="502920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por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463040"/>
            <a:ext cx="256032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21040" y="420624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8BDF8"/>
                </a:solidFill>
                <a:latin typeface="Inter"/>
              </a:defRPr>
            </a:pPr>
            <a:r>
              <a:t>SKANO ME CELULAR</a:t>
            </a:r>
          </a:p>
          <a:p>
            <a:pPr algn="ctr">
              <a:defRPr sz="1800">
                <a:solidFill>
                  <a:srgbClr val="FFFFFF"/>
                </a:solidFill>
                <a:latin typeface="Inter"/>
              </a:defRPr>
            </a:pPr>
            <a:r>
              <a:t>Portali Zyrtar i Kursit:</a:t>
            </a:r>
            <a:br/>
            <a:r>
              <a:t>arbenl.github.io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HISTORIA &amp; FILLESA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Çdo Gjë Fillon me një Skicë në Letër &amp; një Ëndërr!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Si lindi ideja e një studenti për të zgjidhur problemin e transportit për në Kolegjin AAB.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852160" cy="43891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ab_rideshare_sketch_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5760720" cy="42976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858000" y="2011680"/>
            <a:ext cx="45720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2194560"/>
            <a:ext cx="4206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38BDF8"/>
                </a:solidFill>
                <a:latin typeface="Inter"/>
              </a:defRPr>
            </a:pPr>
            <a:r>
              <a:t>🚗 Tregimi Real i Studentit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Realiteti i Mëngjesit: Në orën 07:30, qindra studentë nisen për në AAB nga Ferizaji, Gjilani, Podujeva, Mitrovica e Peja.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Paradoksi në Rrugë: Dhjetëra studentë shkojnë me makinë me 3 vende krejt të zbrazëta duke paguar 10€ naftë vetëm. Ndërkohë, shokët e tyre presin autobusin në shi ose vonohen në ligjëratë.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Skica e Parë: Një student merr një fletë të bardhë dhe vizaton skicën: 'Po sikur të lidhim shoferin me studentët e së njëjtës rrugë përmes një aplikacioni të thjeshtë në celular?'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Misioni Ynë: Kjo ëndërr sot nuk kërkon 50,000€. Kërkon vetëm kodin dhe veglat që do të mësoni në këtë kurs!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REVOLUCIONI I VEGLAVE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Nga Skica te Realiteti: Fuqia e Veglave në Vitin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Pse ajo që merrte 1 vit dhe ekipe të tëra, sot ndërtohet nga një student i vetëm.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EF4444"/>
                </a:solidFill>
                <a:latin typeface="Inter"/>
              </a:defRPr>
            </a:pPr>
            <a:r>
              <a:t>⏳ Dje: Pengesat e Mëdha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Kërkoheshin 6–12 muaj zhvillim për një prototip.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Buxhet prej 20,000€ — 50,000€ me agjenci të jashtme.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Ekipe të mëdha: zhvillues iOS, Android dhe backend.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Serverë të shtrenjtë dhe mirëmbajtje komplekse.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Rezultati: Shumica e ideve të mira mbeteshin vetëm në letër!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10B981"/>
                </a:solidFill>
                <a:latin typeface="Inter"/>
              </a:defRPr>
            </a:pPr>
            <a:r>
              <a:t>🚀 Sot: Fuqia e Inxhinierit të Ri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Next.js 15 PWA: Një kod i vetëm për çdo celular (iOS &amp; Android).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GitHub Copilot: Partner programues që shkruan kodin 3x më shpejt.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Supabase Cloud: Baza e të dhënave dhe Auth me email AAB falas.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Vercel Deployment: Publikim global në internet me një 'git push'.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Rezultati: Ju e ktheni skicën në produkt funksional brenda semestrit!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RASTI KONKRET I STUDIMIT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Zgjidhja Softuerike: 'AAB RideShare' me 3 Ekrane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Arkitekturë e pastër dhe e thjeshtë që çdo student mund ta ndërtojë dhe zotërojë lehtë.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🔍 1. Kërkimi i Udhëtimit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Zgjedh qytetin e nisjes (p.sh. Gjilan)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Destinacioni automatik: Kampusi AAB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Përzgjedh orën e dëshiruar (p.sh. 08:00)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Filtër i shpejtë me 1 prekje në ekran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📋 2. Lista e Veturave të Lira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Sheh studentin shofer &amp; vitin e studimit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Modelin e makinës (p.sh. Golf 7, Audi A3)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Numrin e vendeve të lira (p.sh. 2 vende)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Kontributin për karburant (p.sh. 1.50€)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📲 3. Rezervo &amp; Lidhja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Rezervim i menjëhershëm me 1-klik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Shoferi merr njoftim live në telefon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Lidhje direkte në WhatsApp për vendin e takimit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Statusi: [I Rezervuar] ➔ [Gati për Nisje]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TERMAT E BIZNESIT &amp; INXHINIERIA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Nga Dhimbja te Vlera: Pse Ka Sukses 'AAB RideShare'?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Lidhja mes problemit të përditshëm të studentëve dhe zgjidhjes softuerike.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F4444"/>
                </a:solidFill>
                <a:latin typeface="Inter"/>
              </a:defRPr>
            </a:pPr>
            <a:r>
              <a:t>🛑 Pika e Dhimbjes (Pain Point)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Inter"/>
              </a:defRPr>
            </a:pPr>
            <a:r>
              <a:t>Kosto e Lartë &amp; Humbje Kohe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Shoferi paguan 100% të naftës i vetëm (10€-15€ në ditë).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Studentët pa makinë presin autobusin në shi dhe në të ftohtë.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Udhëtimi me autobus merr shpesh 1 orë e gjysmë në trafik.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Vonesa të shpeshta në ligjëratën e orës 09:00 në fakultet.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8BDF8"/>
                </a:solidFill>
                <a:latin typeface="Inter"/>
              </a:defRPr>
            </a:pPr>
            <a:r>
              <a:t>💡 Propozimi i Vlerës (Value Prop)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Inter"/>
              </a:defRPr>
            </a:pPr>
            <a:r>
              <a:t>Udhëtim i Shpejtë, i Lirë &amp; Social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Studenti arrin në AAB 45 minuta më shpejt se me autobus.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Kosto e ndarë dhe minimale: vetëm 1.00€ — 1.50€ për rrugë.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Përvojë sociale: shoqërohesh me kolegë të fakultetit gjatë rrugës.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Zero fërkim: PWA hapet me link pa shkarkuar 150MB nga App Store.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0B981"/>
                </a:solidFill>
                <a:latin typeface="Inter"/>
              </a:defRPr>
            </a:pPr>
            <a:r>
              <a:t>💰 Siguria &amp; Modeli (Economics &amp; Trust)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Inter"/>
              </a:defRPr>
            </a:pPr>
            <a:r>
              <a:t>Komunitet i Besueshëm me Email AAB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Kyçje e sigurt: lejohen vetëm studentët me email zyrtar AAB.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Zero komisione: kursimi shkon 100% për xhepin e studentëve.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Zvogëlim i trafikut në hyrje të Prishtinës dhe më pak ndotje.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Infrastruktura softuerike: 0€ kosto me Supabase &amp; Vercel Free Tier!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ARKITEKTURA TEKNIKE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Arkitektura në Veprim: Skica Teknike e Të Dhënave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Skicë e pastër me vija dhe kuti: Nga celulari i studentit te cloud-i dhe lidhja live.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38BDF8"/>
                </a:solidFill>
                <a:latin typeface="Inter"/>
              </a:defRPr>
            </a:pPr>
            <a:r>
              <a:t>📱 1. Ndërfaqja Mobile PWA (Frontend)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Moduli i Shoferit: Formë 1-faqëshe me 3 fusha: Qyteti i nisjes, ora dhe numri i vendeve të lira (p.sh. 3 vende).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Moduli i Udhëtarit: Kërkim i menjëhershëm sipas qytetit dhe lista me kartela të qarta me çmimin dhe vendet.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Touch-First me Tailwind: Butona të mëdhenj (48px) që klikohen lehtë me gisht gjatë lëvizjes.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Instalueshmëria PWA: Ruhet në Home Screen me ikonën zyrtare të Kolegjit AAB pa kaluar nga App Store.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9456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10B981"/>
                </a:solidFill>
                <a:latin typeface="Inter"/>
              </a:defRPr>
            </a:pPr>
            <a:r>
              <a:t>☁️ 2. Supabase Cloud DB &amp; Auth (Backend)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Autentikimi me Email AAB: Lejohen vetëm regjistrimet me prapashtesën @universitetiaab.com për siguri maksimale.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Tabela 'rides' (PostgreSQL): Ruan: shoferin, qytetin, orën, vendet e lira dhe çmimin e karburantit.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Realtime Subscriptions: Sapo një student rezervon vendin, numri i vendeve të lira bie në çast për të gjithë përdoruesit!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Row-Level Security (RLS): Shoferi mund të modifikojë ose fshijë vetëm udhëtimet e tij personale.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UDHËZUESI SEKUENCIAL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5 Hapat: Nga Skica në Letër te Demo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Udhëtimi juaj semestral për ndërtimin e produktit hap-pas-hapi.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0116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148840"/>
            <a:ext cx="1792224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/>
            </a:pPr>
            <a:r>
              <a:t>1️⃣</a:t>
            </a:r>
          </a:p>
          <a:p>
            <a:pPr algn="ctr">
              <a:spcAft>
                <a:spcPts val="600"/>
              </a:spcAft>
              <a:defRPr sz="1300" b="1">
                <a:solidFill>
                  <a:srgbClr val="38BDF8"/>
                </a:solidFill>
                <a:latin typeface="Inter"/>
              </a:defRPr>
            </a:pPr>
            <a:r>
              <a:t>JAVËT 1–2</a:t>
            </a:r>
          </a:p>
          <a:p>
            <a:pPr algn="ctr">
              <a:spcAft>
                <a:spcPts val="1200"/>
              </a:spcAft>
              <a:defRPr sz="1900" b="1">
                <a:solidFill>
                  <a:srgbClr val="FFFFFF"/>
                </a:solidFill>
                <a:latin typeface="Inter"/>
              </a:defRPr>
            </a:pPr>
            <a:r>
              <a:t>Intervista &amp;</a:t>
            </a:r>
            <a:br/>
            <a:r>
              <a:t>Skica</a:t>
            </a:r>
          </a:p>
          <a:p>
            <a:pPr algn="l">
              <a:defRPr sz="1600">
                <a:solidFill>
                  <a:srgbClr val="E2E8F0"/>
                </a:solidFill>
                <a:latin typeface="Inter"/>
              </a:defRPr>
            </a:pPr>
            <a:r>
              <a:t>Bisedoni me kolegët: Nga cili qytet udhëtoni? Sa vende ka makina? Skiconi idenë në letër.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07792" y="2011680"/>
            <a:ext cx="20116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2148840"/>
            <a:ext cx="1792224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/>
            </a:pPr>
            <a:r>
              <a:t>2️⃣</a:t>
            </a:r>
          </a:p>
          <a:p>
            <a:pPr algn="ctr">
              <a:spcAft>
                <a:spcPts val="600"/>
              </a:spcAft>
              <a:defRPr sz="1300" b="1">
                <a:solidFill>
                  <a:srgbClr val="6366F1"/>
                </a:solidFill>
                <a:latin typeface="Inter"/>
              </a:defRPr>
            </a:pPr>
            <a:r>
              <a:t>JAVËT 3–5</a:t>
            </a:r>
          </a:p>
          <a:p>
            <a:pPr algn="ctr">
              <a:spcAft>
                <a:spcPts val="1200"/>
              </a:spcAft>
              <a:defRPr sz="1900" b="1">
                <a:solidFill>
                  <a:srgbClr val="FFFFFF"/>
                </a:solidFill>
                <a:latin typeface="Inter"/>
              </a:defRPr>
            </a:pPr>
            <a:r>
              <a:t>Dizajni me</a:t>
            </a:r>
            <a:br/>
            <a:r>
              <a:t>Copilot</a:t>
            </a:r>
          </a:p>
          <a:p>
            <a:pPr algn="l">
              <a:defRPr sz="1600">
                <a:solidFill>
                  <a:srgbClr val="E2E8F0"/>
                </a:solidFill>
                <a:latin typeface="Inter"/>
              </a:defRPr>
            </a:pPr>
            <a:r>
              <a:t>Ndërtoni ndërfaqen mobile me Tailwind CSS. Krijoni kartelat e makinave dhe butonat e kërkimit.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2011680"/>
            <a:ext cx="20116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93792" y="2148840"/>
            <a:ext cx="1792224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/>
            </a:pPr>
            <a:r>
              <a:t>3️⃣</a:t>
            </a:r>
          </a:p>
          <a:p>
            <a:pPr algn="ctr">
              <a:spcAft>
                <a:spcPts val="600"/>
              </a:spcAft>
              <a:defRPr sz="1300" b="1">
                <a:solidFill>
                  <a:srgbClr val="F59E0B"/>
                </a:solidFill>
                <a:latin typeface="Inter"/>
              </a:defRPr>
            </a:pPr>
            <a:r>
              <a:t>JAVËT 6–9</a:t>
            </a:r>
          </a:p>
          <a:p>
            <a:pPr algn="ctr">
              <a:spcAft>
                <a:spcPts val="1200"/>
              </a:spcAft>
              <a:defRPr sz="1900" b="1">
                <a:solidFill>
                  <a:srgbClr val="FFFFFF"/>
                </a:solidFill>
                <a:latin typeface="Inter"/>
              </a:defRPr>
            </a:pPr>
            <a:r>
              <a:t>Databaza</a:t>
            </a:r>
            <a:br/>
            <a:r>
              <a:t>Supabase</a:t>
            </a:r>
          </a:p>
          <a:p>
            <a:pPr algn="l">
              <a:defRPr sz="1600">
                <a:solidFill>
                  <a:srgbClr val="E2E8F0"/>
                </a:solidFill>
                <a:latin typeface="Inter"/>
              </a:defRPr>
            </a:pPr>
            <a:r>
              <a:t>Krijoni tabelat 'rides' dhe 'bookings'. Mbroni të dhënat me siguri të plotë (RLS) dhe email AAB.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0336" y="2011680"/>
            <a:ext cx="20116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0064" y="2148840"/>
            <a:ext cx="1792224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/>
            </a:pPr>
            <a:r>
              <a:t>4️⃣</a:t>
            </a:r>
          </a:p>
          <a:p>
            <a:pPr algn="ctr">
              <a:spcAft>
                <a:spcPts val="600"/>
              </a:spcAft>
              <a:defRPr sz="1300" b="1">
                <a:solidFill>
                  <a:srgbClr val="10B981"/>
                </a:solidFill>
                <a:latin typeface="Inter"/>
              </a:defRPr>
            </a:pPr>
            <a:r>
              <a:t>JAVËT 10–12</a:t>
            </a:r>
          </a:p>
          <a:p>
            <a:pPr algn="ctr">
              <a:spcAft>
                <a:spcPts val="1200"/>
              </a:spcAft>
              <a:defRPr sz="1900" b="1">
                <a:solidFill>
                  <a:srgbClr val="FFFFFF"/>
                </a:solidFill>
                <a:latin typeface="Inter"/>
              </a:defRPr>
            </a:pPr>
            <a:r>
              <a:t>Realtime &amp;</a:t>
            </a:r>
            <a:br/>
            <a:r>
              <a:t>Njoftimet</a:t>
            </a:r>
          </a:p>
          <a:p>
            <a:pPr algn="l">
              <a:defRPr sz="1600">
                <a:solidFill>
                  <a:srgbClr val="E2E8F0"/>
                </a:solidFill>
                <a:latin typeface="Inter"/>
              </a:defRPr>
            </a:pPr>
            <a:r>
              <a:t>Lidhni përditësimin live të vendeve të lira dhe njoftimet push kur studenti konfirmon vendin.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36608" y="2011680"/>
            <a:ext cx="20116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46336" y="2148840"/>
            <a:ext cx="1792224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/>
            </a:pPr>
            <a:r>
              <a:t>5️⃣</a:t>
            </a:r>
          </a:p>
          <a:p>
            <a:pPr algn="ctr">
              <a:spcAft>
                <a:spcPts val="600"/>
              </a:spcAft>
              <a:defRPr sz="1300" b="1">
                <a:solidFill>
                  <a:srgbClr val="EC4899"/>
                </a:solidFill>
                <a:latin typeface="Inter"/>
              </a:defRPr>
            </a:pPr>
            <a:r>
              <a:t>JAVA 15</a:t>
            </a:r>
          </a:p>
          <a:p>
            <a:pPr algn="ctr">
              <a:spcAft>
                <a:spcPts val="1200"/>
              </a:spcAft>
              <a:defRPr sz="1900" b="1">
                <a:solidFill>
                  <a:srgbClr val="FFFFFF"/>
                </a:solidFill>
                <a:latin typeface="Inter"/>
              </a:defRPr>
            </a:pPr>
            <a:r>
              <a:t>Demo Day &amp;</a:t>
            </a:r>
            <a:br/>
            <a:r>
              <a:t>Suksesi</a:t>
            </a:r>
          </a:p>
          <a:p>
            <a:pPr algn="l">
              <a:defRPr sz="1600">
                <a:solidFill>
                  <a:srgbClr val="E2E8F0"/>
                </a:solidFill>
                <a:latin typeface="Inter"/>
              </a:defRPr>
            </a:pPr>
            <a:r>
              <a:t>Prezantimi live nga telefoni para gjithë klasës dhe profesorit. Notë maksimale (10) &amp; Krenari!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TEKNOLOGJIA KRYESORE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Pse Progressive Web Apps (PWA)?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Kombinimi më i fuqishëm i uebit dhe aplikacioneve celulare pa kufizime.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300" b="1">
                <a:solidFill>
                  <a:srgbClr val="FFFFFF"/>
                </a:solidFill>
                <a:latin typeface="Inter"/>
              </a:defRPr>
            </a:pPr>
            <a:r>
              <a:t>⚡ Pa Instalime nga App Store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Studenti hap vetëm linkun në shfletues.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Shtohet në Home Screen me një prekje brenda 2 sekondave.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Zë më pak se 2MB memorie në telefon (krahasuar me 150MB të app-eve native).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300" b="1">
                <a:solidFill>
                  <a:srgbClr val="FFFFFF"/>
                </a:solidFill>
                <a:latin typeface="Inter"/>
              </a:defRPr>
            </a:pPr>
            <a:r>
              <a:t>📶 Funksionon Edhe me Rrjet të Dobët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Rruga mes qyteteve shpesh ka zona me mbulim të dobët interneti.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Service Worker ruan të dhënat e fundit lokalisht në telefon.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Sinkronizohet automatikisht sapo rifitohet lidhja 4G/5G.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300" b="1">
                <a:solidFill>
                  <a:srgbClr val="FFFFFF"/>
                </a:solidFill>
                <a:latin typeface="Inter"/>
              </a:defRPr>
            </a:pPr>
            <a:r>
              <a:t>📱 Qasje në Karakteristikat Celulare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Njoftime Push sapo shoferi të konfirmojë rezervimin tuaj.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Gjeolokacion për të parë distancën deri te pika e takimit.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Telefonatë ose mesazh direkt me 1-prekje nga ekrani.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KRAHASIMI TEKNIK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PWA vs Zhvillimi Tradicional Native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Pse teknologjia PWA është zgjedhja ideale për tregun e Kosovës dhe projektet studentore.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1069848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8BDF8"/>
                </a:solidFill>
                <a:latin typeface="Monaco"/>
              </a:defRPr>
            </a:pPr>
            <a:r>
              <a:t>Kriteri Teknik             | Zhvillimi Tradicional (Native)                   | Next.js 15 PWA (Qasja Jonë)</a:t>
            </a:r>
          </a:p>
          <a:p>
            <a:pPr>
              <a:spcAft>
                <a:spcPts val="800"/>
              </a:spcAft>
              <a:defRPr sz="1500" b="0">
                <a:solidFill>
                  <a:srgbClr val="FFFFFF"/>
                </a:solidFill>
                <a:latin typeface="Monaco"/>
              </a:defRPr>
            </a:pPr>
            <a:r>
              <a:t>Gjuhët e Programimit       | Swift (iOS) + Kotlin (Android) — Dy kode të ndryshme | TypeScript + React — Një kod i vetëm për të gjitha</a:t>
            </a:r>
          </a:p>
          <a:p>
            <a:pPr>
              <a:spcAft>
                <a:spcPts val="800"/>
              </a:spcAft>
              <a:defRPr sz="1500" b="0">
                <a:solidFill>
                  <a:srgbClr val="E2E8F0"/>
                </a:solidFill>
                <a:latin typeface="Monaco"/>
              </a:defRPr>
            </a:pPr>
            <a:r>
              <a:t>Kosto e Shpërndarjes       | 99$/vit për Apple + 25$ Google Play              | 0€ — Publikim i menjëhershëm me Vercel / GitHub</a:t>
            </a:r>
          </a:p>
          <a:p>
            <a:pPr>
              <a:spcAft>
                <a:spcPts val="800"/>
              </a:spcAft>
              <a:defRPr sz="1500" b="0">
                <a:solidFill>
                  <a:srgbClr val="FFFFFF"/>
                </a:solidFill>
                <a:latin typeface="Monaco"/>
              </a:defRPr>
            </a:pPr>
            <a:r>
              <a:t>Aprovimi i Aplikacionit    | Pritje 3–7 ditë nga Apple për çdo përditësim kodi | I menjëhershëm (Instant) me çdo git push</a:t>
            </a:r>
          </a:p>
          <a:p>
            <a:pPr>
              <a:spcAft>
                <a:spcPts val="800"/>
              </a:spcAft>
              <a:defRPr sz="1500" b="0">
                <a:solidFill>
                  <a:srgbClr val="E2E8F0"/>
                </a:solidFill>
                <a:latin typeface="Monaco"/>
              </a:defRPr>
            </a:pPr>
            <a:r>
              <a:t>Madhësia e Aplikacionit    | 100MB — 250MB (Pengesë për shkarkim nga studenti) | &lt; 2MB (Hapet me 1 klikim pa zënë memorien)</a:t>
            </a:r>
          </a:p>
          <a:p>
            <a:pPr>
              <a:spcAft>
                <a:spcPts val="800"/>
              </a:spcAft>
              <a:defRPr sz="1500" b="0">
                <a:solidFill>
                  <a:srgbClr val="FFFFFF"/>
                </a:solidFill>
                <a:latin typeface="Monaco"/>
              </a:defRPr>
            </a:pPr>
            <a:r>
              <a:t>Funksionimi Offline        | I mundur por kërkon arkitekturë të rëndë lokale  | I integruar me Cache API &amp; Service Workers</a:t>
            </a:r>
          </a:p>
          <a:p>
            <a:pPr>
              <a:spcAft>
                <a:spcPts val="800"/>
              </a:spcAft>
              <a:defRPr sz="1500" b="0">
                <a:solidFill>
                  <a:srgbClr val="E2E8F0"/>
                </a:solidFill>
                <a:latin typeface="Monaco"/>
              </a:defRPr>
            </a:pPr>
            <a:r>
              <a:t>E Përshtatshme për Ne      | E papërballueshme për shumicën e ideve fillestare | Zgjidhja ideale me kosto zero dhe efikasitet maksimal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EKOSISTEMI I ZHVILLIMIT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Staku Teknologjik: Mjetet Profesionale të Kursit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Katër shtyllat teknologjike që do të zotëroni gjatë 15 javëve të semestrit.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Inter"/>
              </a:defRPr>
            </a:pPr>
            <a:r>
              <a:t>⚡ Next.js 15</a:t>
            </a:r>
          </a:p>
          <a:p>
            <a:pPr>
              <a:spcAft>
                <a:spcPts val="1400"/>
              </a:spcAft>
              <a:defRPr sz="1400">
                <a:solidFill>
                  <a:srgbClr val="6366F1"/>
                </a:solidFill>
                <a:latin typeface="Inter"/>
              </a:defRPr>
            </a:pPr>
            <a:r>
              <a:t>Frontend &amp; Fullstack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React 19 &amp; App Router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Server Components për shpejtësi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PWA Manifest &amp; Service Workers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Dizajn Touch-First me Tailwind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2736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Inter"/>
              </a:defRPr>
            </a:pPr>
            <a:r>
              <a:t>🗄️ Supabase</a:t>
            </a:r>
          </a:p>
          <a:p>
            <a:pPr>
              <a:spcAft>
                <a:spcPts val="1400"/>
              </a:spcAft>
              <a:defRPr sz="1400">
                <a:solidFill>
                  <a:srgbClr val="10B981"/>
                </a:solidFill>
                <a:latin typeface="Inter"/>
              </a:defRPr>
            </a:pPr>
            <a:r>
              <a:t>Baza e të Dhënave &amp; Auth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PostgreSQL me performancë të lartë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Row-Level Security (RLS) për siguri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Auth i dedikuar me email @universitetiaab.com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Realtime Subscriptions për vendet e lira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Inter"/>
              </a:defRPr>
            </a:pPr>
            <a:r>
              <a:t>🤖 GitHub Copilot</a:t>
            </a:r>
          </a:p>
          <a:p>
            <a:pPr>
              <a:spcAft>
                <a:spcPts val="1400"/>
              </a:spcAft>
              <a:defRPr sz="1400">
                <a:solidFill>
                  <a:srgbClr val="38BDF8"/>
                </a:solidFill>
                <a:latin typeface="Inter"/>
              </a:defRPr>
            </a:pPr>
            <a:r>
              <a:t>AI Pair Programmer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Asistencë inteligjente në çdo rresht kodi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Gjenerim i shpejtë i skemave SQL dhe testeve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Përshpejton zhvillimin 3x më shpejt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Mjet profesional i standardeve globale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3688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0848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Inter"/>
              </a:defRPr>
            </a:pPr>
            <a:r>
              <a:t>▲ Vercel Cloud</a:t>
            </a:r>
          </a:p>
          <a:p>
            <a:pPr>
              <a:spcAft>
                <a:spcPts val="1400"/>
              </a:spcAft>
              <a:defRPr sz="1400">
                <a:solidFill>
                  <a:srgbClr val="F59E0B"/>
                </a:solidFill>
                <a:latin typeface="Inter"/>
              </a:defRPr>
            </a:pPr>
            <a:r>
              <a:t>Publikimi &amp; CI/CD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Vendosje globale në Edge Network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Publikim automatik në çdo git push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Certifikatë SSL (HTTPS) falas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Shpejtësi maksimale në çdo celular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INTELIGJENCA ARTIFICIALE NË KODIM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GitHub Copilot: Bashkë-Piloti Juaj, Jo Zëvendësuesi!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Përdorni AI si përshpejtues profesional — por kodi dhe vendimet mbeten tuajat.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38BDF8"/>
                </a:solidFill>
                <a:latin typeface="Inter"/>
              </a:defRPr>
            </a:pPr>
            <a:r>
              <a:t>✅ Si Ta Përdorni me Sukses?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Gjenerim Komponentësh: Përshkruani kartelën e udhëtimit në koment dhe lini Copilot të gjenerojë kodin Tailwind.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Skema dhe Query SQL: Ndihmon në shkrimin e query-ve për filtrimin e vendeve të lira sipas orës.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Zgjidhje të Shpejta: Shpjegon gabimet në konzollë dhe propozon zgjidhje të menjëhershme.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Testim i Automatizuar: Gjeneron teste njësi dhe teste integrimi me Playwright.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F59E0B"/>
                </a:solidFill>
                <a:latin typeface="Inter"/>
              </a:defRPr>
            </a:pPr>
            <a:r>
              <a:t>⚠️ Rregulli i Artë në Demo Day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Ju Mbani Përgjegjësi: Nëse Copilot shkruan një rresht kodi, ju duhet të dini ta shpjegoni çdo simbol të tij.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Pyetje Teknike Individuale: Gjatë mbrojtjes, pyetjet do të fokusohen te arkitektura: 'Pse ky hook?', 'Si funksionon RLS?'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Kodi pa Kuptim Zbret Pikë: Kodi i kopjuar verbërisht pa u kuptuar rezulton në penalizim të menjëhershëm.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Ju Jeni Inxhinieri: Copilot është thjesht një asistent i avancuar. Inxhinieri i vërtetë jeni JU!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TRANSPARENCA &amp; VLERËSIMI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Formula e Notimit: 10% / 30% / 40% / 20%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Llogaridhënie e qartë — diferencojmë vijueshmërinë aktive nga ata që kërkojnë vetëm një notë.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10B981"/>
                </a:solidFill>
                <a:latin typeface="Inter"/>
              </a:defRPr>
            </a:pPr>
            <a:r>
              <a:t>10%</a:t>
            </a:r>
          </a:p>
          <a:p>
            <a:pPr>
              <a:spcAft>
                <a:spcPts val="12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📡 Vijueshmëria &amp; QR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Check-In me QR në çdo ligjëratë/lab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Diferencon vijuesit nga pasivët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Pragu 70% minimal: Eliminues!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2736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6366F1"/>
                </a:solidFill>
                <a:latin typeface="Inter"/>
              </a:defRPr>
            </a:pPr>
            <a:r>
              <a:t>30%</a:t>
            </a:r>
          </a:p>
          <a:p>
            <a:pPr>
              <a:spcAft>
                <a:spcPts val="12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⚡ GitHub Autograding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10 detyra praktike me kod javor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Vlerësim automatik me GitHub Actions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Feedback i menjëhershëm në git push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F59E0B"/>
                </a:solidFill>
                <a:latin typeface="Inter"/>
              </a:defRPr>
            </a:pPr>
            <a:r>
              <a:t>40%</a:t>
            </a:r>
          </a:p>
          <a:p>
            <a:pPr>
              <a:spcAft>
                <a:spcPts val="12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📱 Projekti PWA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PWA mobile për një rast real (si RideShare)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Supabase DB + Auth + RLS e plotë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Optimizim Touch-First &amp; Offline Mode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3688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0848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38BDF8"/>
                </a:solidFill>
                <a:latin typeface="Inter"/>
              </a:defRPr>
            </a:pPr>
            <a:r>
              <a:t>20%</a:t>
            </a:r>
          </a:p>
          <a:p>
            <a:pPr>
              <a:spcAft>
                <a:spcPts val="12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🏆 Demo Day Live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Prezantim 5-minutësh në Javën 15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Demo live nga telefoni në auditor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Mbrojtje teknike e thellë e kodit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EFIKASITET &amp; SHPEJTËSI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Automatizimi i Detyrave Javore: GitHub Autograding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Zero vonesa në korrigjim — çdo 'git push' testohet dhe vlerësohet menjëherë përmes CI/CD.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💻 Fluksi i Studentit në Çdo Javë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1. Prano Detyrën: Klikoni ftesën në GitHub Classroom për të hapur depon tuaj private.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2. Kodo me Copilot: Zgjidhni kërkesat e ushtrimit (komponentët, logjikën, lidhjen me DB).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3. Git Push: Ekzekutoni 'git push origin main' drejt depos suaj zyrtare në GitHub.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🤖 Vlerësimi Automat me GitHub Actions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Teste Automatike: Workflow CI/CD verifikon linter-in, tipet dhe funksionalitetin e kodit.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Rezultat i Menjëhershëm: Pikët (p.sh. 10/10) shfaqen te badge në README brenda 60 sekondave.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Zero Pritje / Pa Ngarkesë: Notat sinkronizohen në Gradebook CSV të profesorit pa asnjë gabim njerëzor!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KULMI I SEMESTRIT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Demo Day në Javën 15: Vizioni i Suksesit!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Dita kur telefoni juaj kthehet në dëshminë e arritjes suaj profesionale.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🎤 Formati i Prezantimit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5 Minuta Live: Prezantoni aplikacionin direkt nga telefoni juaj celular para sallës.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Problemi Real: Tregoni problemin që keni zgjedhur (p.sh. transporti me AAB RideShare ose biznesi lokal).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Demonstrim i Veçorive: Kryeni një rezervim live, tregoni modin offline dhe RLS në Supabase.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Mbrojtja Teknike: Përgjigjuni 2 pyetjeve të shkurtra teknike mbi arkitekturën e kodit tuaj.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10B981"/>
                </a:solidFill>
                <a:latin typeface="Inter"/>
              </a:defRPr>
            </a:pPr>
            <a:r>
              <a:t>🌟 Çfarë Fitoni në Përfundim?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Portofol Real në GitHub: Një projekt i plotë production-ready që e vendosni menjëherë në CV dhe LinkedIn.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Zgjidhje për Komunitetin: Një vegël digjitale që zgjidh një problem të prekshëm për kolegët ose bizneset tona.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Gati për Tregun e Punës: Përvojë praktike me teknologjitë më të kërkuara në kompanitë moderne globale.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Notë e Merituar (10): Kushdo që dorëzon projektin dhe e mbron me pasion kualifikohet për vlerësim maksimal!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EVIDENCA ZYRTARE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Regjistrimi i Pranisë: Check-In Live në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Skanoni kodin QR me telefonin tuaj për të regjistruar pjesëmarrjen brenda 2 minutave.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41148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check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286000"/>
            <a:ext cx="320040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5577840"/>
            <a:ext cx="3749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B981"/>
                </a:solidFill>
                <a:latin typeface="Inter"/>
              </a:defRPr>
            </a:pPr>
            <a:r>
              <a:t>SKANO PËR CHECK-IN LIVE</a:t>
            </a:r>
            <a:br/>
            <a:r>
              <a:t>arbenl.github.io/#checkin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2011680"/>
            <a:ext cx="630936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0" y="21945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⏱️ Rregullat e Check-In (2 Minuta)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Kodi PIN i Orës: Shfaqet në projektor nga profesori: PIN = 8492. Pa këtë kod nuk mund të regjistroheni.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Koha e Kufizuar: Forma e pranimit mbyllet ekzaktësisht 2 minuta pas shfaqjes në ekran për të parandaluar regjistrimet nga jashtë.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Të Dhënat Zyrtare: Plotësoni ID-në e studentit, emrin e plotë dhe emailin tuaj zyrtar të Kolegjit AAB.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Transparencë e Plotë: Lista e të pranishmëve eksportohet në çast në Excel (CSV) për administratën e fakultetit.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AKSIONI NË SALLË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Sprinti Praktik: Nxirrni Telefonat Celularë!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10 minuta punë aktive në auditor për konfigurimin e mjedisit tuaj të punës.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8BDF8"/>
                </a:solidFill>
                <a:latin typeface="Inter"/>
              </a:defRPr>
            </a:pPr>
            <a:r>
              <a:t>1️⃣ Hapi 1 (Min 0–3)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Skanoni dhe Hyni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Hapni kamerën e telefonit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Skanoni kodin QR në ekran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Regjistroni praninë me PIN-in e ditës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Ruani faqen në 'Home Screen'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6366F1"/>
                </a:solidFill>
                <a:latin typeface="Inter"/>
              </a:defRPr>
            </a:pPr>
            <a:r>
              <a:t>2️⃣ Hapi 2 (Min 3–7)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Aktivizoni GitHub Pack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Kyçuni me emailin studentor AAB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Përfitoni GitHub Copilot Pro falas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Verifikoni statusin në llogarinë tuaj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Kjo ju kursen 120$/vit!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  <a:latin typeface="Inter"/>
              </a:defRPr>
            </a:pPr>
            <a:r>
              <a:t>3️⃣ Hapi 3 (Min 7–10)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Hapni Supabase &amp; Vercel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Kyçje me 1-klik përmes GitHub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Krijoni projektin e parë në Supabase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Lidhni profilin në Vercel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Mjedisi juaj cloud është gati!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MJETET FALAS PËR STUDENTË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GitHub Student Pack &amp; Copilot Pro Falas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Përfitoni pakon me vlerë mbi 200,000$ falas me emailin tuaj zyrtar të Kolegjit AAB.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41148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github_p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286000"/>
            <a:ext cx="320040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5577840"/>
            <a:ext cx="3749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8BDF8"/>
                </a:solidFill>
                <a:latin typeface="Inter"/>
              </a:defRPr>
            </a:pPr>
            <a:r>
              <a:t>AKTIVIZO COPILOT PRO</a:t>
            </a:r>
            <a:br/>
            <a:r>
              <a:t>education.github.com/pack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2011680"/>
            <a:ext cx="630936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0" y="21945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🎁 Çfarë Përfshin Pakoja Studentore?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GitHub Copilot Pro: Qasje falas e pakufizuar në AI më të avancuar për kodim (vlerë 120$/vit).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GitHub Codespaces: Mjedis zhvillimi i plotë në cloud — kodo direkt nga shfletuesi pa instaluar asgjë lokalisht.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Domain &amp; SSL Falas: Emër domeni personal (.me / .tech) falas për 1 vit për portofolin tuaj personal.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Kredi Cloud: Kredi falas në Microsoft Azure, DigitalOcean dhe platforma të tjera partnere.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INFRASTRUKTURA NË 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Aktivizimi i Supabase &amp; Vercel me 1-Klik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Dy platformat kryesore cloud që fuqizojnë bazën e të dhënave dhe publikimin e aplikacionit tuaj.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supa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286000"/>
            <a:ext cx="2377440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566160" y="2194560"/>
            <a:ext cx="2194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0B981"/>
                </a:solidFill>
                <a:latin typeface="Inter"/>
              </a:defRPr>
            </a:pPr>
            <a:r>
              <a:t>🗄️ Supabase Cloud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Kyçje me GitHub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PostgreSQL falas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Auth &amp; Siguria RLS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Realtime sync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r_master_verc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286000"/>
            <a:ext cx="237744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0" y="2194560"/>
            <a:ext cx="2194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F59E0B"/>
                </a:solidFill>
                <a:latin typeface="Inter"/>
              </a:defRPr>
            </a:pPr>
            <a:r>
              <a:t>▲ Vercel Platform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Kyçje me GitHub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Publikim me 1 klik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Domain .vercel.app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Edge Network global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HAPAT E RADHËS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Detyrat për Javën 2: Hapi i Parë Drejt Produktit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Çfarë duhet të përgatisni për takimin e radhës në ligjëratë dhe ushtrime.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8BDF8"/>
                </a:solidFill>
                <a:latin typeface="Inter"/>
              </a:defRPr>
            </a:pPr>
            <a:r>
              <a:t>1️⃣ Detyra 1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Përzgjidhni Temën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Zgjidhni një problem real studentor ose biznes lokal (si AAB RideShare ose shërbim lokal).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Përcaktoni cili është problemi kryesor që zgjidh aplikacioni juaj.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Regjistroni temën tuaj në portal te Katalogu i Temave.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6366F1"/>
                </a:solidFill>
                <a:latin typeface="Inter"/>
              </a:defRPr>
            </a:pPr>
            <a:r>
              <a:t>2️⃣ Detyra 2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Skica e Parë në Letër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Merrni një fletë të bardhë dhe skiconi me dorë 3 ekranet kryesore të aplikacionit.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Përcaktoni butonin kryesor që do të klikojë përdoruesi (p.sh. 'Rezervo Vendin').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Bëni një foto skicës suaj për ta pasur udhërrëfyes gjatë kodimit.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  <a:latin typeface="Inter"/>
              </a:defRPr>
            </a:pPr>
            <a:r>
              <a:t>3️⃣ Detyra 3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Mjedisi i Zhvillimit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Aktivizoni GitHub Copilot Pro me emailin @universitetiaab.com.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Klononi depon fillestare të Javës 1 nga GitHub Classroom.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Bëni push-in e parë me 'git push' për të testuar pikët e para të autograding!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