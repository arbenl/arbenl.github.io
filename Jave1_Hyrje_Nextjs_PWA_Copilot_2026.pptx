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48640"/>
            <a:ext cx="329184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ab_logo_trim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658368"/>
            <a:ext cx="3017520" cy="6949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645920"/>
            <a:ext cx="7132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38BDF8"/>
                </a:solidFill>
                <a:latin typeface="Inter"/>
              </a:defRPr>
            </a:pPr>
            <a:r>
              <a:t>KOLEGJI AAB • SHKENCA KOMPJUTERIKE • 2026/2027</a:t>
            </a:r>
          </a:p>
          <a:p>
            <a:pPr>
              <a:spcAft>
                <a:spcPts val="1200"/>
              </a:spcAft>
              <a:defRPr sz="4400" b="1">
                <a:solidFill>
                  <a:srgbClr val="FFFFFF"/>
                </a:solidFill>
                <a:latin typeface="Inter"/>
              </a:defRPr>
            </a:pPr>
            <a:r>
              <a:t>Programimi për</a:t>
            </a:r>
            <a:br/>
            <a:r>
              <a:t>Pajisje Mobile</a:t>
            </a:r>
          </a:p>
          <a:p>
            <a:pPr>
              <a:spcAft>
                <a:spcPts val="1400"/>
              </a:spcAft>
              <a:defRPr sz="2000" b="1">
                <a:solidFill>
                  <a:srgbClr val="10B981"/>
                </a:solidFill>
                <a:latin typeface="Inter"/>
              </a:defRPr>
            </a:pPr>
            <a:r>
              <a:t>The Founder's Expedition: Nga Ideja te Specifikat &amp; Mobile PWA me AI</a:t>
            </a:r>
          </a:p>
          <a:p>
            <a:pPr>
              <a:spcAft>
                <a:spcPts val="14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Prof. Asoc. PhD. C. Arben Lila</a:t>
            </a:r>
            <a:br/>
            <a:r>
              <a:t>Semestri V • 6 ECTS • 2h Ligjëratë + 2h Ushtrime</a:t>
            </a:r>
          </a:p>
          <a:p>
            <a:pPr>
              <a:defRPr sz="1400">
                <a:solidFill>
                  <a:srgbClr val="B4C3D7"/>
                </a:solidFill>
                <a:latin typeface="Inter"/>
              </a:defRPr>
            </a:pPr>
            <a:r>
              <a:t>Premtimi i Kursit: Në fund të semestrit, ju projektoni, ndërtoni dhe argumentoni një Mobile PWA që zgjidh një problem të vërtetë, menaxhon të dhënat me siguri dhe sillet me stabilitet kur rrjeti dështon.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097280"/>
            <a:ext cx="3291840" cy="512064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master_por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371600"/>
            <a:ext cx="256032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0" y="4023360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8BDF8"/>
                </a:solidFill>
                <a:latin typeface="Inter"/>
              </a:defRPr>
            </a:pPr>
            <a:r>
              <a:t>SKANO ME CELULAR</a:t>
            </a:r>
          </a:p>
          <a:p>
            <a:pPr algn="ctr">
              <a:spcAft>
                <a:spcPts val="800"/>
              </a:spcAft>
              <a:defRPr sz="1600">
                <a:solidFill>
                  <a:srgbClr val="FFFFFF"/>
                </a:solidFill>
                <a:latin typeface="Inter"/>
              </a:defRPr>
            </a:pPr>
            <a:r>
              <a:t>Portali Zyrtar i Kursit:</a:t>
            </a:r>
            <a:br/>
            <a:r>
              <a:t>arbenl.github.io</a:t>
            </a:r>
          </a:p>
          <a:p>
            <a:pPr algn="ctr">
              <a:defRPr sz="1300">
                <a:solidFill>
                  <a:srgbClr val="B4C3D7"/>
                </a:solidFill>
                <a:latin typeface="Inter"/>
              </a:defRPr>
            </a:pPr>
            <a:r>
              <a:t>Materialet, Silabusi, Shabllonet dhe Check-in Live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Inter"/>
              </a:defRPr>
            </a:pPr>
            <a:r>
              <a:t>ANALOGJIA HYRËSE (2 MINUTA)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Inter"/>
              </a:defRPr>
            </a:pPr>
            <a:r>
              <a:t>Para se të Presim Drurin: Çfarë Duhet të Dimë?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E2E8F0"/>
                </a:solidFill>
                <a:latin typeface="Inter"/>
              </a:defRPr>
            </a:pPr>
            <a:r>
              <a:t>Para se AI të na shkruajë kod: cilat vendime arkitekturore duhet t'i kemi marrë ne?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74519"/>
            <a:ext cx="10728655" cy="46634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ketch_chair_sme_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Inter"/>
              </a:defRPr>
            </a:pPr>
            <a:r>
              <a:t>RASTI KRYESOR I KURSIT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Inter"/>
              </a:defRPr>
            </a:pPr>
            <a:r>
              <a:t>AAB RideShare: Nga Problemi Real te Zgjidhja PWA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E2E8F0"/>
                </a:solidFill>
                <a:latin typeface="Inter"/>
              </a:defRPr>
            </a:pPr>
            <a:r>
              <a:t>Udhëtimi i përbashkët studentor: 1 shofer që paguan 10€ naftë dhe 3 kolegë që presin autobusin në shi.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74519"/>
            <a:ext cx="10728655" cy="46634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ab_rideshare_sketch_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Inter"/>
              </a:defRPr>
            </a:pPr>
            <a:r>
              <a:t>METODOLOGJIA INXHINIERIKE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Inter"/>
              </a:defRPr>
            </a:pPr>
            <a:r>
              <a:t>Harta: Nga Vëzhgimi te Produkti i Testueshëm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E2E8F0"/>
                </a:solidFill>
                <a:latin typeface="Inter"/>
              </a:defRPr>
            </a:pPr>
            <a:r>
              <a:t>Çdo sukses softuerik ndjek këtë cikël rigoroz para se të prekë tastierën.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2029968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1755648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38BDF8"/>
                </a:solidFill>
                <a:latin typeface="Inter"/>
              </a:defRPr>
            </a:pPr>
            <a:r>
              <a:t>HAPI 1</a:t>
            </a:r>
          </a:p>
          <a:p>
            <a:pPr>
              <a:spcAft>
                <a:spcPts val="1400"/>
              </a:spcAft>
              <a:defRPr sz="1800" b="1">
                <a:solidFill>
                  <a:srgbClr val="FFFFFF"/>
                </a:solidFill>
                <a:latin typeface="Inter"/>
              </a:defRPr>
            </a:pPr>
            <a:r>
              <a:t>1. Problem i Vëzhguar</a:t>
            </a:r>
          </a:p>
          <a:p>
            <a:pPr>
              <a:defRPr sz="1400">
                <a:solidFill>
                  <a:srgbClr val="E2E8F0"/>
                </a:solidFill>
                <a:latin typeface="Inter"/>
              </a:defRPr>
            </a:pPr>
            <a:r>
              <a:t>Dhimbje reale e provuar me fakte nga bisedat me 3 përdorues realë.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98648" y="1920240"/>
            <a:ext cx="2029968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35808" y="2103120"/>
            <a:ext cx="1755648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6366F1"/>
                </a:solidFill>
                <a:latin typeface="Inter"/>
              </a:defRPr>
            </a:pPr>
            <a:r>
              <a:t>HAPI 2</a:t>
            </a:r>
          </a:p>
          <a:p>
            <a:pPr>
              <a:spcAft>
                <a:spcPts val="1400"/>
              </a:spcAft>
              <a:defRPr sz="1800" b="1">
                <a:solidFill>
                  <a:srgbClr val="FFFFFF"/>
                </a:solidFill>
                <a:latin typeface="Inter"/>
              </a:defRPr>
            </a:pPr>
            <a:r>
              <a:t>2. Hipotezë e Vlerës</a:t>
            </a:r>
          </a:p>
          <a:p>
            <a:pPr>
              <a:defRPr sz="1400">
                <a:solidFill>
                  <a:srgbClr val="E2E8F0"/>
                </a:solidFill>
                <a:latin typeface="Inter"/>
              </a:defRPr>
            </a:pPr>
            <a:r>
              <a:t>Nëse ofrojmë X me 1-klik, përdoruesi kursen kohë ose para 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65776" y="1920240"/>
            <a:ext cx="2029968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02936" y="2103120"/>
            <a:ext cx="1755648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59E0B"/>
                </a:solidFill>
                <a:latin typeface="Inter"/>
              </a:defRPr>
            </a:pPr>
            <a:r>
              <a:t>HAPI 3</a:t>
            </a:r>
          </a:p>
          <a:p>
            <a:pPr>
              <a:spcAft>
                <a:spcPts val="1400"/>
              </a:spcAft>
              <a:defRPr sz="1800" b="1">
                <a:solidFill>
                  <a:srgbClr val="FFFFFF"/>
                </a:solidFill>
                <a:latin typeface="Inter"/>
              </a:defRPr>
            </a:pPr>
            <a:r>
              <a:t>3. PRD &amp; Wireframe</a:t>
            </a:r>
          </a:p>
          <a:p>
            <a:pPr>
              <a:defRPr sz="1400">
                <a:solidFill>
                  <a:srgbClr val="E2E8F0"/>
                </a:solidFill>
                <a:latin typeface="Inter"/>
              </a:defRPr>
            </a:pPr>
            <a:r>
              <a:t>Kontratë e fushëveprimit (Scope Contract) me jo më shumë se 3 aftësi.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32904" y="1920240"/>
            <a:ext cx="2029968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0064" y="2103120"/>
            <a:ext cx="1755648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10B981"/>
                </a:solidFill>
                <a:latin typeface="Inter"/>
              </a:defRPr>
            </a:pPr>
            <a:r>
              <a:t>HAPI 4</a:t>
            </a:r>
          </a:p>
          <a:p>
            <a:pPr>
              <a:spcAft>
                <a:spcPts val="1400"/>
              </a:spcAft>
              <a:defRPr sz="1800" b="1">
                <a:solidFill>
                  <a:srgbClr val="FFFFFF"/>
                </a:solidFill>
                <a:latin typeface="Inter"/>
              </a:defRPr>
            </a:pPr>
            <a:r>
              <a:t>4. Ndërtim me PWA</a:t>
            </a:r>
          </a:p>
          <a:p>
            <a:pPr>
              <a:defRPr sz="1400">
                <a:solidFill>
                  <a:srgbClr val="E2E8F0"/>
                </a:solidFill>
                <a:latin typeface="Inter"/>
              </a:defRPr>
            </a:pPr>
            <a:r>
              <a:t>Next.js 15, Tailwind, Supabase RLS dhe auto-deploy në Vercel.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00032" y="1920240"/>
            <a:ext cx="2029968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37192" y="2103120"/>
            <a:ext cx="1755648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EF4444"/>
                </a:solidFill>
                <a:latin typeface="Inter"/>
              </a:defRPr>
            </a:pPr>
            <a:r>
              <a:t>HAPI 5</a:t>
            </a:r>
          </a:p>
          <a:p>
            <a:pPr>
              <a:spcAft>
                <a:spcPts val="1400"/>
              </a:spcAft>
              <a:defRPr sz="1800" b="1">
                <a:solidFill>
                  <a:srgbClr val="FFFFFF"/>
                </a:solidFill>
                <a:latin typeface="Inter"/>
              </a:defRPr>
            </a:pPr>
            <a:r>
              <a:t>5. Testim &amp; Reflektim</a:t>
            </a:r>
          </a:p>
          <a:p>
            <a:pPr>
              <a:defRPr sz="1400">
                <a:solidFill>
                  <a:srgbClr val="E2E8F0"/>
                </a:solidFill>
                <a:latin typeface="Inter"/>
              </a:defRPr>
            </a:pPr>
            <a:r>
              <a:t>Verifikim në telefon, demonstrim individual dhe shpjegim i kodit.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Inter"/>
              </a:defRPr>
            </a:pPr>
            <a:r>
              <a:t>HAPI 1: EVIDENCA REALE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Inter"/>
              </a:defRPr>
            </a:pPr>
            <a:r>
              <a:t>Mos Filloni nga Zgjidhja — Filloni nga 3 Bisedat!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E2E8F0"/>
                </a:solidFill>
                <a:latin typeface="Inter"/>
              </a:defRPr>
            </a:pPr>
            <a:r>
              <a:t>Nëse nuk gjeni 3 studentë që e vuajnë problemin sot, mos shkruani asnjë rresht kod.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8328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8BDF8"/>
                </a:solidFill>
                <a:latin typeface="Inter"/>
              </a:defRPr>
            </a:pPr>
            <a:r>
              <a:t>Biseda 1: Shoferi (Viti 3)</a:t>
            </a:r>
          </a:p>
          <a:p>
            <a:pPr>
              <a:spcAft>
                <a:spcPts val="1600"/>
              </a:spcAft>
              <a:defRPr sz="1300">
                <a:solidFill>
                  <a:srgbClr val="B4C3D7"/>
                </a:solidFill>
                <a:latin typeface="Inter"/>
              </a:defRPr>
            </a:pPr>
            <a:r>
              <a:t>Ferizaj ➔ Kampusi AAB</a:t>
            </a:r>
          </a:p>
          <a:p>
            <a:pPr>
              <a:spcAft>
                <a:spcPts val="1600"/>
              </a:spcAft>
              <a:defRPr sz="1600" i="1">
                <a:solidFill>
                  <a:srgbClr val="FFFFFF"/>
                </a:solidFill>
                <a:latin typeface="Inter"/>
              </a:defRPr>
            </a:pPr>
            <a:r>
              <a:t>"Shpenzoj 180€ naftë në muaj. Do të merrja me dëshirë kolegë në veturë nëse do të dija kush po vjen në të njëjtën orë në mëngjes."</a:t>
            </a:r>
          </a:p>
          <a:p>
            <a:pPr>
              <a:defRPr sz="1300">
                <a:solidFill>
                  <a:srgbClr val="E2E8F0"/>
                </a:solidFill>
                <a:latin typeface="Inter"/>
              </a:defRPr>
            </a:pPr>
            <a:r>
              <a:t>Mësimi: Dhimbja ekziston në kohë dhe para. Zgjidhja kërkohet nga të dyja palët.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0312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  <a:latin typeface="Inter"/>
              </a:defRPr>
            </a:pPr>
            <a:r>
              <a:t>Biseda 2: Udhëtarja (Viti 2)</a:t>
            </a:r>
          </a:p>
          <a:p>
            <a:pPr>
              <a:spcAft>
                <a:spcPts val="1600"/>
              </a:spcAft>
              <a:defRPr sz="1300">
                <a:solidFill>
                  <a:srgbClr val="B4C3D7"/>
                </a:solidFill>
                <a:latin typeface="Inter"/>
              </a:defRPr>
            </a:pPr>
            <a:r>
              <a:t>Gjilan ➔ Kampusi AAB</a:t>
            </a:r>
          </a:p>
          <a:p>
            <a:pPr>
              <a:spcAft>
                <a:spcPts val="1600"/>
              </a:spcAft>
              <a:defRPr sz="1600" i="1">
                <a:solidFill>
                  <a:srgbClr val="FFFFFF"/>
                </a:solidFill>
                <a:latin typeface="Inter"/>
              </a:defRPr>
            </a:pPr>
            <a:r>
              <a:t>"Humba testin sepse autobusi u vonua 45 minuta në shi. Preferoj t'i jap 1.5€ një kolegu sesa të ngrij në rrugë!"</a:t>
            </a:r>
          </a:p>
          <a:p>
            <a:pPr>
              <a:defRPr sz="1300">
                <a:solidFill>
                  <a:srgbClr val="E2E8F0"/>
                </a:solidFill>
                <a:latin typeface="Inter"/>
              </a:defRPr>
            </a:pPr>
            <a:r>
              <a:t>Mësimi: Dhimbja ekziston në kohë dhe para. Zgjidhja kërkohet nga të dyja palët.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20240"/>
            <a:ext cx="338328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0312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Inter"/>
              </a:defRPr>
            </a:pPr>
            <a:r>
              <a:t>Biseda 3: Shoferi (Viti 3)</a:t>
            </a:r>
          </a:p>
          <a:p>
            <a:pPr>
              <a:spcAft>
                <a:spcPts val="1600"/>
              </a:spcAft>
              <a:defRPr sz="1300">
                <a:solidFill>
                  <a:srgbClr val="B4C3D7"/>
                </a:solidFill>
                <a:latin typeface="Inter"/>
              </a:defRPr>
            </a:pPr>
            <a:r>
              <a:t>Podujevë ➔ Kampusi AAB</a:t>
            </a:r>
          </a:p>
          <a:p>
            <a:pPr>
              <a:spcAft>
                <a:spcPts val="1600"/>
              </a:spcAft>
              <a:defRPr sz="1600" i="1">
                <a:solidFill>
                  <a:srgbClr val="FFFFFF"/>
                </a:solidFill>
                <a:latin typeface="Inter"/>
              </a:defRPr>
            </a:pPr>
            <a:r>
              <a:t>"Grupet në WhatsApp janë kaotike. Mesazhet humbasin dhe nuk e di kush është i regjistruar vërtet në AAB. Duhet siguri!"</a:t>
            </a:r>
          </a:p>
          <a:p>
            <a:pPr>
              <a:defRPr sz="1300">
                <a:solidFill>
                  <a:srgbClr val="E2E8F0"/>
                </a:solidFill>
                <a:latin typeface="Inter"/>
              </a:defRPr>
            </a:pPr>
            <a:r>
              <a:t>Mësimi: Dhimbja ekziston në kohë dhe para. Zgjidhja kërkohet nga të dyja palët.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Inter"/>
              </a:defRPr>
            </a:pPr>
            <a:r>
              <a:t>HAPI 2: SPECIFIKIMI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Inter"/>
              </a:defRPr>
            </a:pPr>
            <a:r>
              <a:t>PRD 1-Faqësh: Kontrata Juaj Para se të Kodoni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E2E8F0"/>
                </a:solidFill>
                <a:latin typeface="Inter"/>
              </a:defRPr>
            </a:pPr>
            <a:r>
              <a:t>Çdo vendim teknik buron nga kjo faqe. Shkarkohet në: arbenl.github.io/templates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66360" cy="2011680"/>
          </a:xfrm>
          <a:prstGeom prst="roundRect">
            <a:avLst/>
          </a:prstGeom>
          <a:solidFill>
            <a:srgbClr val="141E34"/>
          </a:solidFill>
          <a:ln w="1905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800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38BDF8"/>
                </a:solidFill>
                <a:latin typeface="Inter"/>
              </a:defRPr>
            </a:pPr>
            <a:r>
              <a:t>1. Përdoruesi &amp; Dhimbja</a:t>
            </a:r>
          </a:p>
          <a:p>
            <a:pPr>
              <a:defRPr sz="1500">
                <a:solidFill>
                  <a:srgbClr val="E2E8F0"/>
                </a:solidFill>
                <a:latin typeface="Inter"/>
              </a:defRPr>
            </a:pPr>
            <a:r>
              <a:t>Kush e përjeton? Kur? Si e zgjidh sot? (Fakte nga 3 bisedat e vëzhgimit).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920240"/>
            <a:ext cx="5166360" cy="2011680"/>
          </a:xfrm>
          <a:prstGeom prst="roundRect">
            <a:avLst/>
          </a:prstGeom>
          <a:solidFill>
            <a:srgbClr val="141E34"/>
          </a:solidFill>
          <a:ln w="1905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103120"/>
            <a:ext cx="4800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38BDF8"/>
                </a:solidFill>
                <a:latin typeface="Inter"/>
              </a:defRPr>
            </a:pPr>
            <a:r>
              <a:t>2. Hipoteza e Vlerës</a:t>
            </a:r>
          </a:p>
          <a:p>
            <a:pPr>
              <a:defRPr sz="1500">
                <a:solidFill>
                  <a:srgbClr val="E2E8F0"/>
                </a:solidFill>
                <a:latin typeface="Inter"/>
              </a:defRPr>
            </a:pPr>
            <a:r>
              <a:t>Nëse ofrojmë zgjidhjen me 1-klik, atëherë përdoruesi kursen kohë dhe para.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69080"/>
            <a:ext cx="5166360" cy="2011680"/>
          </a:xfrm>
          <a:prstGeom prst="roundRect">
            <a:avLst/>
          </a:prstGeom>
          <a:solidFill>
            <a:srgbClr val="141E34"/>
          </a:solidFill>
          <a:ln w="1905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251960"/>
            <a:ext cx="4800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38BDF8"/>
                </a:solidFill>
                <a:latin typeface="Inter"/>
              </a:defRPr>
            </a:pPr>
            <a:r>
              <a:t>3. Rrjedha Kryesore (Max 5)</a:t>
            </a:r>
          </a:p>
          <a:p>
            <a:pPr>
              <a:defRPr sz="1500">
                <a:solidFill>
                  <a:srgbClr val="E2E8F0"/>
                </a:solidFill>
                <a:latin typeface="Inter"/>
              </a:defRPr>
            </a:pPr>
            <a:r>
              <a:t>Nga hyrja te suksesi në jo më shumë se 5 hapa të thjeshtë në ekran.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4069080"/>
            <a:ext cx="5166360" cy="2011680"/>
          </a:xfrm>
          <a:prstGeom prst="roundRect">
            <a:avLst/>
          </a:prstGeom>
          <a:solidFill>
            <a:srgbClr val="141E34"/>
          </a:solidFill>
          <a:ln w="1905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4251960"/>
            <a:ext cx="4800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38BDF8"/>
                </a:solidFill>
                <a:latin typeface="Inter"/>
              </a:defRPr>
            </a:pPr>
            <a:r>
              <a:t>4. Kriteret e Pranimit</a:t>
            </a:r>
          </a:p>
          <a:p>
            <a:pPr>
              <a:defRPr sz="1500">
                <a:solidFill>
                  <a:srgbClr val="E2E8F0"/>
                </a:solidFill>
                <a:latin typeface="Inter"/>
              </a:defRPr>
            </a:pPr>
            <a:r>
              <a:t>3 deri 5 sjellje të testueshme që provohen me sukses në Demo Day.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Inter"/>
              </a:defRPr>
            </a:pPr>
            <a:r>
              <a:t>KONTROLLI I FUSHËVEPRIMIT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Inter"/>
              </a:defRPr>
            </a:pPr>
            <a:r>
              <a:t>Scope Contract: 'Vrasësi' i Dështimit të Projekteve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E2E8F0"/>
                </a:solidFill>
                <a:latin typeface="Inter"/>
              </a:defRPr>
            </a:pPr>
            <a:r>
              <a:t>Startup-et dështojnë kur premtojnë 20 gjëra dhe asnjëra nuk punon pa gabime.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66360" cy="448056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10B981"/>
                </a:solidFill>
                <a:latin typeface="Inter"/>
              </a:defRPr>
            </a:pPr>
            <a:r>
              <a:t>BRENDA MVP-së (Maksimumi 3 Aftësi)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  <a:latin typeface="Inter"/>
              </a:defRPr>
            </a:pPr>
            <a:r>
              <a:t>• 1. Autentikim Zyrtar: Kyçje me email @universitetiaab.com (siguri dhe besim i menjëhershëm).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  <a:latin typeface="Inter"/>
              </a:defRPr>
            </a:pPr>
            <a:r>
              <a:t>• 2. Postim i Thjeshtë: Shoferi vendos orën, qytetin e nisjes dhe sa vende ka të lira.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  <a:latin typeface="Inter"/>
              </a:defRPr>
            </a:pPr>
            <a:r>
              <a:t>• 3. Kërkesë me 1-Klik: Studenti rezervon vendin; vendet zbresin në kohë reale me Supabase.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1920240"/>
            <a:ext cx="5166360" cy="448056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EF4444"/>
                </a:solidFill>
                <a:latin typeface="Inter"/>
              </a:defRPr>
            </a:pPr>
            <a:r>
              <a:t>JASHTË MVP-së (Të Ndaluara në Semestrin 1)</a:t>
            </a:r>
          </a:p>
          <a:p>
            <a:pPr>
              <a:spcAft>
                <a:spcPts val="1200"/>
              </a:spcAft>
              <a:defRPr sz="1500">
                <a:solidFill>
                  <a:srgbClr val="E2E8F0"/>
                </a:solidFill>
                <a:latin typeface="Inter"/>
              </a:defRPr>
            </a:pPr>
            <a:r>
              <a:t>✗ Zero Pagesa me Kartelë: Kërkon llogari biznesi dhe certifikime. Përdoret para në dorë (cash).</a:t>
            </a:r>
          </a:p>
          <a:p>
            <a:pPr>
              <a:spcAft>
                <a:spcPts val="1200"/>
              </a:spcAft>
              <a:defRPr sz="1500">
                <a:solidFill>
                  <a:srgbClr val="E2E8F0"/>
                </a:solidFill>
                <a:latin typeface="Inter"/>
              </a:defRPr>
            </a:pPr>
            <a:r>
              <a:t>✗ Zero Harta Live / GPS: Konsumon baterinë dhe shton vonesa rrjeti. Mjafton lista e qyteteve.</a:t>
            </a:r>
          </a:p>
          <a:p>
            <a:pPr>
              <a:spcAft>
                <a:spcPts val="1200"/>
              </a:spcAft>
              <a:defRPr sz="1500">
                <a:solidFill>
                  <a:srgbClr val="E2E8F0"/>
                </a:solidFill>
                <a:latin typeface="Inter"/>
              </a:defRPr>
            </a:pPr>
            <a:r>
              <a:t>✗ Zero Chat i Brendshëm: Kompleksitet i lartë moderimi. Përdoret telefonatë / SMS direkte.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Inter"/>
              </a:defRPr>
            </a:pPr>
            <a:r>
              <a:t>DIZAJNI PËR TELEFON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Inter"/>
              </a:defRPr>
            </a:pPr>
            <a:r>
              <a:t>Wireframe Mobile: Vetëm 3 Pamje të Pastra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E2E8F0"/>
                </a:solidFill>
                <a:latin typeface="Inter"/>
              </a:defRPr>
            </a:pPr>
            <a:r>
              <a:t>Përpara se të shkruani CSS, skiconi në letër 3 pamjet kyçe të rrugëtimit të përdoruesit.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8328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8BDF8"/>
                </a:solidFill>
                <a:latin typeface="Inter"/>
              </a:defRPr>
            </a:pPr>
            <a:r>
              <a:t>EKRANI 1</a:t>
            </a:r>
          </a:p>
          <a:p>
            <a:pPr>
              <a:spcAft>
                <a:spcPts val="1400"/>
              </a:spcAft>
              <a:defRPr sz="1800" b="1">
                <a:solidFill>
                  <a:srgbClr val="FFFFFF"/>
                </a:solidFill>
                <a:latin typeface="Inter"/>
              </a:defRPr>
            </a:pPr>
            <a:r>
              <a:t>Pamja 1: Lista e Udhëtimeve</a:t>
            </a:r>
          </a:p>
          <a:p>
            <a:pPr>
              <a:spcAft>
                <a:spcPts val="1600"/>
              </a:spcAft>
              <a:defRPr sz="1500">
                <a:solidFill>
                  <a:srgbClr val="E2E8F0"/>
                </a:solidFill>
                <a:latin typeface="Inter"/>
              </a:defRPr>
            </a:pPr>
            <a:r>
              <a:t>Shfaq kartelat me orën e nisjes, shoferin, modelin e veturës, vendet e lira dhe çmimin simbolik.</a:t>
            </a:r>
          </a:p>
          <a:p>
            <a:pPr>
              <a:defRPr sz="1200">
                <a:solidFill>
                  <a:srgbClr val="B4C3D7"/>
                </a:solidFill>
                <a:latin typeface="Inter"/>
              </a:defRPr>
            </a:pPr>
            <a:r>
              <a:t>Rregulli: Çdo pamje zgjidh vetëm 1 pyetje të përdoruesit.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0312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6366F1"/>
                </a:solidFill>
                <a:latin typeface="Inter"/>
              </a:defRPr>
            </a:pPr>
            <a:r>
              <a:t>EKRANI 2</a:t>
            </a:r>
          </a:p>
          <a:p>
            <a:pPr>
              <a:spcAft>
                <a:spcPts val="1400"/>
              </a:spcAft>
              <a:defRPr sz="1800" b="1">
                <a:solidFill>
                  <a:srgbClr val="FFFFFF"/>
                </a:solidFill>
                <a:latin typeface="Inter"/>
              </a:defRPr>
            </a:pPr>
            <a:r>
              <a:t>Pamja 2: Detaji i Veturës</a:t>
            </a:r>
          </a:p>
          <a:p>
            <a:pPr>
              <a:spcAft>
                <a:spcPts val="1600"/>
              </a:spcAft>
              <a:defRPr sz="1500">
                <a:solidFill>
                  <a:srgbClr val="E2E8F0"/>
                </a:solidFill>
                <a:latin typeface="Inter"/>
              </a:defRPr>
            </a:pPr>
            <a:r>
              <a:t>Shfaq vendin ekzakt të takimit, orën e kthimit dhe rregullat e veturës (jo duhan, valixhe të vogla).</a:t>
            </a:r>
          </a:p>
          <a:p>
            <a:pPr>
              <a:defRPr sz="1200">
                <a:solidFill>
                  <a:srgbClr val="B4C3D7"/>
                </a:solidFill>
                <a:latin typeface="Inter"/>
              </a:defRPr>
            </a:pPr>
            <a:r>
              <a:t>Rregulli: Çdo pamje zgjidh vetëm 1 pyetje të përdoruesit.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20240"/>
            <a:ext cx="338328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0312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0B981"/>
                </a:solidFill>
                <a:latin typeface="Inter"/>
              </a:defRPr>
            </a:pPr>
            <a:r>
              <a:t>EKRANI 3</a:t>
            </a:r>
          </a:p>
          <a:p>
            <a:pPr>
              <a:spcAft>
                <a:spcPts val="1400"/>
              </a:spcAft>
              <a:defRPr sz="1800" b="1">
                <a:solidFill>
                  <a:srgbClr val="FFFFFF"/>
                </a:solidFill>
                <a:latin typeface="Inter"/>
              </a:defRPr>
            </a:pPr>
            <a:r>
              <a:t>Pamja 3: Veprimi i Shpejtë</a:t>
            </a:r>
          </a:p>
          <a:p>
            <a:pPr>
              <a:spcAft>
                <a:spcPts val="1600"/>
              </a:spcAft>
              <a:defRPr sz="1500">
                <a:solidFill>
                  <a:srgbClr val="E2E8F0"/>
                </a:solidFill>
                <a:latin typeface="Inter"/>
              </a:defRPr>
            </a:pPr>
            <a:r>
              <a:t>Buton i qartë 'Rezervo Vend'. Konfirmimi shfaqet në çast dhe vendi zbritet live pa rifreskuar.</a:t>
            </a:r>
          </a:p>
          <a:p>
            <a:pPr>
              <a:defRPr sz="1200">
                <a:solidFill>
                  <a:srgbClr val="B4C3D7"/>
                </a:solidFill>
                <a:latin typeface="Inter"/>
              </a:defRPr>
            </a:pPr>
            <a:r>
              <a:t>Rregulli: Çdo pamje zgjidh vetëm 1 pyetje të përdoruesit.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Inter"/>
              </a:defRPr>
            </a:pPr>
            <a:r>
              <a:t>ARKITEKTURA E SISTEMIT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Inter"/>
              </a:defRPr>
            </a:pPr>
            <a:r>
              <a:t>Arkitektura 2026: Ku Mbaron Shfletuesi dhe Ku Fillon Siguria?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E2E8F0"/>
                </a:solidFill>
                <a:latin typeface="Inter"/>
              </a:defRPr>
            </a:pPr>
            <a:r>
              <a:t>Asnjëherë mos i besoni të dhënave që vijnë nga shfletuesi i celularit.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8328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Inter"/>
              </a:defRPr>
            </a:pPr>
            <a:r>
              <a:t>1. Shfletuesi Mobile (Client)</a:t>
            </a:r>
          </a:p>
          <a:p>
            <a:pPr>
              <a:spcAft>
                <a:spcPts val="1400"/>
              </a:spcAft>
              <a:defRPr sz="1300">
                <a:solidFill>
                  <a:srgbClr val="B4C3D7"/>
                </a:solidFill>
                <a:latin typeface="Inter"/>
              </a:defRPr>
            </a:pPr>
            <a:r>
              <a:t>Zonë e Pabesuar (Untrusted)</a:t>
            </a:r>
          </a:p>
          <a:p>
            <a:pPr>
              <a:defRPr sz="1500">
                <a:solidFill>
                  <a:srgbClr val="E2E8F0"/>
                </a:solidFill>
                <a:latin typeface="Inter"/>
              </a:defRPr>
            </a:pPr>
            <a:r>
              <a:t>Renderon UI me React 19, validon fushat para dërgimit dhe menaxhon Service Worker-in për offline cache.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0312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6366F1"/>
                </a:solidFill>
                <a:latin typeface="Inter"/>
              </a:defRPr>
            </a:pPr>
            <a:r>
              <a:t>2. Next.js 15 Server (Vercel Edge)</a:t>
            </a:r>
          </a:p>
          <a:p>
            <a:pPr>
              <a:spcAft>
                <a:spcPts val="1400"/>
              </a:spcAft>
              <a:defRPr sz="1300">
                <a:solidFill>
                  <a:srgbClr val="B4C3D7"/>
                </a:solidFill>
                <a:latin typeface="Inter"/>
              </a:defRPr>
            </a:pPr>
            <a:r>
              <a:t>Zonë e Kontrolluar (Trusted)</a:t>
            </a:r>
          </a:p>
          <a:p>
            <a:pPr>
              <a:defRPr sz="1500">
                <a:solidFill>
                  <a:srgbClr val="E2E8F0"/>
                </a:solidFill>
                <a:latin typeface="Inter"/>
              </a:defRPr>
            </a:pPr>
            <a:r>
              <a:t>Ekzekuton Server Actions, ruan çelësat sekretë dhe validon identitetin e studentit para se të prekë bazën.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20240"/>
            <a:ext cx="338328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0312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  <a:latin typeface="Inter"/>
              </a:defRPr>
            </a:pPr>
            <a:r>
              <a:t>3. Baza Supabase (PostgreSQL)</a:t>
            </a:r>
          </a:p>
          <a:p>
            <a:pPr>
              <a:spcAft>
                <a:spcPts val="1400"/>
              </a:spcAft>
              <a:defRPr sz="1300">
                <a:solidFill>
                  <a:srgbClr val="B4C3D7"/>
                </a:solidFill>
                <a:latin typeface="Inter"/>
              </a:defRPr>
            </a:pPr>
            <a:r>
              <a:t>Bërthama e Sigurt (Source of Truth)</a:t>
            </a:r>
          </a:p>
          <a:p>
            <a:pPr>
              <a:defRPr sz="1500">
                <a:solidFill>
                  <a:srgbClr val="E2E8F0"/>
                </a:solidFill>
                <a:latin typeface="Inter"/>
              </a:defRPr>
            </a:pPr>
            <a:r>
              <a:t>Politikat RLS (Row Level Security) garantojnë që studenti lexon e modifikon vetëm të dhënat e lejuara zyrtarisht.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Inter"/>
              </a:defRPr>
            </a:pPr>
            <a:r>
              <a:t>PLATFORMA MOBILE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Inter"/>
              </a:defRPr>
            </a:pPr>
            <a:r>
              <a:t>Pse Progressive Web Apps (PWA) për Studentë dhe Startup-e?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E2E8F0"/>
                </a:solidFill>
                <a:latin typeface="Inter"/>
              </a:defRPr>
            </a:pPr>
            <a:r>
              <a:t>Krahasimi real: Zhvillimi i shpejtë dhe pa fërkime përballë dyqaneve tradicionale të aplikacioneve.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66360" cy="4480560"/>
          </a:xfrm>
          <a:prstGeom prst="roundRect">
            <a:avLst/>
          </a:prstGeom>
          <a:solidFill>
            <a:srgbClr val="141E34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EF4444"/>
                </a:solidFill>
                <a:latin typeface="Inter"/>
              </a:defRPr>
            </a:pPr>
            <a:r>
              <a:t>ZHVILLIMI NATIVE TRADICIONAL</a:t>
            </a:r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  <a:latin typeface="Inter"/>
              </a:defRPr>
            </a:pPr>
            <a:r>
              <a:t>• Pagesë 99$/vit Apple Developer Program.</a:t>
            </a:r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  <a:latin typeface="Inter"/>
              </a:defRPr>
            </a:pPr>
            <a:r>
              <a:t>• 2 javë pritje për rishikim dhe miratim në App Store.</a:t>
            </a:r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  <a:latin typeface="Inter"/>
              </a:defRPr>
            </a:pPr>
            <a:r>
              <a:t>• Baza të dyfishta kodi: Swift (iOS) dhe Kotlin (Android).</a:t>
            </a:r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  <a:latin typeface="Inter"/>
              </a:defRPr>
            </a:pPr>
            <a:r>
              <a:t>• Përditësimet kërkojnë shkarkim nga përdoruesi.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1920240"/>
            <a:ext cx="5166360" cy="448056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10B981"/>
                </a:solidFill>
                <a:latin typeface="Inter"/>
              </a:defRPr>
            </a:pPr>
            <a:r>
              <a:t>PROGRESSIVE WEB APP (NEXT.JS 15)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Inter"/>
              </a:defRPr>
            </a:pPr>
            <a:r>
              <a:t>✓ 0$ kosto: publikohet menjëherë në internet me domain personal.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Inter"/>
              </a:defRPr>
            </a:pPr>
            <a:r>
              <a:t>✓ 0 sekonda vonesë: përditësimet shkojnë live menjëherë me git push.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Inter"/>
              </a:defRPr>
            </a:pPr>
            <a:r>
              <a:t>✓ 1 bazë kodi e vetme: punon njëlloj në iPhone, Android dhe Laptop.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Inter"/>
              </a:defRPr>
            </a:pPr>
            <a:r>
              <a:t>✓ Instalim me 1-klik në Home Screen + mbështetje offline dhe push.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Inter"/>
              </a:defRPr>
            </a:pPr>
            <a:r>
              <a:t>STAKU TEKNOLOGJIK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Inter"/>
              </a:defRPr>
            </a:pPr>
            <a:r>
              <a:t>Staku i Plotë: Next.js 15, Tailwind, Supabase, Vercel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E2E8F0"/>
                </a:solidFill>
                <a:latin typeface="Inter"/>
              </a:defRPr>
            </a:pPr>
            <a:r>
              <a:t>Ekosistemi më modern dhe i kërkuar sot në industrinë globale të softuerit.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251460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Inter"/>
              </a:defRPr>
            </a:pPr>
            <a:r>
              <a:t>Next.js 15 + React 19</a:t>
            </a:r>
          </a:p>
          <a:p>
            <a:pPr>
              <a:spcAft>
                <a:spcPts val="1200"/>
              </a:spcAft>
              <a:defRPr sz="1200">
                <a:solidFill>
                  <a:srgbClr val="B4C3D7"/>
                </a:solidFill>
                <a:latin typeface="Inter"/>
              </a:defRPr>
            </a:pPr>
            <a:r>
              <a:t>Frontend &amp; Server Engine</a:t>
            </a:r>
          </a:p>
          <a:p>
            <a:pPr>
              <a:defRPr sz="1400">
                <a:solidFill>
                  <a:srgbClr val="E2E8F0"/>
                </a:solidFill>
                <a:latin typeface="Inter"/>
              </a:defRPr>
            </a:pPr>
            <a:r>
              <a:t>App Router, Server Components për shpejtësi maksimale dhe Server Actions për thirrje pa API të lodhshme.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1920240"/>
            <a:ext cx="251460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2736" y="210312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366F1"/>
                </a:solidFill>
                <a:latin typeface="Inter"/>
              </a:defRPr>
            </a:pPr>
            <a:r>
              <a:t>Tailwind CSS</a:t>
            </a:r>
          </a:p>
          <a:p>
            <a:pPr>
              <a:spcAft>
                <a:spcPts val="1200"/>
              </a:spcAft>
              <a:defRPr sz="1200">
                <a:solidFill>
                  <a:srgbClr val="B4C3D7"/>
                </a:solidFill>
                <a:latin typeface="Inter"/>
              </a:defRPr>
            </a:pPr>
            <a:r>
              <a:t>Dizajni i Përgjegjshëm</a:t>
            </a:r>
          </a:p>
          <a:p>
            <a:pPr>
              <a:defRPr sz="1400">
                <a:solidFill>
                  <a:srgbClr val="E2E8F0"/>
                </a:solidFill>
                <a:latin typeface="Inter"/>
              </a:defRPr>
            </a:pPr>
            <a:r>
              <a:t>Stilim i shpejtë celular, mbështetje e plotë dark/light mode dhe tranzicione të lëmuara pa shkruar CSS nga e para.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920240"/>
            <a:ext cx="251460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210312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  <a:latin typeface="Inter"/>
              </a:defRPr>
            </a:pPr>
            <a:r>
              <a:t>Supabase</a:t>
            </a:r>
          </a:p>
          <a:p>
            <a:pPr>
              <a:spcAft>
                <a:spcPts val="1200"/>
              </a:spcAft>
              <a:defRPr sz="1200">
                <a:solidFill>
                  <a:srgbClr val="B4C3D7"/>
                </a:solidFill>
                <a:latin typeface="Inter"/>
              </a:defRPr>
            </a:pPr>
            <a:r>
              <a:t>Baza &amp; Autentikimi</a:t>
            </a:r>
          </a:p>
          <a:p>
            <a:pPr>
              <a:defRPr sz="1400">
                <a:solidFill>
                  <a:srgbClr val="E2E8F0"/>
                </a:solidFill>
                <a:latin typeface="Inter"/>
              </a:defRPr>
            </a:pPr>
            <a:r>
              <a:t>PostgreSQL e plotë, verifikim i sigurt me email AAB, dhe përditësime në kohë reale pa servera të veçantë websocket.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3688" y="1920240"/>
            <a:ext cx="251460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0848" y="210312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Inter"/>
              </a:defRPr>
            </a:pPr>
            <a:r>
              <a:t>Vercel + GitHub</a:t>
            </a:r>
          </a:p>
          <a:p>
            <a:pPr>
              <a:spcAft>
                <a:spcPts val="1200"/>
              </a:spcAft>
              <a:defRPr sz="1200">
                <a:solidFill>
                  <a:srgbClr val="B4C3D7"/>
                </a:solidFill>
                <a:latin typeface="Inter"/>
              </a:defRPr>
            </a:pPr>
            <a:r>
              <a:t>Infrastruktura &amp; CI/CD</a:t>
            </a:r>
          </a:p>
          <a:p>
            <a:pPr>
              <a:defRPr sz="1400">
                <a:solidFill>
                  <a:srgbClr val="E2E8F0"/>
                </a:solidFill>
                <a:latin typeface="Inter"/>
              </a:defRPr>
            </a:pPr>
            <a:r>
              <a:t>Publikim automatik në rrjetin global në çdo git push dhe kontroll i cilësisë përmes GitHub Actions.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Inter"/>
              </a:defRPr>
            </a:pPr>
            <a:r>
              <a:t>QËNDRUESHMËRIA (RESILIENCE)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Inter"/>
              </a:defRPr>
            </a:pPr>
            <a:r>
              <a:t>Arkitektura e Qëndrueshme: Çfarë Ndodh kur Rrjeti Dështon?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E2E8F0"/>
                </a:solidFill>
                <a:latin typeface="Inter"/>
              </a:defRPr>
            </a:pPr>
            <a:r>
              <a:t>Aplikacioni mobil profesional dallohet nga mënyra se si sillet kur interneti ndërpritet.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8328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Inter"/>
              </a:defRPr>
            </a:pPr>
            <a:r>
              <a:t>Dështimi 1: Shkëputja e Valëve</a:t>
            </a:r>
          </a:p>
          <a:p>
            <a:pPr>
              <a:spcAft>
                <a:spcPts val="1400"/>
              </a:spcAft>
              <a:defRPr sz="1300">
                <a:solidFill>
                  <a:srgbClr val="B4C3D7"/>
                </a:solidFill>
                <a:latin typeface="Inter"/>
              </a:defRPr>
            </a:pPr>
            <a:r>
              <a:t>Udhëtimi në rrugë pa rrjet</a:t>
            </a:r>
          </a:p>
          <a:p>
            <a:pPr>
              <a:defRPr sz="1500">
                <a:solidFill>
                  <a:srgbClr val="E2E8F0"/>
                </a:solidFill>
                <a:latin typeface="Inter"/>
              </a:defRPr>
            </a:pPr>
            <a:r>
              <a:t>PWA nuk shfaq 'Dinosaurin' apo gabim 404. Service Worker-i shfaq ndërfaqen e ruajtur në cache dhe udhëtimet e fundit.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0312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8BDF8"/>
                </a:solidFill>
                <a:latin typeface="Inter"/>
              </a:defRPr>
            </a:pPr>
            <a:r>
              <a:t>Dështimi 2: Kërkesa në Pritje</a:t>
            </a:r>
          </a:p>
          <a:p>
            <a:pPr>
              <a:spcAft>
                <a:spcPts val="1400"/>
              </a:spcAft>
              <a:defRPr sz="1300">
                <a:solidFill>
                  <a:srgbClr val="B4C3D7"/>
                </a:solidFill>
                <a:latin typeface="Inter"/>
              </a:defRPr>
            </a:pPr>
            <a:r>
              <a:t>Studenti rezervoi në tunel</a:t>
            </a:r>
          </a:p>
          <a:p>
            <a:pPr>
              <a:defRPr sz="1500">
                <a:solidFill>
                  <a:srgbClr val="E2E8F0"/>
                </a:solidFill>
                <a:latin typeface="Inter"/>
              </a:defRPr>
            </a:pPr>
            <a:r>
              <a:t>Aplikacioni regjistron veprimin lokalisht në IndexedDB dhe e dërgon automatikisht në Supabase sapo rikthehet lidhja.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20240"/>
            <a:ext cx="338328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0312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F4444"/>
                </a:solidFill>
                <a:latin typeface="Inter"/>
              </a:defRPr>
            </a:pPr>
            <a:r>
              <a:t>Dështimi 3: Qasja e Paautorizuar</a:t>
            </a:r>
          </a:p>
          <a:p>
            <a:pPr>
              <a:spcAft>
                <a:spcPts val="1400"/>
              </a:spcAft>
              <a:defRPr sz="1300">
                <a:solidFill>
                  <a:srgbClr val="B4C3D7"/>
                </a:solidFill>
                <a:latin typeface="Inter"/>
              </a:defRPr>
            </a:pPr>
            <a:r>
              <a:t>Përdoruesi tenton të ndryshojë rolin</a:t>
            </a:r>
          </a:p>
          <a:p>
            <a:pPr>
              <a:defRPr sz="1500">
                <a:solidFill>
                  <a:srgbClr val="E2E8F0"/>
                </a:solidFill>
                <a:latin typeface="Inter"/>
              </a:defRPr>
            </a:pPr>
            <a:r>
              <a:t>Supabase RLS bllokon kërkesën në nivel baze të dhënash me kod 403. Asnjë e dhënë nuk komprometohet.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Inter"/>
              </a:defRPr>
            </a:pPr>
            <a:r>
              <a:t>ETIKA DHE PËRDORIMI I AI-SË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Inter"/>
              </a:defRPr>
            </a:pPr>
            <a:r>
              <a:t>Rregulli i Artë: Copilot si Bashkë-Pilot, Ju Jeni Arkitekti!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E2E8F0"/>
                </a:solidFill>
                <a:latin typeface="Inter"/>
              </a:defRPr>
            </a:pPr>
            <a:r>
              <a:t>Lejohet dhe inkurajohet AI për shpejtësi, por ju mbani 100% përgjegjësi për çdo rresht kodi.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8328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8BDF8"/>
                </a:solidFill>
                <a:latin typeface="Inter"/>
              </a:defRPr>
            </a:pPr>
            <a:r>
              <a:t>1. Propozimi (AI)</a:t>
            </a:r>
          </a:p>
          <a:p>
            <a:pPr>
              <a:spcAft>
                <a:spcPts val="1400"/>
              </a:spcAft>
              <a:defRPr sz="1300">
                <a:solidFill>
                  <a:srgbClr val="B4C3D7"/>
                </a:solidFill>
                <a:latin typeface="Inter"/>
              </a:defRPr>
            </a:pPr>
            <a:r>
              <a:t>Pyetje e Qartë &amp; Kontekst</a:t>
            </a:r>
          </a:p>
          <a:p>
            <a:pPr>
              <a:defRPr sz="1500">
                <a:solidFill>
                  <a:srgbClr val="E2E8F0"/>
                </a:solidFill>
                <a:latin typeface="Inter"/>
              </a:defRPr>
            </a:pPr>
            <a:r>
              <a:t>Copilot sugjeron kod bazuar në pyetjen tuaj. Mos pranoni verbërisht me Tab pa e lexuar kodin!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0312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Inter"/>
              </a:defRPr>
            </a:pPr>
            <a:r>
              <a:t>2. Kontrolli Njerëzor</a:t>
            </a:r>
          </a:p>
          <a:p>
            <a:pPr>
              <a:spcAft>
                <a:spcPts val="1400"/>
              </a:spcAft>
              <a:defRPr sz="1300">
                <a:solidFill>
                  <a:srgbClr val="B4C3D7"/>
                </a:solidFill>
                <a:latin typeface="Inter"/>
              </a:defRPr>
            </a:pPr>
            <a:r>
              <a:t>Kritika &amp; Përmirësimi</a:t>
            </a:r>
          </a:p>
          <a:p>
            <a:pPr>
              <a:defRPr sz="1500">
                <a:solidFill>
                  <a:srgbClr val="E2E8F0"/>
                </a:solidFill>
                <a:latin typeface="Inter"/>
              </a:defRPr>
            </a:pPr>
            <a:r>
              <a:t>Ju verifikoni tipet në TypeScript, rregulloni logjikën e gabuar dhe siguroni mbrojtjen nga gabimet.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20240"/>
            <a:ext cx="338328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0312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  <a:latin typeface="Inter"/>
              </a:defRPr>
            </a:pPr>
            <a:r>
              <a:t>3. Shënimi i Verifikimit</a:t>
            </a:r>
          </a:p>
          <a:p>
            <a:pPr>
              <a:spcAft>
                <a:spcPts val="1400"/>
              </a:spcAft>
              <a:defRPr sz="1300">
                <a:solidFill>
                  <a:srgbClr val="B4C3D7"/>
                </a:solidFill>
                <a:latin typeface="Inter"/>
              </a:defRPr>
            </a:pPr>
            <a:r>
              <a:t>Deklarata Zyrtare e Punës</a:t>
            </a:r>
          </a:p>
          <a:p>
            <a:pPr>
              <a:defRPr sz="1500">
                <a:solidFill>
                  <a:srgbClr val="E2E8F0"/>
                </a:solidFill>
                <a:latin typeface="Inter"/>
              </a:defRPr>
            </a:pPr>
            <a:r>
              <a:t>Për çdo detyrë dorëzoni AI_Usage_Verification_Note.md: çfarë pyetët, çfarë modifikuat dhe si e testuat.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Inter"/>
              </a:defRPr>
            </a:pPr>
            <a:r>
              <a:t>FORMULA E NOTIMIT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Inter"/>
              </a:defRPr>
            </a:pPr>
            <a:r>
              <a:t>Formula e Vlerësimit: 10% / 30% / 40% / 20%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E2E8F0"/>
                </a:solidFill>
                <a:latin typeface="Inter"/>
              </a:defRPr>
            </a:pPr>
            <a:r>
              <a:t>Bologna 6 ECTS: 150–180 orë ngarkesë reale e ndarë midis orëve të kontaktit dhe projektit.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251460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38BDF8"/>
                </a:solidFill>
                <a:latin typeface="Inter"/>
              </a:defRPr>
            </a:pPr>
            <a:r>
              <a:t>10%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Inter"/>
              </a:defRPr>
            </a:pPr>
            <a:r>
              <a:t>Pjesëmarrja &amp; Check-in</a:t>
            </a:r>
          </a:p>
          <a:p>
            <a:pPr>
              <a:defRPr sz="1400">
                <a:solidFill>
                  <a:srgbClr val="E2E8F0"/>
                </a:solidFill>
                <a:latin typeface="Inter"/>
              </a:defRPr>
            </a:pPr>
            <a:r>
              <a:t>Evidencë me QR në çdo fillim ligjërate. Politikë transparente për arsyetimin e mungesave mjekësore.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1920240"/>
            <a:ext cx="251460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2736" y="210312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6366F1"/>
                </a:solidFill>
                <a:latin typeface="Inter"/>
              </a:defRPr>
            </a:pPr>
            <a:r>
              <a:t>30%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Inter"/>
              </a:defRPr>
            </a:pPr>
            <a:r>
              <a:t>Detyrat Javore</a:t>
            </a:r>
          </a:p>
          <a:p>
            <a:pPr>
              <a:defRPr sz="1400">
                <a:solidFill>
                  <a:srgbClr val="E2E8F0"/>
                </a:solidFill>
                <a:latin typeface="Inter"/>
              </a:defRPr>
            </a:pPr>
            <a:r>
              <a:t>Ushtrime praktike me GitHub Actions. Statusi i gjelbër CI dhe shpjegimi i saktë i zgjidhjes.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920240"/>
            <a:ext cx="251460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210312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0B981"/>
                </a:solidFill>
                <a:latin typeface="Inter"/>
              </a:defRPr>
            </a:pPr>
            <a:r>
              <a:t>40%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Inter"/>
              </a:defRPr>
            </a:pPr>
            <a:r>
              <a:t>Projekti PWA</a:t>
            </a:r>
          </a:p>
          <a:p>
            <a:pPr>
              <a:defRPr sz="1400">
                <a:solidFill>
                  <a:srgbClr val="E2E8F0"/>
                </a:solidFill>
                <a:latin typeface="Inter"/>
              </a:defRPr>
            </a:pPr>
            <a:r>
              <a:t>Aplikacion mobil i plotë me Next.js, Supabase dhe PWA. Vlerësohet funksionaliteti dhe stabiliteti offline.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3688" y="1920240"/>
            <a:ext cx="251460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0848" y="210312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59E0B"/>
                </a:solidFill>
                <a:latin typeface="Inter"/>
              </a:defRPr>
            </a:pPr>
            <a:r>
              <a:t>20%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Inter"/>
              </a:defRPr>
            </a:pPr>
            <a:r>
              <a:t>Demo Day (Java 15)</a:t>
            </a:r>
          </a:p>
          <a:p>
            <a:pPr>
              <a:defRPr sz="1400">
                <a:solidFill>
                  <a:srgbClr val="E2E8F0"/>
                </a:solidFill>
                <a:latin typeface="Inter"/>
              </a:defRPr>
            </a:pPr>
            <a:r>
              <a:t>Prezantim 3-minutësh para jurisë dhe mbrojtje individuale e kodit dhe vendimeve arkitekturore.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Inter"/>
              </a:defRPr>
            </a:pPr>
            <a:r>
              <a:t>AUTOMATIZIMI I CILËSISË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Inter"/>
              </a:defRPr>
            </a:pPr>
            <a:r>
              <a:t>Feedback i Menjëhershëm: Testet Automate me GitHub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E2E8F0"/>
                </a:solidFill>
                <a:latin typeface="Inter"/>
              </a:defRPr>
            </a:pPr>
            <a:r>
              <a:t>Çdo detyrë testohet automatikisht sapo bëni 'git push'. Zero pritje për korrigjim manual.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251460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Inter"/>
              </a:defRPr>
            </a:pPr>
            <a:r>
              <a:t>Hapi 1: Push në GitHub</a:t>
            </a:r>
          </a:p>
          <a:p>
            <a:pPr>
              <a:spcAft>
                <a:spcPts val="1200"/>
              </a:spcAft>
              <a:defRPr sz="1200">
                <a:solidFill>
                  <a:srgbClr val="B4C3D7"/>
                </a:solidFill>
                <a:latin typeface="Inter"/>
              </a:defRPr>
            </a:pPr>
            <a:r>
              <a:t>Kodi ngarkohet në repo</a:t>
            </a:r>
          </a:p>
          <a:p>
            <a:pPr>
              <a:defRPr sz="1400">
                <a:solidFill>
                  <a:srgbClr val="E2E8F0"/>
                </a:solidFill>
                <a:latin typeface="Inter"/>
              </a:defRPr>
            </a:pPr>
            <a:r>
              <a:t>Çdo commit shkakton ekzekutimin e menjëhershëm të skedarit `.github/workflows/ci.yml`.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1920240"/>
            <a:ext cx="251460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2736" y="210312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366F1"/>
                </a:solidFill>
                <a:latin typeface="Inter"/>
              </a:defRPr>
            </a:pPr>
            <a:r>
              <a:t>Hapi 2: Build &amp; Lint</a:t>
            </a:r>
          </a:p>
          <a:p>
            <a:pPr>
              <a:spcAft>
                <a:spcPts val="1200"/>
              </a:spcAft>
              <a:defRPr sz="1200">
                <a:solidFill>
                  <a:srgbClr val="B4C3D7"/>
                </a:solidFill>
                <a:latin typeface="Inter"/>
              </a:defRPr>
            </a:pPr>
            <a:r>
              <a:t>Kontrolli i sintaksës</a:t>
            </a:r>
          </a:p>
          <a:p>
            <a:pPr>
              <a:defRPr sz="1400">
                <a:solidFill>
                  <a:srgbClr val="E2E8F0"/>
                </a:solidFill>
                <a:latin typeface="Inter"/>
              </a:defRPr>
            </a:pPr>
            <a:r>
              <a:t>Serveri i GitHub verifikon tipet në TypeScript, pastërtinë e kodit me ESLint dhe kompilimin me Next.js.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920240"/>
            <a:ext cx="251460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210312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  <a:latin typeface="Inter"/>
              </a:defRPr>
            </a:pPr>
            <a:r>
              <a:t>Hapi 3: Testimi i PWA</a:t>
            </a:r>
          </a:p>
          <a:p>
            <a:pPr>
              <a:spcAft>
                <a:spcPts val="1200"/>
              </a:spcAft>
              <a:defRPr sz="1200">
                <a:solidFill>
                  <a:srgbClr val="B4C3D7"/>
                </a:solidFill>
                <a:latin typeface="Inter"/>
              </a:defRPr>
            </a:pPr>
            <a:r>
              <a:t>Kriteret e Pranimit</a:t>
            </a:r>
          </a:p>
          <a:p>
            <a:pPr>
              <a:defRPr sz="1400">
                <a:solidFill>
                  <a:srgbClr val="E2E8F0"/>
                </a:solidFill>
                <a:latin typeface="Inter"/>
              </a:defRPr>
            </a:pPr>
            <a:r>
              <a:t>Testohet ekzistenca e manifestit, ikonave dhe konfigurimit të service worker-it pa gabime.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3688" y="1920240"/>
            <a:ext cx="251460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0848" y="210312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Inter"/>
              </a:defRPr>
            </a:pPr>
            <a:r>
              <a:t>Hapi 4: Statusi ✅</a:t>
            </a:r>
          </a:p>
          <a:p>
            <a:pPr>
              <a:spcAft>
                <a:spcPts val="1200"/>
              </a:spcAft>
              <a:defRPr sz="1200">
                <a:solidFill>
                  <a:srgbClr val="B4C3D7"/>
                </a:solidFill>
                <a:latin typeface="Inter"/>
              </a:defRPr>
            </a:pPr>
            <a:r>
              <a:t>Pikët e Regjistruara</a:t>
            </a:r>
          </a:p>
          <a:p>
            <a:pPr>
              <a:defRPr sz="1400">
                <a:solidFill>
                  <a:srgbClr val="E2E8F0"/>
                </a:solidFill>
                <a:latin typeface="Inter"/>
              </a:defRPr>
            </a:pPr>
            <a:r>
              <a:t>Nëse testi kalon, asistenti verifikon shpjegimin tuaj. Nëse dështon, rregulloni gabimin brenda ditës.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Inter"/>
              </a:defRPr>
            </a:pPr>
            <a:r>
              <a:t>FINALJA E KURSIT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Inter"/>
              </a:defRPr>
            </a:pPr>
            <a:r>
              <a:t>Demo Day në Javën 15: Shark Tank Pitch &amp; Mbrojtje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E2E8F0"/>
                </a:solidFill>
                <a:latin typeface="Inter"/>
              </a:defRPr>
            </a:pPr>
            <a:r>
              <a:t>Përmbyllja madhështore ku çdo ekip demonstron produktin e vërtetë para jurisë së ekspertëve.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8328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8BDF8"/>
                </a:solidFill>
                <a:latin typeface="Inter"/>
              </a:defRPr>
            </a:pPr>
            <a:r>
              <a:t>3 Minuta: Pitch</a:t>
            </a:r>
          </a:p>
          <a:p>
            <a:pPr>
              <a:spcAft>
                <a:spcPts val="1400"/>
              </a:spcAft>
              <a:defRPr sz="1300">
                <a:solidFill>
                  <a:srgbClr val="B4C3D7"/>
                </a:solidFill>
                <a:latin typeface="Inter"/>
              </a:defRPr>
            </a:pPr>
            <a:r>
              <a:t>Problemi &amp; Vlera</a:t>
            </a:r>
          </a:p>
          <a:p>
            <a:pPr>
              <a:defRPr sz="1500">
                <a:solidFill>
                  <a:srgbClr val="E2E8F0"/>
                </a:solidFill>
                <a:latin typeface="Inter"/>
              </a:defRPr>
            </a:pPr>
            <a:r>
              <a:t>Shpjegoni kujt ia zgjidhët dhimbjen, cila ishte hipoteza dhe pse përdoruesit e duan aplikacionin tuaj.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0312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  <a:latin typeface="Inter"/>
              </a:defRPr>
            </a:pPr>
            <a:r>
              <a:t>2 Minuta: Live Demo</a:t>
            </a:r>
          </a:p>
          <a:p>
            <a:pPr>
              <a:spcAft>
                <a:spcPts val="1400"/>
              </a:spcAft>
              <a:defRPr sz="1300">
                <a:solidFill>
                  <a:srgbClr val="B4C3D7"/>
                </a:solidFill>
                <a:latin typeface="Inter"/>
              </a:defRPr>
            </a:pPr>
            <a:r>
              <a:t>Në Celularin Real</a:t>
            </a:r>
          </a:p>
          <a:p>
            <a:pPr>
              <a:defRPr sz="1500">
                <a:solidFill>
                  <a:srgbClr val="E2E8F0"/>
                </a:solidFill>
                <a:latin typeface="Inter"/>
              </a:defRPr>
            </a:pPr>
            <a:r>
              <a:t>Zero slide apo screenshots! Hapni aplikacionin e vërtetë nga ikona në celular dhe kryeni rrjedhën para jurisë.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20240"/>
            <a:ext cx="338328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0312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Inter"/>
              </a:defRPr>
            </a:pPr>
            <a:r>
              <a:t>Mbrojtja Individuale</a:t>
            </a:r>
          </a:p>
          <a:p>
            <a:pPr>
              <a:spcAft>
                <a:spcPts val="1400"/>
              </a:spcAft>
              <a:defRPr sz="1300">
                <a:solidFill>
                  <a:srgbClr val="B4C3D7"/>
                </a:solidFill>
                <a:latin typeface="Inter"/>
              </a:defRPr>
            </a:pPr>
            <a:r>
              <a:t>Pyetje mbi Kodin</a:t>
            </a:r>
          </a:p>
          <a:p>
            <a:pPr>
              <a:defRPr sz="1500">
                <a:solidFill>
                  <a:srgbClr val="E2E8F0"/>
                </a:solidFill>
                <a:latin typeface="Inter"/>
              </a:defRPr>
            </a:pPr>
            <a:r>
              <a:t>Çdo anëtar i ekipit pyetet mbi një pjesë të kodit: 'Pse e zgjodhe këtë tabelë? Si e mbron RLS këtë fushë?'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Inter"/>
              </a:defRPr>
            </a:pPr>
            <a:r>
              <a:t>PJESËMARRJA NË LIGJËRATË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Inter"/>
              </a:defRPr>
            </a:pPr>
            <a:r>
              <a:t>Check-in Live me QR Code (2 Minuta)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E2E8F0"/>
                </a:solidFill>
                <a:latin typeface="Inter"/>
              </a:defRPr>
            </a:pPr>
            <a:r>
              <a:t>Hapni kamerën e celularit, skanoni kodin dhe shënoni praninë tuaj në bazën e të dhënave.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411480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master_check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94560"/>
            <a:ext cx="3200400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548640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8BDF8"/>
                </a:solidFill>
                <a:latin typeface="Inter"/>
              </a:defRPr>
            </a:pPr>
            <a:r>
              <a:t>arbenl.github.io/#checkin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1920240"/>
            <a:ext cx="6309360" cy="4389120"/>
          </a:xfrm>
          <a:prstGeom prst="roundRect">
            <a:avLst/>
          </a:prstGeom>
          <a:solidFill>
            <a:srgbClr val="141E34"/>
          </a:solidFill>
          <a:ln w="1905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0" y="2103120"/>
            <a:ext cx="5760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FFFFFF"/>
                </a:solidFill>
                <a:latin typeface="Inter"/>
              </a:defRPr>
            </a:pPr>
            <a:r>
              <a:t>RREGULLAT E CHECK-IN LIVE:</a:t>
            </a:r>
          </a:p>
          <a:p>
            <a:pPr>
              <a:spcAft>
                <a:spcPts val="1000"/>
              </a:spcAft>
              <a:defRPr sz="1500">
                <a:solidFill>
                  <a:srgbClr val="E2E8F0"/>
                </a:solidFill>
                <a:latin typeface="Inter"/>
              </a:defRPr>
            </a:pPr>
            <a:r>
              <a:t>• 1. Skanoni QR Kodin: Hapet formulari zyrtar i pranisë në telefonin tuaj.</a:t>
            </a:r>
          </a:p>
          <a:p>
            <a:pPr>
              <a:spcAft>
                <a:spcPts val="1000"/>
              </a:spcAft>
              <a:defRPr sz="1500">
                <a:solidFill>
                  <a:srgbClr val="E2E8F0"/>
                </a:solidFill>
                <a:latin typeface="Inter"/>
              </a:defRPr>
            </a:pPr>
            <a:r>
              <a:t>• 2. Shënoni Email-in AAB: Përdorni emailin tuaj zyrtar studentor (@universitetiaab.com).</a:t>
            </a:r>
          </a:p>
          <a:p>
            <a:pPr>
              <a:spcAft>
                <a:spcPts val="1000"/>
              </a:spcAft>
              <a:defRPr sz="1500">
                <a:solidFill>
                  <a:srgbClr val="E2E8F0"/>
                </a:solidFill>
                <a:latin typeface="Inter"/>
              </a:defRPr>
            </a:pPr>
            <a:r>
              <a:t>• 3. Konfirmimi në Server: Prania juaj regjistrohet menjëherë në tabelën attendance_records.</a:t>
            </a:r>
          </a:p>
          <a:p>
            <a:pPr>
              <a:spcAft>
                <a:spcPts val="1000"/>
              </a:spcAft>
              <a:defRPr sz="1500">
                <a:solidFill>
                  <a:srgbClr val="E2E8F0"/>
                </a:solidFill>
                <a:latin typeface="Inter"/>
              </a:defRPr>
            </a:pPr>
            <a:r>
              <a:t>• 4. Rruga Rezervë: Nëse telefoni juaj nuk ka bateri ose internet, lajmëroni asistentin brenda 10 minutave për regjistrim manual.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Inter"/>
              </a:defRPr>
            </a:pPr>
            <a:r>
              <a:t>ORA E USHTRIMEVE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Inter"/>
              </a:defRPr>
            </a:pPr>
            <a:r>
              <a:t>Plani 'First Win në 45 Minuta': Nga Zeroja te Publikimi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E2E8F0"/>
                </a:solidFill>
                <a:latin typeface="Inter"/>
              </a:defRPr>
            </a:pPr>
            <a:r>
              <a:t>Cikli i plotë praktik: Çdo student del nga salla me faqen e parë PWA në internet dhe në celular.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251460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Inter"/>
              </a:defRPr>
            </a:pPr>
            <a:r>
              <a:t>Min 00–12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Inter"/>
              </a:defRPr>
            </a:pPr>
            <a:r>
              <a:t>Repo nga Template</a:t>
            </a:r>
          </a:p>
          <a:p>
            <a:pPr>
              <a:defRPr sz="1400">
                <a:solidFill>
                  <a:srgbClr val="E2E8F0"/>
                </a:solidFill>
                <a:latin typeface="Inter"/>
              </a:defRPr>
            </a:pPr>
            <a:r>
              <a:t>Klikoni 'Use this template' në GitHub dhe krijoni repon tuaj personale aab-mobile-pwa-starter.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1920240"/>
            <a:ext cx="251460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2736" y="210312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366F1"/>
                </a:solidFill>
                <a:latin typeface="Inter"/>
              </a:defRPr>
            </a:pPr>
            <a:r>
              <a:t>Min 12–20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Inter"/>
              </a:defRPr>
            </a:pPr>
            <a:r>
              <a:t>First Commit</a:t>
            </a:r>
          </a:p>
          <a:p>
            <a:pPr>
              <a:defRPr sz="1400">
                <a:solidFill>
                  <a:srgbClr val="E2E8F0"/>
                </a:solidFill>
                <a:latin typeface="Inter"/>
              </a:defRPr>
            </a:pPr>
            <a:r>
              <a:t>Ndryshoni titullin dhe shënoni emrin tuaj dhe idenë e parë. Bëni 'commit' në GitHub.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920240"/>
            <a:ext cx="251460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210312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  <a:latin typeface="Inter"/>
              </a:defRPr>
            </a:pPr>
            <a:r>
              <a:t>Min 20–30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Inter"/>
              </a:defRPr>
            </a:pPr>
            <a:r>
              <a:t>Vercel Deploy</a:t>
            </a:r>
          </a:p>
          <a:p>
            <a:pPr>
              <a:defRPr sz="1400">
                <a:solidFill>
                  <a:srgbClr val="E2E8F0"/>
                </a:solidFill>
                <a:latin typeface="Inter"/>
              </a:defRPr>
            </a:pPr>
            <a:r>
              <a:t>Lidhni repon me Vercel me 1-klik. Projekti ndërtohet dhe merr domain: emri.vercel.app.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3688" y="1920240"/>
            <a:ext cx="251460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0848" y="210312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Inter"/>
              </a:defRPr>
            </a:pPr>
            <a:r>
              <a:t>Min 30–45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Inter"/>
              </a:defRPr>
            </a:pPr>
            <a:r>
              <a:t>Test në Telefon</a:t>
            </a:r>
          </a:p>
          <a:p>
            <a:pPr>
              <a:defRPr sz="1400">
                <a:solidFill>
                  <a:srgbClr val="E2E8F0"/>
                </a:solidFill>
                <a:latin typeface="Inter"/>
              </a:defRPr>
            </a:pPr>
            <a:r>
              <a:t>Hapni linkun në celular, shtypni 'Add to Home Screen' dhe dorëzoni linkun tuaj në portal.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Inter"/>
              </a:defRPr>
            </a:pPr>
            <a:r>
              <a:t>PROTOKOLLI I NDIHMËS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Inter"/>
              </a:defRPr>
            </a:pPr>
            <a:r>
              <a:t>Asnjë Student i Bllokuar: Protokolli 10-Minutësh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E2E8F0"/>
                </a:solidFill>
                <a:latin typeface="Inter"/>
              </a:defRPr>
            </a:pPr>
            <a:r>
              <a:t>Asistenti ndjek këtë rregullore të rreptë për të rikthyer studentin në mësim brenda 10 minutave.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8328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38BDF8"/>
                </a:solidFill>
                <a:latin typeface="Inter"/>
              </a:defRPr>
            </a:pPr>
            <a:r>
              <a:t>Pengesa: Copilot në Pritje</a:t>
            </a:r>
          </a:p>
          <a:p>
            <a:pPr>
              <a:spcAft>
                <a:spcPts val="1400"/>
              </a:spcAft>
              <a:defRPr sz="1300">
                <a:solidFill>
                  <a:srgbClr val="B4C3D7"/>
                </a:solidFill>
                <a:latin typeface="Inter"/>
              </a:defRPr>
            </a:pPr>
            <a:r>
              <a:t>Aplikimi kërkon 24-48 orë</a:t>
            </a:r>
          </a:p>
          <a:p>
            <a:pPr>
              <a:defRPr sz="1500">
                <a:solidFill>
                  <a:srgbClr val="E2E8F0"/>
                </a:solidFill>
                <a:latin typeface="Inter"/>
              </a:defRPr>
            </a:pPr>
            <a:r>
              <a:t>Mos u bllokoni! Studenti vazhdon ushtrimin 1 pa Copilot. Aktivizimi bëhet gjatë javës.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0312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59E0B"/>
                </a:solidFill>
                <a:latin typeface="Inter"/>
              </a:defRPr>
            </a:pPr>
            <a:r>
              <a:t>Pengesa: Dështim i SSH / Git</a:t>
            </a:r>
          </a:p>
          <a:p>
            <a:pPr>
              <a:spcAft>
                <a:spcPts val="1400"/>
              </a:spcAft>
              <a:defRPr sz="1300">
                <a:solidFill>
                  <a:srgbClr val="B4C3D7"/>
                </a:solidFill>
                <a:latin typeface="Inter"/>
              </a:defRPr>
            </a:pPr>
            <a:r>
              <a:t>Çelësat e terminalit nuk lidhen</a:t>
            </a:r>
          </a:p>
          <a:p>
            <a:pPr>
              <a:defRPr sz="1500">
                <a:solidFill>
                  <a:srgbClr val="E2E8F0"/>
                </a:solidFill>
                <a:latin typeface="Inter"/>
              </a:defRPr>
            </a:pPr>
            <a:r>
              <a:t>Kaloni menjëherë te HTTPS me Personal Access Token (PAT) ose përdorni GitHub Desktop me 1-klik.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20240"/>
            <a:ext cx="338328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0312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B981"/>
                </a:solidFill>
                <a:latin typeface="Inter"/>
              </a:defRPr>
            </a:pPr>
            <a:r>
              <a:t>Pengesa: Node.js / Windows PATH</a:t>
            </a:r>
          </a:p>
          <a:p>
            <a:pPr>
              <a:spcAft>
                <a:spcPts val="1400"/>
              </a:spcAft>
              <a:defRPr sz="1300">
                <a:solidFill>
                  <a:srgbClr val="B4C3D7"/>
                </a:solidFill>
                <a:latin typeface="Inter"/>
              </a:defRPr>
            </a:pPr>
            <a:r>
              <a:t>Terminali nuk njeh komandën 'node'</a:t>
            </a:r>
          </a:p>
          <a:p>
            <a:pPr>
              <a:defRPr sz="1500">
                <a:solidFill>
                  <a:srgbClr val="E2E8F0"/>
                </a:solidFill>
                <a:latin typeface="Inter"/>
              </a:defRPr>
            </a:pPr>
            <a:r>
              <a:t>Punohet direkt në shfletues me GitHub Web Editor (shtyp butonin '.') dhe bëhet build në Vercel!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Inter"/>
              </a:defRPr>
            </a:pPr>
            <a:r>
              <a:t>DETYRAT PËR JAVËN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Inter"/>
              </a:defRPr>
            </a:pPr>
            <a:r>
              <a:t>Hapi i Radhës: Gjeni Problemin dhe Dorëzoni PRD-në!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E2E8F0"/>
                </a:solidFill>
                <a:latin typeface="Inter"/>
              </a:defRPr>
            </a:pPr>
            <a:r>
              <a:t>Përgatitja për Javën 2: Krijimi i themeleve të startup-it tuaj para se të shkruani kod.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66360" cy="2011680"/>
          </a:xfrm>
          <a:prstGeom prst="roundRect">
            <a:avLst/>
          </a:prstGeom>
          <a:solidFill>
            <a:srgbClr val="141E34"/>
          </a:solidFill>
          <a:ln w="1905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800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38BDF8"/>
                </a:solidFill>
                <a:latin typeface="Inter"/>
              </a:defRPr>
            </a:pPr>
            <a:r>
              <a:t>Detyra 1: Vëzhgimi Real</a:t>
            </a:r>
          </a:p>
          <a:p>
            <a:pPr>
              <a:defRPr sz="1500">
                <a:solidFill>
                  <a:srgbClr val="E2E8F0"/>
                </a:solidFill>
                <a:latin typeface="Inter"/>
              </a:defRPr>
            </a:pPr>
            <a:r>
              <a:t>Gjeni një problem të prekshëm në jetën studentore ose në një SME vendore në Kosovë.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920240"/>
            <a:ext cx="5166360" cy="2011680"/>
          </a:xfrm>
          <a:prstGeom prst="roundRect">
            <a:avLst/>
          </a:prstGeom>
          <a:solidFill>
            <a:srgbClr val="141E34"/>
          </a:solidFill>
          <a:ln w="1905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103120"/>
            <a:ext cx="4800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38BDF8"/>
                </a:solidFill>
                <a:latin typeface="Inter"/>
              </a:defRPr>
            </a:pPr>
            <a:r>
              <a:t>Detyra 2: 3 Bisedat</a:t>
            </a:r>
          </a:p>
          <a:p>
            <a:pPr>
              <a:defRPr sz="1500">
                <a:solidFill>
                  <a:srgbClr val="E2E8F0"/>
                </a:solidFill>
                <a:latin typeface="Inter"/>
              </a:defRPr>
            </a:pPr>
            <a:r>
              <a:t>Zhvilloni 3 intervista të shkurtra me përdorues potencialë dhe shënoni citimet e tyre.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69080"/>
            <a:ext cx="5166360" cy="2011680"/>
          </a:xfrm>
          <a:prstGeom prst="roundRect">
            <a:avLst/>
          </a:prstGeom>
          <a:solidFill>
            <a:srgbClr val="141E34"/>
          </a:solidFill>
          <a:ln w="1905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251960"/>
            <a:ext cx="4800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38BDF8"/>
                </a:solidFill>
                <a:latin typeface="Inter"/>
              </a:defRPr>
            </a:pPr>
            <a:r>
              <a:t>Detyra 3: Drafti i PRD-së</a:t>
            </a:r>
          </a:p>
          <a:p>
            <a:pPr>
              <a:defRPr sz="1500">
                <a:solidFill>
                  <a:srgbClr val="E2E8F0"/>
                </a:solidFill>
                <a:latin typeface="Inter"/>
              </a:defRPr>
            </a:pPr>
            <a:r>
              <a:t>Shkarkoni PRD_Template_AAB_Mobile_2026.md, plotësoni 1 faqe dhe dorëzojeni në portal.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4069080"/>
            <a:ext cx="5166360" cy="2011680"/>
          </a:xfrm>
          <a:prstGeom prst="roundRect">
            <a:avLst/>
          </a:prstGeom>
          <a:solidFill>
            <a:srgbClr val="141E34"/>
          </a:solidFill>
          <a:ln w="1905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4251960"/>
            <a:ext cx="4800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38BDF8"/>
                </a:solidFill>
                <a:latin typeface="Inter"/>
              </a:defRPr>
            </a:pPr>
            <a:r>
              <a:t>Detyra 4: Scope Contract</a:t>
            </a:r>
          </a:p>
          <a:p>
            <a:pPr>
              <a:defRPr sz="1500">
                <a:solidFill>
                  <a:srgbClr val="E2E8F0"/>
                </a:solidFill>
                <a:latin typeface="Inter"/>
              </a:defRPr>
            </a:pPr>
            <a:r>
              <a:t>Përcaktoni saktësisht maksimumi 3 veçori brenda MVP-së dhe çfarë përjashtohet qëllimisht.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Inter"/>
              </a:defRPr>
            </a:pPr>
            <a:r>
              <a:t>EXIT TICKET (2 MINUTA)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Inter"/>
              </a:defRPr>
            </a:pPr>
            <a:r>
              <a:t>Mbyllja e Orës: 3 Pyetje për Çdo Student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E2E8F0"/>
                </a:solidFill>
                <a:latin typeface="Inter"/>
              </a:defRPr>
            </a:pPr>
            <a:r>
              <a:t>Plotësohet në celular ose letër dhe dorëzohet para se të dilni nga salla e ligjëratave.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8328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38BDF8"/>
                </a:solidFill>
                <a:latin typeface="Inter"/>
              </a:defRPr>
            </a:pPr>
            <a:r>
              <a:t>Pyetja 1: Problemi i Vëzhguar</a:t>
            </a:r>
          </a:p>
          <a:p>
            <a:pPr>
              <a:spcAft>
                <a:spcPts val="1600"/>
              </a:spcAft>
              <a:defRPr sz="1600">
                <a:solidFill>
                  <a:srgbClr val="FFFFFF"/>
                </a:solidFill>
                <a:latin typeface="Inter"/>
              </a:defRPr>
            </a:pPr>
            <a:r>
              <a:t>Në 1 fjali: Cili është një problem i përditshëm në jetën studentore apo në një biznes që mund të zgjidhet me një Mobile PWA?</a:t>
            </a:r>
          </a:p>
          <a:p>
            <a:pPr>
              <a:defRPr sz="1200">
                <a:solidFill>
                  <a:srgbClr val="B4C3D7"/>
                </a:solidFill>
                <a:latin typeface="Inter"/>
              </a:defRPr>
            </a:pPr>
            <a:r>
              <a:t>Dorëzohet te profesori para daljes ose përmes formularit në arbenl.github.io.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0312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10B981"/>
                </a:solidFill>
                <a:latin typeface="Inter"/>
              </a:defRPr>
            </a:pPr>
            <a:r>
              <a:t>Pyetja 2: Përdoruesi me Dhimbje</a:t>
            </a:r>
          </a:p>
          <a:p>
            <a:pPr>
              <a:spcAft>
                <a:spcPts val="1600"/>
              </a:spcAft>
              <a:defRPr sz="1600">
                <a:solidFill>
                  <a:srgbClr val="FFFFFF"/>
                </a:solidFill>
                <a:latin typeface="Inter"/>
              </a:defRPr>
            </a:pPr>
            <a:r>
              <a:t>Kush e vuan më shumë këtë problem sot dhe çfarë kostoje paguan në kohë, para ose stres pa aplikacionin tuaj?</a:t>
            </a:r>
          </a:p>
          <a:p>
            <a:pPr>
              <a:defRPr sz="1200">
                <a:solidFill>
                  <a:srgbClr val="B4C3D7"/>
                </a:solidFill>
                <a:latin typeface="Inter"/>
              </a:defRPr>
            </a:pPr>
            <a:r>
              <a:t>Dorëzohet te profesori para daljes ose përmes formularit në arbenl.github.io.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20240"/>
            <a:ext cx="338328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0312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EF4444"/>
                </a:solidFill>
                <a:latin typeface="Inter"/>
              </a:defRPr>
            </a:pPr>
            <a:r>
              <a:t>Pyetja 3: Kufizimi i MVP-së (Out of Scope)</a:t>
            </a:r>
          </a:p>
          <a:p>
            <a:pPr>
              <a:spcAft>
                <a:spcPts val="1600"/>
              </a:spcAft>
              <a:defRPr sz="1600">
                <a:solidFill>
                  <a:srgbClr val="FFFFFF"/>
                </a:solidFill>
                <a:latin typeface="Inter"/>
              </a:defRPr>
            </a:pPr>
            <a:r>
              <a:t>Përmendni NJË veçori që keni dëshirë ta ketë aplikacioni, por që ZOTOHENI ta përjashtoni nga MVP-ja për të mos dështuar me kohën!</a:t>
            </a:r>
          </a:p>
          <a:p>
            <a:pPr>
              <a:defRPr sz="1200">
                <a:solidFill>
                  <a:srgbClr val="B4C3D7"/>
                </a:solidFill>
                <a:latin typeface="Inter"/>
              </a:defRPr>
            </a:pPr>
            <a:r>
              <a:t>Dorëzohet te profesori para daljes ose përmes formularit në arbenl.github.io.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