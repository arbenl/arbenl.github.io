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548640"/>
            <a:ext cx="3291840" cy="914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ab_logo_trimm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658368"/>
            <a:ext cx="3017520" cy="6949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1737360"/>
            <a:ext cx="7132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 b="1">
                <a:solidFill>
                  <a:srgbClr val="38BDF8"/>
                </a:solidFill>
                <a:latin typeface="Inter"/>
              </a:defRPr>
            </a:pPr>
            <a:r>
              <a:t>KOLEGJI AAB • SHKENCA KOMPJUTERIKE • 2026/2027</a:t>
            </a:r>
          </a:p>
          <a:p>
            <a:pPr>
              <a:spcAft>
                <a:spcPts val="1400"/>
              </a:spcAft>
              <a:defRPr sz="4600" b="1">
                <a:solidFill>
                  <a:srgbClr val="FFFFFF"/>
                </a:solidFill>
                <a:latin typeface="Inter"/>
              </a:defRPr>
            </a:pPr>
            <a:r>
              <a:t>Programimi për</a:t>
            </a:r>
            <a:br/>
            <a:r>
              <a:t>Pajisje Mobile</a:t>
            </a:r>
          </a:p>
          <a:p>
            <a:pPr>
              <a:spcAft>
                <a:spcPts val="2400"/>
              </a:spcAft>
              <a:defRPr sz="2200" b="1">
                <a:solidFill>
                  <a:srgbClr val="10B981"/>
                </a:solidFill>
                <a:latin typeface="Inter"/>
              </a:defRPr>
            </a:pPr>
            <a:r>
              <a:t>The Founder's Expedition: Nga Ideja te Specifikat &amp; Mobile PWA me AI</a:t>
            </a:r>
          </a:p>
          <a:p>
            <a:pPr>
              <a:defRPr sz="2000">
                <a:solidFill>
                  <a:srgbClr val="E2E8F0"/>
                </a:solidFill>
                <a:latin typeface="Inter"/>
              </a:defRPr>
            </a:pPr>
            <a:r>
              <a:t>Prof. Asoc. PhD. C. Arben Lila</a:t>
            </a:r>
            <a:br/>
            <a:r>
              <a:t>Semestri V • 6 ECTS • 2h Ligjëratë + 2h Ushtrime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38160" y="1097280"/>
            <a:ext cx="3291840" cy="502920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qr_master_port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1463040"/>
            <a:ext cx="2560320" cy="2560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321040" y="4206240"/>
            <a:ext cx="2926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38BDF8"/>
                </a:solidFill>
                <a:latin typeface="Inter"/>
              </a:defRPr>
            </a:pPr>
            <a:r>
              <a:t>SKANO ME CELULAR</a:t>
            </a:r>
          </a:p>
          <a:p>
            <a:pPr algn="ctr">
              <a:defRPr sz="1800">
                <a:solidFill>
                  <a:srgbClr val="FFFFFF"/>
                </a:solidFill>
                <a:latin typeface="Inter"/>
              </a:defRPr>
            </a:pPr>
            <a:r>
              <a:t>Portali Zyrtar i Kursit:</a:t>
            </a:r>
            <a:br/>
            <a:r>
              <a:t>arbenl.github.io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Inter"/>
              </a:defRPr>
            </a:pPr>
            <a:r>
              <a:t>UDHËRRËFYESI MASTER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Inter"/>
              </a:defRPr>
            </a:pPr>
            <a:r>
              <a:t>Skica e Madhe: Nga Ideja te Specifikat &amp; Arkitektura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E2E8F0"/>
                </a:solidFill>
                <a:latin typeface="Inter"/>
              </a:defRPr>
            </a:pPr>
            <a:r>
              <a:t>Metodologjia Inxhinierike: 1. Ideja -&gt; 2. Specifikat (Scope) -&gt; 3. Arkitektura ne Vija te Trasha -&gt; 4. Ndërtimi Real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74519"/>
            <a:ext cx="10728655" cy="466344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ab_rideshare_grand_architecture_ske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920240"/>
            <a:ext cx="10637215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Inter"/>
              </a:defRPr>
            </a:pPr>
            <a:r>
              <a:t>HAPI 1: IDEJA &amp; SHKËNDIJA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Inter"/>
              </a:defRPr>
            </a:pPr>
            <a:r>
              <a:t>Si Lind një Ide? Nga Dhimbja e Përditshme te Shkëndija!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E2E8F0"/>
                </a:solidFill>
                <a:latin typeface="Inter"/>
              </a:defRPr>
            </a:pPr>
            <a:r>
              <a:t>Çdo aplikacion i suksesshëm nis me vëzhgimin e një problemi të vërtetë njerëzor.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74519"/>
            <a:ext cx="10728655" cy="466344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lide3_sketch_car_visual_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920240"/>
            <a:ext cx="10637215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Inter"/>
              </a:defRPr>
            </a:pPr>
            <a:r>
              <a:t>HAPI 2: SPECIFIKAT &amp; KËRKESAT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Inter"/>
              </a:defRPr>
            </a:pPr>
            <a:r>
              <a:t>Specifikat e Projektit: Çfarë Bën dhe Çfarë NUK Bën?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E2E8F0"/>
                </a:solidFill>
                <a:latin typeface="Inter"/>
              </a:defRPr>
            </a:pPr>
            <a:r>
              <a:t>Përcaktimi i saktë i kërkesave (Scope) parandalon dështimin e projektit.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74519"/>
            <a:ext cx="10728655" cy="466344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lide4_sketch_wireframe_scope_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920240"/>
            <a:ext cx="10637215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Inter"/>
              </a:defRPr>
            </a:pPr>
            <a:r>
              <a:t>HAPI 3: ARKITEKTURA NË VIJA TË TRASHA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Inter"/>
              </a:defRPr>
            </a:pPr>
            <a:r>
              <a:t>Arkitektura Konceptuale: Skica me Kuti e Shigjeta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E2E8F0"/>
                </a:solidFill>
                <a:latin typeface="Inter"/>
              </a:defRPr>
            </a:pPr>
            <a:r>
              <a:t>Si komunikojnë pjesët e sistemit para se të shkruhet rreshti i parë i kodit.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74519"/>
            <a:ext cx="10728655" cy="466344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lide5_sketch_architecture_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920240"/>
            <a:ext cx="10637215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Inter"/>
              </a:defRPr>
            </a:pPr>
            <a:r>
              <a:t>HAPI 4: VIJUESHMËRIA E NDËRTIMIT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Inter"/>
              </a:defRPr>
            </a:pPr>
            <a:r>
              <a:t>Rruga e Ndërtimit: Nga Skica te Produkti Hap-pas-Hapi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E2E8F0"/>
                </a:solidFill>
                <a:latin typeface="Inter"/>
              </a:defRPr>
            </a:pPr>
            <a:r>
              <a:t>Jo menjëherë produkti i gatshëm — ja si evoluon projekti nga java në javë.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74519"/>
            <a:ext cx="10728655" cy="466344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lide6_sketch_roadmap_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920240"/>
            <a:ext cx="10637215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Inter"/>
              </a:defRPr>
            </a:pPr>
            <a:r>
              <a:t>TERMAT E BIZNESIT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Inter"/>
              </a:defRPr>
            </a:pPr>
            <a:r>
              <a:t>Nga Dhimbja te Vlera: Pse Ka Sukses kjo Ide?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E2E8F0"/>
                </a:solidFill>
                <a:latin typeface="Inter"/>
              </a:defRPr>
            </a:pPr>
            <a:r>
              <a:t>Lidhja mes problemit të përditshëm të studentëve dhe zgjidhjes softuerike.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338328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EF4444"/>
                </a:solidFill>
                <a:latin typeface="Inter"/>
              </a:defRPr>
            </a:pPr>
            <a:r>
              <a:t>🛑 Pika e Dhimbjes (Pain Point)</a:t>
            </a:r>
          </a:p>
          <a:p>
            <a:pPr>
              <a:spcAft>
                <a:spcPts val="1200"/>
              </a:spcAft>
              <a:defRPr sz="2000" b="1">
                <a:solidFill>
                  <a:srgbClr val="FFFFFF"/>
                </a:solidFill>
                <a:latin typeface="Inter"/>
              </a:defRPr>
            </a:pPr>
            <a:r>
              <a:t>Kosto e Lartë &amp; Humbje Kohe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Shoferi paguan 100% të naftës i vetëm (10€-15€ në ditë).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Studentët pa makinë presin autobusin në shi dhe në të ftohtë.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Udhëtimi me autobus merr shpesh 1 orë e gjysmë në trafik.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Vonesa të shpeshta në ligjëratën e orës 09:00 në fakultet.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011680"/>
            <a:ext cx="338328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219456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38BDF8"/>
                </a:solidFill>
                <a:latin typeface="Inter"/>
              </a:defRPr>
            </a:pPr>
            <a:r>
              <a:t>💡 Propozimi i Vlerës (Value Prop)</a:t>
            </a:r>
          </a:p>
          <a:p>
            <a:pPr>
              <a:spcAft>
                <a:spcPts val="1200"/>
              </a:spcAft>
              <a:defRPr sz="2000" b="1">
                <a:solidFill>
                  <a:srgbClr val="FFFFFF"/>
                </a:solidFill>
                <a:latin typeface="Inter"/>
              </a:defRPr>
            </a:pPr>
            <a:r>
              <a:t>Udhëtim i Shpejtë, i Lirë &amp; Social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Studenti arrin në AAB 45 minuta më shpejt se me autobus.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Kosto e ndarë dhe minimale: vetëm 1.00€ — 1.50€ për rrugë.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Përvojë sociale: shoqërohesh me kolegë të fakultetit gjatë rrugës.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Zero fërkim: PWA hapet me link pa shkarkuar 150MB nga App Store.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2011680"/>
            <a:ext cx="338328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219456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10B981"/>
                </a:solidFill>
                <a:latin typeface="Inter"/>
              </a:defRPr>
            </a:pPr>
            <a:r>
              <a:t>💰 Modeli i Besimit (Economics &amp; Trust)</a:t>
            </a:r>
          </a:p>
          <a:p>
            <a:pPr>
              <a:spcAft>
                <a:spcPts val="1200"/>
              </a:spcAft>
              <a:defRPr sz="2000" b="1">
                <a:solidFill>
                  <a:srgbClr val="FFFFFF"/>
                </a:solidFill>
                <a:latin typeface="Inter"/>
              </a:defRPr>
            </a:pPr>
            <a:r>
              <a:t>Komunitet i Besueshëm me Email AAB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Kyçje e sigurt: lejohen vetëm studentët me email zyrtar AAB.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Zero komisione: kursimi shkon 100% për xhepin e studentëve.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Zvogëlim i trafikut në hyrje të Prishtinës dhe më pak ndotje.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Infrastruktura softuerike: 0€ kosto me Supabase &amp; Vercel Free Tier!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Inter"/>
              </a:defRPr>
            </a:pPr>
            <a:r>
              <a:t>REVOLUCIONI I VEGLAVE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Inter"/>
              </a:defRPr>
            </a:pPr>
            <a:r>
              <a:t>Fuqia e Veglave në Vitin 2026: Pse Sot Është e Mundur?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E2E8F0"/>
                </a:solidFill>
                <a:latin typeface="Inter"/>
              </a:defRPr>
            </a:pPr>
            <a:r>
              <a:t>Pse ajo që dje kërkonte muaj dhe ekipe të tëra, sot ndërtohet nga një student i vetëm.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512064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8600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500" b="1">
                <a:solidFill>
                  <a:srgbClr val="EF4444"/>
                </a:solidFill>
                <a:latin typeface="Inter"/>
              </a:defRPr>
            </a:pPr>
            <a:r>
              <a:t>⏳ Dje: Pengesat e Zhvillimit</a:t>
            </a:r>
          </a:p>
          <a:p>
            <a:pPr>
              <a:spcAft>
                <a:spcPts val="1000"/>
              </a:spcAft>
              <a:defRPr sz="1900">
                <a:solidFill>
                  <a:srgbClr val="E2E8F0"/>
                </a:solidFill>
                <a:latin typeface="Inter"/>
              </a:defRPr>
            </a:pPr>
            <a:r>
              <a:t>• Kërkoheshin 6–12 muaj zhvillim për një prototip të thjeshtë.</a:t>
            </a:r>
          </a:p>
          <a:p>
            <a:pPr>
              <a:spcAft>
                <a:spcPts val="1000"/>
              </a:spcAft>
              <a:defRPr sz="1900">
                <a:solidFill>
                  <a:srgbClr val="E2E8F0"/>
                </a:solidFill>
                <a:latin typeface="Inter"/>
              </a:defRPr>
            </a:pPr>
            <a:r>
              <a:t>• Buxhet prej dhjetëra mijëra eurosh me agjenci të jashtme.</a:t>
            </a:r>
          </a:p>
          <a:p>
            <a:pPr>
              <a:spcAft>
                <a:spcPts val="1000"/>
              </a:spcAft>
              <a:defRPr sz="1900">
                <a:solidFill>
                  <a:srgbClr val="E2E8F0"/>
                </a:solidFill>
                <a:latin typeface="Inter"/>
              </a:defRPr>
            </a:pPr>
            <a:r>
              <a:t>• Ekipe të mëdha: zhvillues iOS, Android dhe backend të ndarë.</a:t>
            </a:r>
          </a:p>
          <a:p>
            <a:pPr>
              <a:spcAft>
                <a:spcPts val="1000"/>
              </a:spcAft>
              <a:defRPr sz="1900">
                <a:solidFill>
                  <a:srgbClr val="E2E8F0"/>
                </a:solidFill>
                <a:latin typeface="Inter"/>
              </a:defRPr>
            </a:pPr>
            <a:r>
              <a:t>• Serverë të shtrenjtë dhe mirëmbajtje komplekse.</a:t>
            </a:r>
          </a:p>
          <a:p>
            <a:pPr>
              <a:spcAft>
                <a:spcPts val="1000"/>
              </a:spcAft>
              <a:defRPr sz="1900">
                <a:solidFill>
                  <a:srgbClr val="E2E8F0"/>
                </a:solidFill>
                <a:latin typeface="Inter"/>
              </a:defRPr>
            </a:pPr>
            <a:r>
              <a:t>• Rezultati: Shumica e ideve të mira mbeteshin vetëm në letër!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2011680"/>
            <a:ext cx="512064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228600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500" b="1">
                <a:solidFill>
                  <a:srgbClr val="10B981"/>
                </a:solidFill>
                <a:latin typeface="Inter"/>
              </a:defRPr>
            </a:pPr>
            <a:r>
              <a:t>🚀 Sot: Fuqia e Inxhinierit të Ri</a:t>
            </a:r>
          </a:p>
          <a:p>
            <a:pPr>
              <a:spcAft>
                <a:spcPts val="1000"/>
              </a:spcAft>
              <a:defRPr sz="1900">
                <a:solidFill>
                  <a:srgbClr val="E2E8F0"/>
                </a:solidFill>
                <a:latin typeface="Inter"/>
              </a:defRPr>
            </a:pPr>
            <a:r>
              <a:t>• Next.js 15 PWA: Një kod i vetëm për çdo celular (iOS &amp; Android).</a:t>
            </a:r>
          </a:p>
          <a:p>
            <a:pPr>
              <a:spcAft>
                <a:spcPts val="1000"/>
              </a:spcAft>
              <a:defRPr sz="1900">
                <a:solidFill>
                  <a:srgbClr val="E2E8F0"/>
                </a:solidFill>
                <a:latin typeface="Inter"/>
              </a:defRPr>
            </a:pPr>
            <a:r>
              <a:t>• GitHub Copilot: Partner programues që shkruan kodin 3x më shpejt.</a:t>
            </a:r>
          </a:p>
          <a:p>
            <a:pPr>
              <a:spcAft>
                <a:spcPts val="1000"/>
              </a:spcAft>
              <a:defRPr sz="1900">
                <a:solidFill>
                  <a:srgbClr val="E2E8F0"/>
                </a:solidFill>
                <a:latin typeface="Inter"/>
              </a:defRPr>
            </a:pPr>
            <a:r>
              <a:t>• Supabase Cloud: Baza e të dhënave dhe Auth me email AAB falas.</a:t>
            </a:r>
          </a:p>
          <a:p>
            <a:pPr>
              <a:spcAft>
                <a:spcPts val="1000"/>
              </a:spcAft>
              <a:defRPr sz="1900">
                <a:solidFill>
                  <a:srgbClr val="E2E8F0"/>
                </a:solidFill>
                <a:latin typeface="Inter"/>
              </a:defRPr>
            </a:pPr>
            <a:r>
              <a:t>• Vercel Deployment: Publikim global në internet me një 'git push'.</a:t>
            </a:r>
          </a:p>
          <a:p>
            <a:pPr>
              <a:spcAft>
                <a:spcPts val="1000"/>
              </a:spcAft>
              <a:defRPr sz="1900">
                <a:solidFill>
                  <a:srgbClr val="E2E8F0"/>
                </a:solidFill>
                <a:latin typeface="Inter"/>
              </a:defRPr>
            </a:pPr>
            <a:r>
              <a:t>• Rezultati: Ju e ktheni skicën në produkt funksional brenda semestrit!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Inter"/>
              </a:defRPr>
            </a:pPr>
            <a:r>
              <a:t>TEKNOLOGJIA KRYESORE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Inter"/>
              </a:defRPr>
            </a:pPr>
            <a:r>
              <a:t>Pse Progressive Web Apps (PWA)?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E2E8F0"/>
                </a:solidFill>
                <a:latin typeface="Inter"/>
              </a:defRPr>
            </a:pPr>
            <a:r>
              <a:t>Kombinimi më i fuqishëm i uebit dhe aplikacioneve celulare pa kufizime.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338328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300" b="1">
                <a:solidFill>
                  <a:srgbClr val="FFFFFF"/>
                </a:solidFill>
                <a:latin typeface="Inter"/>
              </a:defRPr>
            </a:pPr>
            <a:r>
              <a:t>⚡ Pa Instalime nga App Store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Studenti hap vetëm linkun në shfletues.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Shtohet në Home Screen me një prekje brenda 2 sekondave.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Zë më pak se 2MB memorie në telefon (krahasuar me 150MB të app-eve native).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011680"/>
            <a:ext cx="338328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219456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300" b="1">
                <a:solidFill>
                  <a:srgbClr val="FFFFFF"/>
                </a:solidFill>
                <a:latin typeface="Inter"/>
              </a:defRPr>
            </a:pPr>
            <a:r>
              <a:t>📶 Funksionon Edhe me Rrjet të Dobët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Rruga mes qyteteve shpesh ka zona me mbulim të dobët interneti.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Service Worker ruan të dhënat e fundit lokalisht në telefon.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Sinkronizohet automatikisht sapo rifitohet lidhja 4G/5G.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2011680"/>
            <a:ext cx="338328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219456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300" b="1">
                <a:solidFill>
                  <a:srgbClr val="FFFFFF"/>
                </a:solidFill>
                <a:latin typeface="Inter"/>
              </a:defRPr>
            </a:pPr>
            <a:r>
              <a:t>📱 Qasje në Karakteristikat Celulare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Njoftime Push sapo shoferi të konfirmojë rezervimin tuaj.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Gjeolokacion për të parë distancën deri te pika e takimit.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Telefonatë ose mesazh direkt me 1-prekje nga ekrani.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Inter"/>
              </a:defRPr>
            </a:pPr>
            <a:r>
              <a:t>KRAHASIMI TEKNIK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Inter"/>
              </a:defRPr>
            </a:pPr>
            <a:r>
              <a:t>PWA vs Zhvillimi Tradicional Native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E2E8F0"/>
                </a:solidFill>
                <a:latin typeface="Inter"/>
              </a:defRPr>
            </a:pPr>
            <a:r>
              <a:t>Pse teknologjia PWA është zgjedhja ideale për tregun e Kosovës dhe projektet studentore.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10698480" cy="4389120"/>
          </a:xfrm>
          <a:prstGeom prst="roundRect">
            <a:avLst/>
          </a:prstGeom>
          <a:solidFill>
            <a:srgbClr val="141E34"/>
          </a:solidFill>
          <a:ln w="25400">
            <a:solidFill>
              <a:srgbClr val="2E4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4884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38BDF8"/>
                </a:solidFill>
                <a:latin typeface="Monaco"/>
              </a:defRPr>
            </a:pPr>
            <a:r>
              <a:t>Kriteri Teknik             | Zhvillimi Tradicional (Native)                   | Next.js 15 PWA (Qasja Jonë)</a:t>
            </a:r>
          </a:p>
          <a:p>
            <a:pPr>
              <a:spcAft>
                <a:spcPts val="800"/>
              </a:spcAft>
              <a:defRPr sz="1500" b="0">
                <a:solidFill>
                  <a:srgbClr val="FFFFFF"/>
                </a:solidFill>
                <a:latin typeface="Monaco"/>
              </a:defRPr>
            </a:pPr>
            <a:r>
              <a:t>Gjuhët e Programimit       | Swift (iOS) + Kotlin (Android) — Dy kode të ndryshme | TypeScript + React — Një kod i vetëm për të gjitha</a:t>
            </a:r>
          </a:p>
          <a:p>
            <a:pPr>
              <a:spcAft>
                <a:spcPts val="800"/>
              </a:spcAft>
              <a:defRPr sz="1500" b="0">
                <a:solidFill>
                  <a:srgbClr val="E2E8F0"/>
                </a:solidFill>
                <a:latin typeface="Monaco"/>
              </a:defRPr>
            </a:pPr>
            <a:r>
              <a:t>Kosto e Shpërndarjes       | 99$/vit për Apple + 25$ Google Play              | 0€ — Publikim i menjëhershëm me Vercel / GitHub</a:t>
            </a:r>
          </a:p>
          <a:p>
            <a:pPr>
              <a:spcAft>
                <a:spcPts val="800"/>
              </a:spcAft>
              <a:defRPr sz="1500" b="0">
                <a:solidFill>
                  <a:srgbClr val="FFFFFF"/>
                </a:solidFill>
                <a:latin typeface="Monaco"/>
              </a:defRPr>
            </a:pPr>
            <a:r>
              <a:t>Aprovimi i Aplikacionit    | Pritje 3–7 ditë nga Apple për çdo përditësim kodi | I menjëhershëm (Instant) me çdo git push</a:t>
            </a:r>
          </a:p>
          <a:p>
            <a:pPr>
              <a:spcAft>
                <a:spcPts val="800"/>
              </a:spcAft>
              <a:defRPr sz="1500" b="0">
                <a:solidFill>
                  <a:srgbClr val="E2E8F0"/>
                </a:solidFill>
                <a:latin typeface="Monaco"/>
              </a:defRPr>
            </a:pPr>
            <a:r>
              <a:t>Madhësia e Aplikacionit    | 100MB — 250MB (Pengesë për shkarkim nga studenti) | &lt; 2MB (Hapet me 1 klikim pa zënë memorien)</a:t>
            </a:r>
          </a:p>
          <a:p>
            <a:pPr>
              <a:spcAft>
                <a:spcPts val="800"/>
              </a:spcAft>
              <a:defRPr sz="1500" b="0">
                <a:solidFill>
                  <a:srgbClr val="FFFFFF"/>
                </a:solidFill>
                <a:latin typeface="Monaco"/>
              </a:defRPr>
            </a:pPr>
            <a:r>
              <a:t>Funksionimi Offline        | I mundur por kërkon arkitekturë të rëndë lokale  | I integruar me Cache API &amp; Service Workers</a:t>
            </a:r>
          </a:p>
          <a:p>
            <a:pPr>
              <a:spcAft>
                <a:spcPts val="800"/>
              </a:spcAft>
              <a:defRPr sz="1500" b="0">
                <a:solidFill>
                  <a:srgbClr val="E2E8F0"/>
                </a:solidFill>
                <a:latin typeface="Monaco"/>
              </a:defRPr>
            </a:pPr>
            <a:r>
              <a:t>E Përshtatshme për Ne      | E papërballueshme për shumicën e ideve fillestare | Zgjidhja ideale me kosto zero dhe efikasitet maksimal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Inter"/>
              </a:defRPr>
            </a:pPr>
            <a:r>
              <a:t>EKOSISTEMI I ZHVILLIMIT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Inter"/>
              </a:defRPr>
            </a:pPr>
            <a:r>
              <a:t>Staku Teknologjik: Mjetet Profesionale të Kursit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E2E8F0"/>
                </a:solidFill>
                <a:latin typeface="Inter"/>
              </a:defRPr>
            </a:pPr>
            <a:r>
              <a:t>Katër shtyllat teknologjike që do të zotëroni gjatë 15 javëve të semestrit.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251460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94560"/>
            <a:ext cx="2240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Inter"/>
              </a:defRPr>
            </a:pPr>
            <a:r>
              <a:t>⚡ Next.js 15</a:t>
            </a:r>
          </a:p>
          <a:p>
            <a:pPr>
              <a:spcAft>
                <a:spcPts val="1400"/>
              </a:spcAft>
              <a:defRPr sz="1400">
                <a:solidFill>
                  <a:srgbClr val="6366F1"/>
                </a:solidFill>
                <a:latin typeface="Inter"/>
              </a:defRPr>
            </a:pPr>
            <a:r>
              <a:t>Frontend &amp; Fullstack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React 19 &amp; App Router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Server Components për shpejtësi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PWA Manifest &amp; Service Workers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Dizajn Touch-First me Tailwind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65576" y="2011680"/>
            <a:ext cx="251460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02736" y="2194560"/>
            <a:ext cx="2240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Inter"/>
              </a:defRPr>
            </a:pPr>
            <a:r>
              <a:t>🗄️ Supabase</a:t>
            </a:r>
          </a:p>
          <a:p>
            <a:pPr>
              <a:spcAft>
                <a:spcPts val="1400"/>
              </a:spcAft>
              <a:defRPr sz="1400">
                <a:solidFill>
                  <a:srgbClr val="10B981"/>
                </a:solidFill>
                <a:latin typeface="Inter"/>
              </a:defRPr>
            </a:pPr>
            <a:r>
              <a:t>Baza e të Dhënave &amp; Auth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PostgreSQL me performancë të lartë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Row-Level Security (RLS) për siguri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Auth i dedikuar me email @universitetiaab.com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Realtime Subscriptions për vendet e lira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9632" y="2011680"/>
            <a:ext cx="251460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36792" y="2194560"/>
            <a:ext cx="2240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Inter"/>
              </a:defRPr>
            </a:pPr>
            <a:r>
              <a:t>🤖 GitHub Copilot</a:t>
            </a:r>
          </a:p>
          <a:p>
            <a:pPr>
              <a:spcAft>
                <a:spcPts val="1400"/>
              </a:spcAft>
              <a:defRPr sz="1400">
                <a:solidFill>
                  <a:srgbClr val="38BDF8"/>
                </a:solidFill>
                <a:latin typeface="Inter"/>
              </a:defRPr>
            </a:pPr>
            <a:r>
              <a:t>AI Pair Programmer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Asistencë inteligjente në çdo rresht kodi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Gjenerim i shpejtë i skemave SQL dhe testeve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Përshpejton zhvillimin 3x më shpejt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Mjet profesional i standardeve globale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33688" y="2011680"/>
            <a:ext cx="251460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70848" y="2194560"/>
            <a:ext cx="2240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Inter"/>
              </a:defRPr>
            </a:pPr>
            <a:r>
              <a:t>▲ Vercel Cloud</a:t>
            </a:r>
          </a:p>
          <a:p>
            <a:pPr>
              <a:spcAft>
                <a:spcPts val="1400"/>
              </a:spcAft>
              <a:defRPr sz="1400">
                <a:solidFill>
                  <a:srgbClr val="F59E0B"/>
                </a:solidFill>
                <a:latin typeface="Inter"/>
              </a:defRPr>
            </a:pPr>
            <a:r>
              <a:t>Publikimi &amp; CI/CD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Vendosje globale në Edge Network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Publikim automatik në çdo git push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Certifikatë SSL (HTTPS) falas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Shpejtësi maksimale në çdo celular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Inter"/>
              </a:defRPr>
            </a:pPr>
            <a:r>
              <a:t>INTELIGJENCA ARTIFICIALE NË KODIM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Inter"/>
              </a:defRPr>
            </a:pPr>
            <a:r>
              <a:t>GitHub Copilot: Bashkë-Piloti Juaj, Jo Zëvendësuesi!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E2E8F0"/>
                </a:solidFill>
                <a:latin typeface="Inter"/>
              </a:defRPr>
            </a:pPr>
            <a:r>
              <a:t>Përdorni AI si përshpejtues profesional — por kodi dhe vendimet mbeten tuajat.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512064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8600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500" b="1">
                <a:solidFill>
                  <a:srgbClr val="38BDF8"/>
                </a:solidFill>
                <a:latin typeface="Inter"/>
              </a:defRPr>
            </a:pPr>
            <a:r>
              <a:t>✅ Si Ta Përdorni me Sukses?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Gjenerim Komponentësh: Përshkruani kartelën e udhëtimit në koment dhe lini Copilot të gjenerojë kodin Tailwind.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Skema dhe Query SQL: Ndihmon në shkrimin e query-ve për filtrimin e vendeve të lira sipas orës.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Zgjidhje të Shpejta: Shpjegon gabimet në konzollë dhe propozon zgjidhje të menjëhershme.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Testim i Automatizuar: Gjeneron teste njësi dhe teste integrimi me Playwright.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2011680"/>
            <a:ext cx="512064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228600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500" b="1">
                <a:solidFill>
                  <a:srgbClr val="F59E0B"/>
                </a:solidFill>
                <a:latin typeface="Inter"/>
              </a:defRPr>
            </a:pPr>
            <a:r>
              <a:t>⚠️ Rregulli i Artë në Demo Day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Ju Mbani Përgjegjësi: Nëse Copilot shkruan një rresht kodi, ju duhet të dini ta shpjegoni çdo simbol të tij.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Pyetje Teknike Individuale: Gjatë mbrojtjes, pyetjet do të fokusohen te arkitektura: 'Pse ky hook?', 'Si funksionon RLS?'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Kodi pa Kuptim Zbret Pikë: Kodi i kopjuar verbërisht pa u kuptuar rezulton në penalizim të menjëhershëm.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Ju Jeni Inxhinieri: Copilot është thjesht një asistent i avancuar. Inxhinieri i vërtetë jeni JU!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Inter"/>
              </a:defRPr>
            </a:pPr>
            <a:r>
              <a:t>TRANSPARENCA &amp; VLERËSIMI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Inter"/>
              </a:defRPr>
            </a:pPr>
            <a:r>
              <a:t>Formula e Notimit: 10% / 30% / 40% / 20%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E2E8F0"/>
                </a:solidFill>
                <a:latin typeface="Inter"/>
              </a:defRPr>
            </a:pPr>
            <a:r>
              <a:t>Llogaridhënie e qartë — diferencojmë vijueshmërinë aktive nga ata që kërkojnë vetëm një notë.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251460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94560"/>
            <a:ext cx="2240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000" b="1">
                <a:solidFill>
                  <a:srgbClr val="10B981"/>
                </a:solidFill>
                <a:latin typeface="Inter"/>
              </a:defRPr>
            </a:pPr>
            <a:r>
              <a:t>10%</a:t>
            </a:r>
          </a:p>
          <a:p>
            <a:pPr>
              <a:spcAft>
                <a:spcPts val="1200"/>
              </a:spcAft>
              <a:defRPr sz="2100" b="1">
                <a:solidFill>
                  <a:srgbClr val="FFFFFF"/>
                </a:solidFill>
                <a:latin typeface="Inter"/>
              </a:defRPr>
            </a:pPr>
            <a:r>
              <a:t>📡 Vijueshmëria &amp; QR</a:t>
            </a:r>
          </a:p>
          <a:p>
            <a:pPr>
              <a:spcAft>
                <a:spcPts val="8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Check-In me QR në çdo ligjëratë/lab</a:t>
            </a:r>
          </a:p>
          <a:p>
            <a:pPr>
              <a:spcAft>
                <a:spcPts val="8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Diferencon vijuesit nga pasivët</a:t>
            </a:r>
          </a:p>
          <a:p>
            <a:pPr>
              <a:spcAft>
                <a:spcPts val="8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Pragu 70% minimal: Eliminues!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65576" y="2011680"/>
            <a:ext cx="251460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02736" y="2194560"/>
            <a:ext cx="2240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000" b="1">
                <a:solidFill>
                  <a:srgbClr val="6366F1"/>
                </a:solidFill>
                <a:latin typeface="Inter"/>
              </a:defRPr>
            </a:pPr>
            <a:r>
              <a:t>30%</a:t>
            </a:r>
          </a:p>
          <a:p>
            <a:pPr>
              <a:spcAft>
                <a:spcPts val="1200"/>
              </a:spcAft>
              <a:defRPr sz="2100" b="1">
                <a:solidFill>
                  <a:srgbClr val="FFFFFF"/>
                </a:solidFill>
                <a:latin typeface="Inter"/>
              </a:defRPr>
            </a:pPr>
            <a:r>
              <a:t>⚡ GitHub Autograding</a:t>
            </a:r>
          </a:p>
          <a:p>
            <a:pPr>
              <a:spcAft>
                <a:spcPts val="8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10 detyra praktike me kod javor</a:t>
            </a:r>
          </a:p>
          <a:p>
            <a:pPr>
              <a:spcAft>
                <a:spcPts val="8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Vlerësim automatik me GitHub Actions</a:t>
            </a:r>
          </a:p>
          <a:p>
            <a:pPr>
              <a:spcAft>
                <a:spcPts val="8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Feedback i menjëhershëm në git push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9632" y="2011680"/>
            <a:ext cx="251460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36792" y="2194560"/>
            <a:ext cx="2240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000" b="1">
                <a:solidFill>
                  <a:srgbClr val="F59E0B"/>
                </a:solidFill>
                <a:latin typeface="Inter"/>
              </a:defRPr>
            </a:pPr>
            <a:r>
              <a:t>40%</a:t>
            </a:r>
          </a:p>
          <a:p>
            <a:pPr>
              <a:spcAft>
                <a:spcPts val="1200"/>
              </a:spcAft>
              <a:defRPr sz="2100" b="1">
                <a:solidFill>
                  <a:srgbClr val="FFFFFF"/>
                </a:solidFill>
                <a:latin typeface="Inter"/>
              </a:defRPr>
            </a:pPr>
            <a:r>
              <a:t>📱 Projekti PWA</a:t>
            </a:r>
          </a:p>
          <a:p>
            <a:pPr>
              <a:spcAft>
                <a:spcPts val="8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PWA mobile për një rast real (si RideShare)</a:t>
            </a:r>
          </a:p>
          <a:p>
            <a:pPr>
              <a:spcAft>
                <a:spcPts val="8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Supabase DB + Auth + RLS e plotë</a:t>
            </a:r>
          </a:p>
          <a:p>
            <a:pPr>
              <a:spcAft>
                <a:spcPts val="8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Optimizim Touch-First &amp; Offline Mode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33688" y="2011680"/>
            <a:ext cx="251460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70848" y="2194560"/>
            <a:ext cx="2240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000" b="1">
                <a:solidFill>
                  <a:srgbClr val="38BDF8"/>
                </a:solidFill>
                <a:latin typeface="Inter"/>
              </a:defRPr>
            </a:pPr>
            <a:r>
              <a:t>20%</a:t>
            </a:r>
          </a:p>
          <a:p>
            <a:pPr>
              <a:spcAft>
                <a:spcPts val="1200"/>
              </a:spcAft>
              <a:defRPr sz="2100" b="1">
                <a:solidFill>
                  <a:srgbClr val="FFFFFF"/>
                </a:solidFill>
                <a:latin typeface="Inter"/>
              </a:defRPr>
            </a:pPr>
            <a:r>
              <a:t>🏆 Demo Day Live</a:t>
            </a:r>
          </a:p>
          <a:p>
            <a:pPr>
              <a:spcAft>
                <a:spcPts val="8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Prezantim 5-minutësh në Javën 15</a:t>
            </a:r>
          </a:p>
          <a:p>
            <a:pPr>
              <a:spcAft>
                <a:spcPts val="8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Demo live nga telefoni në auditor</a:t>
            </a:r>
          </a:p>
          <a:p>
            <a:pPr>
              <a:spcAft>
                <a:spcPts val="8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Mbrojtje teknike e thellë e kodit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Inter"/>
              </a:defRPr>
            </a:pPr>
            <a:r>
              <a:t>EFIKASITET &amp; SHPEJTËSI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Inter"/>
              </a:defRPr>
            </a:pPr>
            <a:r>
              <a:t>Automatizimi i Detyrave Javore: GitHub Autograding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E2E8F0"/>
                </a:solidFill>
                <a:latin typeface="Inter"/>
              </a:defRPr>
            </a:pPr>
            <a:r>
              <a:t>Zero vonesa në korrigjim — çdo 'git push' testohet dhe vlerësohet menjëherë përmes CI/CD.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512064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8600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500" b="1">
                <a:solidFill>
                  <a:srgbClr val="FFFFFF"/>
                </a:solidFill>
                <a:latin typeface="Inter"/>
              </a:defRPr>
            </a:pPr>
            <a:r>
              <a:t>💻 Fluksi i Studentit në Çdo Javë</a:t>
            </a:r>
          </a:p>
          <a:p>
            <a:pPr>
              <a:spcAft>
                <a:spcPts val="1200"/>
              </a:spcAft>
              <a:defRPr sz="1900">
                <a:solidFill>
                  <a:srgbClr val="E2E8F0"/>
                </a:solidFill>
                <a:latin typeface="Inter"/>
              </a:defRPr>
            </a:pPr>
            <a:r>
              <a:t>1. Prano Detyrën: Klikoni ftesën në GitHub Classroom për të hapur depon tuaj private.</a:t>
            </a:r>
          </a:p>
          <a:p>
            <a:pPr>
              <a:spcAft>
                <a:spcPts val="1200"/>
              </a:spcAft>
              <a:defRPr sz="1900">
                <a:solidFill>
                  <a:srgbClr val="E2E8F0"/>
                </a:solidFill>
                <a:latin typeface="Inter"/>
              </a:defRPr>
            </a:pPr>
            <a:r>
              <a:t>2. Kodo me Copilot: Zgjidhni kërkesat e ushtrimit (komponentët, logjikën, lidhjen me DB).</a:t>
            </a:r>
          </a:p>
          <a:p>
            <a:pPr>
              <a:spcAft>
                <a:spcPts val="1200"/>
              </a:spcAft>
              <a:defRPr sz="1900">
                <a:solidFill>
                  <a:srgbClr val="E2E8F0"/>
                </a:solidFill>
                <a:latin typeface="Inter"/>
              </a:defRPr>
            </a:pPr>
            <a:r>
              <a:t>3. Git Push: Ekzekutoni 'git push origin main' drejt depos suaj zyrtare në GitHub.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2011680"/>
            <a:ext cx="512064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228600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500" b="1">
                <a:solidFill>
                  <a:srgbClr val="FFFFFF"/>
                </a:solidFill>
                <a:latin typeface="Inter"/>
              </a:defRPr>
            </a:pPr>
            <a:r>
              <a:t>🤖 Vlerësimi Automat me GitHub Actions</a:t>
            </a:r>
          </a:p>
          <a:p>
            <a:pPr>
              <a:spcAft>
                <a:spcPts val="1200"/>
              </a:spcAft>
              <a:defRPr sz="1900">
                <a:solidFill>
                  <a:srgbClr val="E2E8F0"/>
                </a:solidFill>
                <a:latin typeface="Inter"/>
              </a:defRPr>
            </a:pPr>
            <a:r>
              <a:t>• Teste Automatike: Workflow CI/CD verifikon linter-in, tipet dhe funksionalitetin e kodit.</a:t>
            </a:r>
          </a:p>
          <a:p>
            <a:pPr>
              <a:spcAft>
                <a:spcPts val="1200"/>
              </a:spcAft>
              <a:defRPr sz="1900">
                <a:solidFill>
                  <a:srgbClr val="E2E8F0"/>
                </a:solidFill>
                <a:latin typeface="Inter"/>
              </a:defRPr>
            </a:pPr>
            <a:r>
              <a:t>• Rezultat i Menjëhershëm: Pikët (p.sh. 10/10) shfaqen te badge në README brenda 60 sekondave.</a:t>
            </a:r>
          </a:p>
          <a:p>
            <a:pPr>
              <a:spcAft>
                <a:spcPts val="1200"/>
              </a:spcAft>
              <a:defRPr sz="1900">
                <a:solidFill>
                  <a:srgbClr val="E2E8F0"/>
                </a:solidFill>
                <a:latin typeface="Inter"/>
              </a:defRPr>
            </a:pPr>
            <a:r>
              <a:t>• Zero Pritje / Pa Ngarkesë: Notat sinkronizohen në Gradebook CSV të profesorit pa asnjë gabim njerëzor!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Inter"/>
              </a:defRPr>
            </a:pPr>
            <a:r>
              <a:t>KULMI I SEMESTRIT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Inter"/>
              </a:defRPr>
            </a:pPr>
            <a:r>
              <a:t>Demo Day në Javën 15: Vizioni i Suksesit!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E2E8F0"/>
                </a:solidFill>
                <a:latin typeface="Inter"/>
              </a:defRPr>
            </a:pPr>
            <a:r>
              <a:t>Dita kur telefoni juaj kthehet në dëshminë e arritjes suaj profesionale.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512064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8600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500" b="1">
                <a:solidFill>
                  <a:srgbClr val="FFFFFF"/>
                </a:solidFill>
                <a:latin typeface="Inter"/>
              </a:defRPr>
            </a:pPr>
            <a:r>
              <a:t>🎤 Formati i Prezantimit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5 Minuta Live: Prezantoni aplikacionin direkt nga telefoni juaj celular para sallës.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Problemi Real: Tregoni problemin që keni zgjedhur (p.sh. transporti me AAB RideShare ose biznesi lokal).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Demonstrim i Veçorive: Kryeni një rezervim live, tregoni modin offline dhe RLS në Supabase.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Mbrojtja Teknike: Përgjigjuni 2 pyetjeve të shkurtra teknike mbi arkitekturën e kodit tuaj.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2011680"/>
            <a:ext cx="512064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228600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500" b="1">
                <a:solidFill>
                  <a:srgbClr val="10B981"/>
                </a:solidFill>
                <a:latin typeface="Inter"/>
              </a:defRPr>
            </a:pPr>
            <a:r>
              <a:t>🌟 Çfarë Fitoni në Përfundim?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Portofol Real në GitHub: Një projekt i plotë production-ready që e vendosni menjëherë në CV dhe LinkedIn.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Zgjidhje për Komunitetin: Një vegël digjitale që zgjidh një problem të prekshëm për kolegët ose bizneset tona.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Gati për Tregun e Punës: Përvojë praktike me teknologjitë më të kërkuara në kompanitë moderne globale.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Notë e Merituar (10): Kushdo që dorëzon projektin dhe e mbron me pasion kualifikohet për vlerësim maksimal!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Inter"/>
              </a:defRPr>
            </a:pPr>
            <a:r>
              <a:t>EVIDENCA ZYRTARE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Inter"/>
              </a:defRPr>
            </a:pPr>
            <a:r>
              <a:t>Regjistrimi i Pranisë: Check-In Live në Portal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E2E8F0"/>
                </a:solidFill>
                <a:latin typeface="Inter"/>
              </a:defRPr>
            </a:pPr>
            <a:r>
              <a:t>Skanoni kodin QR me telefonin tuaj për të regjistruar pjesëmarrjen brenda 2 minutave.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411480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qr_master_check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286000"/>
            <a:ext cx="3200400" cy="3200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14400" y="5577840"/>
            <a:ext cx="374903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0B981"/>
                </a:solidFill>
                <a:latin typeface="Inter"/>
              </a:defRPr>
            </a:pPr>
            <a:r>
              <a:t>SKANO PËR CHECK-IN LIVE</a:t>
            </a:r>
            <a:br/>
            <a:r>
              <a:t>arbenl.github.io/#checkin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20640" y="2011680"/>
            <a:ext cx="630936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94960" y="2194560"/>
            <a:ext cx="57607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500" b="1">
                <a:solidFill>
                  <a:srgbClr val="FFFFFF"/>
                </a:solidFill>
                <a:latin typeface="Inter"/>
              </a:defRPr>
            </a:pPr>
            <a:r>
              <a:t>⏱️ Rregullat e Check-In (2 Minuta)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Kodi PIN i Orës: Shfaqet në projektor nga profesori: PIN = 8492. Pa këtë kod nuk mund të regjistroheni.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Koha e Kufizuar: Forma e pranimit mbyllet ekzaktësisht 2 minuta pas shfaqjes në ekran për të parandaluar regjistrimet nga jashtë.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Të Dhënat Zyrtare: Plotësoni ID-në e studentit, emrin e plotë dhe emailin tuaj zyrtar të Kolegjit AAB.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Transparencë e Plotë: Lista e të pranishmëve eksportohet në çast në Excel (CSV) për administratën e fakultetit.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Inter"/>
              </a:defRPr>
            </a:pPr>
            <a:r>
              <a:t>LABORATORI PRAKTIK 1 (USHTRIMET)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Inter"/>
              </a:defRPr>
            </a:pPr>
            <a:r>
              <a:t>Ora 1 e Ushtrimeve: Toolchain-i i Themeluesit (How to Start a Startup 🚀)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E2E8F0"/>
                </a:solidFill>
                <a:latin typeface="Inter"/>
              </a:defRPr>
            </a:pPr>
            <a:r>
              <a:t>Pajisja e çdo studenti me veglat moderne: Git, VS Code, GitHub Copilot, Supabase &amp; Vercel.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338328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38BDF8"/>
                </a:solidFill>
                <a:latin typeface="Inter"/>
              </a:defRPr>
            </a:pPr>
            <a:r>
              <a:t>1️⃣ Veglat Lokale</a:t>
            </a:r>
          </a:p>
          <a:p>
            <a:pPr>
              <a:spcAft>
                <a:spcPts val="1400"/>
              </a:spcAft>
              <a:defRPr sz="2200" b="1">
                <a:solidFill>
                  <a:srgbClr val="FFFFFF"/>
                </a:solidFill>
                <a:latin typeface="Inter"/>
              </a:defRPr>
            </a:pPr>
            <a:r>
              <a:t>VS Code &amp; Git i Konfiguruar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Instalimi dhe konfigurimi i VS Code me shtojcat thelbësore.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Lidhja e llogarisë zyrtare të GitHub dhe vendosja e çelësave SSH.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Klonimi i repos fillestare nga GitHub Classroom.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Verifikimi që terminali dhe Git funksionojnë 100% lokalisht.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011680"/>
            <a:ext cx="338328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219456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6366F1"/>
                </a:solidFill>
                <a:latin typeface="Inter"/>
              </a:defRPr>
            </a:pPr>
            <a:r>
              <a:t>2️⃣ AI &amp; Cloud Falas</a:t>
            </a:r>
          </a:p>
          <a:p>
            <a:pPr>
              <a:spcAft>
                <a:spcPts val="1400"/>
              </a:spcAft>
              <a:defRPr sz="2200" b="1">
                <a:solidFill>
                  <a:srgbClr val="FFFFFF"/>
                </a:solidFill>
                <a:latin typeface="Inter"/>
              </a:defRPr>
            </a:pPr>
            <a:r>
              <a:t>Copilot Pro, Supabase &amp; Vercel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Aktivizimi i GitHub Student Developer Pack me email AAB.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GitHub Copilot Pro aktiv falas (kursen 120$/vit për studentët).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Hapja e llogarisë në Supabase Cloud (PostgreSQL falas).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Lidhja e Vercel me GitHub për deploy me 1-klik.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2011680"/>
            <a:ext cx="338328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219456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10B981"/>
                </a:solidFill>
                <a:latin typeface="Inter"/>
              </a:defRPr>
            </a:pPr>
            <a:r>
              <a:t>3️⃣ Startup Mindset</a:t>
            </a:r>
          </a:p>
          <a:p>
            <a:pPr>
              <a:spcAft>
                <a:spcPts val="1400"/>
              </a:spcAft>
              <a:defRPr sz="2200" b="1">
                <a:solidFill>
                  <a:srgbClr val="FFFFFF"/>
                </a:solidFill>
                <a:latin typeface="Inter"/>
              </a:defRPr>
            </a:pPr>
            <a:r>
              <a:t>Si Fillon një Startup Sot?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Nuk blejmë servera fizikë: Përdorim infrastrukturë globale cloud.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Kosto operative 0 EUR gjatë fazës së zhvillimit dhe testimit.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Ekzekutimi i 'git push' të parë që shkon live në Vercel.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Çdo student largohet nga laboratori me mjedis të plotë gati!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Inter"/>
              </a:defRPr>
            </a:pPr>
            <a:r>
              <a:t>MJETET FALAS PËR STUDENTË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Inter"/>
              </a:defRPr>
            </a:pPr>
            <a:r>
              <a:t>GitHub Student Pack &amp; Copilot Pro Falas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E2E8F0"/>
                </a:solidFill>
                <a:latin typeface="Inter"/>
              </a:defRPr>
            </a:pPr>
            <a:r>
              <a:t>Përfitoni pakon me vlerë mbi 200,000$ falas me emailin tuaj zyrtar të Kolegjit AAB.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411480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qr_master_github_p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286000"/>
            <a:ext cx="3200400" cy="3200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14400" y="5577840"/>
            <a:ext cx="374903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8BDF8"/>
                </a:solidFill>
                <a:latin typeface="Inter"/>
              </a:defRPr>
            </a:pPr>
            <a:r>
              <a:t>AKTIVIZO COPILOT PRO</a:t>
            </a:r>
            <a:br/>
            <a:r>
              <a:t>education.github.com/pack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20640" y="2011680"/>
            <a:ext cx="630936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94960" y="2194560"/>
            <a:ext cx="57607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500" b="1">
                <a:solidFill>
                  <a:srgbClr val="FFFFFF"/>
                </a:solidFill>
                <a:latin typeface="Inter"/>
              </a:defRPr>
            </a:pPr>
            <a:r>
              <a:t>🎁 Çfarë Përfshin Pakoja Studentore?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GitHub Copilot Pro: Qasje falas e pakufizuar në AI më të avancuar për kodim (vlerë 120$/vit).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GitHub Codespaces: Mjedis zhvillimi i plotë në cloud — kodo direkt nga shfletuesi pa instaluar asgjë lokalisht.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Domain &amp; SSL Falas: Emër domeni personal (.me / .tech) falas për 1 vit për portofolin tuaj personal.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Kredi Cloud: Kredi falas në Microsoft Azure, DigitalOcean dhe platforma të tjera partnere.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Inter"/>
              </a:defRPr>
            </a:pPr>
            <a:r>
              <a:t>INFRASTRUKTURA NË 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Inter"/>
              </a:defRPr>
            </a:pPr>
            <a:r>
              <a:t>Aktivizimi i Supabase &amp; Vercel me 1-Klik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E2E8F0"/>
                </a:solidFill>
                <a:latin typeface="Inter"/>
              </a:defRPr>
            </a:pPr>
            <a:r>
              <a:t>Dy platformat kryesore cloud që fuqizojnë bazën e të dhënave dhe publikimin e aplikacionit tuaj.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512064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qr_master_supa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2286000"/>
            <a:ext cx="2377440" cy="23774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566160" y="2194560"/>
            <a:ext cx="21945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10B981"/>
                </a:solidFill>
                <a:latin typeface="Inter"/>
              </a:defRPr>
            </a:pPr>
            <a:r>
              <a:t>🗄️ Supabase Cloud</a:t>
            </a:r>
          </a:p>
          <a:p>
            <a:pPr>
              <a:spcAft>
                <a:spcPts val="600"/>
              </a:spcAft>
              <a:defRPr sz="1600">
                <a:solidFill>
                  <a:srgbClr val="E2E8F0"/>
                </a:solidFill>
                <a:latin typeface="Inter"/>
              </a:defRPr>
            </a:pPr>
            <a:r>
              <a:t>• Kyçje me GitHub</a:t>
            </a:r>
          </a:p>
          <a:p>
            <a:pPr>
              <a:spcAft>
                <a:spcPts val="600"/>
              </a:spcAft>
              <a:defRPr sz="1600">
                <a:solidFill>
                  <a:srgbClr val="E2E8F0"/>
                </a:solidFill>
                <a:latin typeface="Inter"/>
              </a:defRPr>
            </a:pPr>
            <a:r>
              <a:t>• PostgreSQL falas</a:t>
            </a:r>
          </a:p>
          <a:p>
            <a:pPr>
              <a:spcAft>
                <a:spcPts val="600"/>
              </a:spcAft>
              <a:defRPr sz="1600">
                <a:solidFill>
                  <a:srgbClr val="E2E8F0"/>
                </a:solidFill>
                <a:latin typeface="Inter"/>
              </a:defRPr>
            </a:pPr>
            <a:r>
              <a:t>• Auth &amp; Siguria RLS</a:t>
            </a:r>
          </a:p>
          <a:p>
            <a:pPr>
              <a:spcAft>
                <a:spcPts val="600"/>
              </a:spcAft>
              <a:defRPr sz="1600">
                <a:solidFill>
                  <a:srgbClr val="E2E8F0"/>
                </a:solidFill>
                <a:latin typeface="Inter"/>
              </a:defRPr>
            </a:pPr>
            <a:r>
              <a:t>• Realtime sync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2011680"/>
            <a:ext cx="512064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qr_master_verc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2286000"/>
            <a:ext cx="2377440" cy="23774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144000" y="2194560"/>
            <a:ext cx="21945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F59E0B"/>
                </a:solidFill>
                <a:latin typeface="Inter"/>
              </a:defRPr>
            </a:pPr>
            <a:r>
              <a:t>▲ Vercel Platform</a:t>
            </a:r>
          </a:p>
          <a:p>
            <a:pPr>
              <a:spcAft>
                <a:spcPts val="600"/>
              </a:spcAft>
              <a:defRPr sz="1600">
                <a:solidFill>
                  <a:srgbClr val="E2E8F0"/>
                </a:solidFill>
                <a:latin typeface="Inter"/>
              </a:defRPr>
            </a:pPr>
            <a:r>
              <a:t>• Kyçje me GitHub</a:t>
            </a:r>
          </a:p>
          <a:p>
            <a:pPr>
              <a:spcAft>
                <a:spcPts val="600"/>
              </a:spcAft>
              <a:defRPr sz="1600">
                <a:solidFill>
                  <a:srgbClr val="E2E8F0"/>
                </a:solidFill>
                <a:latin typeface="Inter"/>
              </a:defRPr>
            </a:pPr>
            <a:r>
              <a:t>• Publikim me 1 klik</a:t>
            </a:r>
          </a:p>
          <a:p>
            <a:pPr>
              <a:spcAft>
                <a:spcPts val="600"/>
              </a:spcAft>
              <a:defRPr sz="1600">
                <a:solidFill>
                  <a:srgbClr val="E2E8F0"/>
                </a:solidFill>
                <a:latin typeface="Inter"/>
              </a:defRPr>
            </a:pPr>
            <a:r>
              <a:t>• Domain .vercel.app</a:t>
            </a:r>
          </a:p>
          <a:p>
            <a:pPr>
              <a:spcAft>
                <a:spcPts val="600"/>
              </a:spcAft>
              <a:defRPr sz="1600">
                <a:solidFill>
                  <a:srgbClr val="E2E8F0"/>
                </a:solidFill>
                <a:latin typeface="Inter"/>
              </a:defRPr>
            </a:pPr>
            <a:r>
              <a:t>• Edge Network global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Inter"/>
              </a:defRPr>
            </a:pPr>
            <a:r>
              <a:t>PLANI PËR LIGJËRATËN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Inter"/>
              </a:defRPr>
            </a:pPr>
            <a:r>
              <a:t>Ligjërata 2: Si të Ndërtojmë Idenë, Specifikat &amp; Arkitekturën?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E2E8F0"/>
                </a:solidFill>
                <a:latin typeface="Inter"/>
              </a:defRPr>
            </a:pPr>
            <a:r>
              <a:t>Jo menjëherë në zhvillim! Secili zgjedh një problem real dhe ndërton arkitekturën para kodit.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338328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38BDF8"/>
                </a:solidFill>
                <a:latin typeface="Inter"/>
              </a:defRPr>
            </a:pPr>
            <a:r>
              <a:t>💡 1. Përzgjedhja e Idesë</a:t>
            </a:r>
          </a:p>
          <a:p>
            <a:pPr>
              <a:spcAft>
                <a:spcPts val="1400"/>
              </a:spcAft>
              <a:defRPr sz="2200" b="1">
                <a:solidFill>
                  <a:srgbClr val="FFFFFF"/>
                </a:solidFill>
                <a:latin typeface="Inter"/>
              </a:defRPr>
            </a:pPr>
            <a:r>
              <a:t>Biznesi / Problemi Real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Çdo student ose grup përzgjedh një SME lokale ose nevojë reale.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Shembuj: RideShare, Furrë buke, Mobileri, Porosi studentore, Servis.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Formulimi i saktë i 'Dhimbjes' (Pain) dhe 'Përfitimit' (Value).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Pse zgjidhja me celular sjell efiçiencë dhe fitim të matshëm.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011680"/>
            <a:ext cx="338328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219456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10B981"/>
                </a:solidFill>
                <a:latin typeface="Inter"/>
              </a:defRPr>
            </a:pPr>
            <a:r>
              <a:t>📋 2. Hartimi i Specifikave</a:t>
            </a:r>
          </a:p>
          <a:p>
            <a:pPr>
              <a:spcAft>
                <a:spcPts val="1400"/>
              </a:spcAft>
              <a:defRPr sz="2200" b="1">
                <a:solidFill>
                  <a:srgbClr val="FFFFFF"/>
                </a:solidFill>
                <a:latin typeface="Inter"/>
              </a:defRPr>
            </a:pPr>
            <a:r>
              <a:t>Kërkesat &amp; Kufijtë (PRD)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Përcaktimi i saktë i aktorëve (kush e përdor dhe pse).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Features Must-Have (funksionalitetet thelbësore të MVP-së).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Përjashtimet Out-of-Scope (çfarë NUK bëjmë për të shmangur dështimin).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Rregulli: 80% e projekteve dështojnë nga fryrja e kërkesave!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2011680"/>
            <a:ext cx="338328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219456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F59E0B"/>
                </a:solidFill>
                <a:latin typeface="Inter"/>
              </a:defRPr>
            </a:pPr>
            <a:r>
              <a:t>📐 3. Arkitektura &amp; Skica</a:t>
            </a:r>
          </a:p>
          <a:p>
            <a:pPr>
              <a:spcAft>
                <a:spcPts val="1400"/>
              </a:spcAft>
              <a:defRPr sz="2200" b="1">
                <a:solidFill>
                  <a:srgbClr val="FFFFFF"/>
                </a:solidFill>
                <a:latin typeface="Inter"/>
              </a:defRPr>
            </a:pPr>
            <a:r>
              <a:t>Kutitë &amp; Komponentët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Skicimi i kutive dhe shigjetave: Klienti PWA, Supabase DB, Auth.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Modelimi i tabelave kryesore (p.sh. tabelat 'rides', 'orders').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Vizatimi i ekraneve me dorë në letër (Wireframing).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Parimi i Hekurt: Asnjë rresht kod pa arkitekturë të miratuar!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Inter"/>
              </a:defRPr>
            </a:pPr>
            <a:r>
              <a:t>HAPAT E RADHËS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Inter"/>
              </a:defRPr>
            </a:pPr>
            <a:r>
              <a:t>Detyrat për Javën 2: Hapi i Parë Drejt Produktit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E2E8F0"/>
                </a:solidFill>
                <a:latin typeface="Inter"/>
              </a:defRPr>
            </a:pPr>
            <a:r>
              <a:t>Çfarë duhet të përgatisni për takimin e radhës në ligjëratë dhe ushtrime.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338328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38BDF8"/>
                </a:solidFill>
                <a:latin typeface="Inter"/>
              </a:defRPr>
            </a:pPr>
            <a:r>
              <a:t>1️⃣ Detyra 1</a:t>
            </a:r>
          </a:p>
          <a:p>
            <a:pPr>
              <a:spcAft>
                <a:spcPts val="1400"/>
              </a:spcAft>
              <a:defRPr sz="2200" b="1">
                <a:solidFill>
                  <a:srgbClr val="FFFFFF"/>
                </a:solidFill>
                <a:latin typeface="Inter"/>
              </a:defRPr>
            </a:pPr>
            <a:r>
              <a:t>Përzgjidhni Temën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Zgjidhni një problem real studentor ose biznes lokal (si AAB RideShare ose shërbim lokal).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Përcaktoni cili është problemi kryesor që zgjidh aplikacioni juaj.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Regjistroni temën tuaj në portal te Katalogu i Temave.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011680"/>
            <a:ext cx="338328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219456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6366F1"/>
                </a:solidFill>
                <a:latin typeface="Inter"/>
              </a:defRPr>
            </a:pPr>
            <a:r>
              <a:t>2️⃣ Detyra 2</a:t>
            </a:r>
          </a:p>
          <a:p>
            <a:pPr>
              <a:spcAft>
                <a:spcPts val="1400"/>
              </a:spcAft>
              <a:defRPr sz="2200" b="1">
                <a:solidFill>
                  <a:srgbClr val="FFFFFF"/>
                </a:solidFill>
                <a:latin typeface="Inter"/>
              </a:defRPr>
            </a:pPr>
            <a:r>
              <a:t>Skica &amp; Specifikat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Merrni një fletë të bardhë dhe skiconi me dorë 3 ekranet kryesore të aplikacionit.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Shkruani 3 specifikat kryesore: Çfarë bën aplikacioni dhe çfarë mbetet jashtë tij.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Përcaktoni butonin kryesor që do të klikojë përdoruesi (p.sh. 'Rezervo Vendin').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2011680"/>
            <a:ext cx="338328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219456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10B981"/>
                </a:solidFill>
                <a:latin typeface="Inter"/>
              </a:defRPr>
            </a:pPr>
            <a:r>
              <a:t>3️⃣ Detyra 3</a:t>
            </a:r>
          </a:p>
          <a:p>
            <a:pPr>
              <a:spcAft>
                <a:spcPts val="1400"/>
              </a:spcAft>
              <a:defRPr sz="2200" b="1">
                <a:solidFill>
                  <a:srgbClr val="FFFFFF"/>
                </a:solidFill>
                <a:latin typeface="Inter"/>
              </a:defRPr>
            </a:pPr>
            <a:r>
              <a:t>Mjedisi i Zhvillimit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Aktivizoni GitHub Copilot Pro me emailin @universitetiaab.com.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Klononi depon fillestare të Javës 1 nga GitHub Classroom.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Bëni push-in e parë me 'git push' për të testuar pikët e para të autograding!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