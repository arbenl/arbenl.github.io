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329184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ab_logo_trim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658368"/>
            <a:ext cx="3017520" cy="6949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737360"/>
            <a:ext cx="7132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38BDF8"/>
                </a:solidFill>
                <a:latin typeface="Inter"/>
              </a:defRPr>
            </a:pPr>
            <a:r>
              <a:t>KOLEGJI AAB • SHKENCA KOMPJUTERIKE • 2026/2027</a:t>
            </a:r>
          </a:p>
          <a:p>
            <a:pPr>
              <a:spcAft>
                <a:spcPts val="1400"/>
              </a:spcAft>
              <a:defRPr sz="4600" b="1">
                <a:solidFill>
                  <a:srgbClr val="FFFFFF"/>
                </a:solidFill>
                <a:latin typeface="Inter"/>
              </a:defRPr>
            </a:pPr>
            <a:r>
              <a:t>Programimi për</a:t>
            </a:r>
            <a:br/>
            <a:r>
              <a:t>Pajisje Mobile</a:t>
            </a:r>
          </a:p>
          <a:p>
            <a:pPr>
              <a:spcAft>
                <a:spcPts val="2400"/>
              </a:spcAft>
              <a:defRPr sz="2400" b="1">
                <a:solidFill>
                  <a:srgbClr val="10B981"/>
                </a:solidFill>
                <a:latin typeface="Inter"/>
              </a:defRPr>
            </a:pPr>
            <a:r>
              <a:t>The Founder's Expedition: Nga Ideja Lokale në Mobile PWA me AI</a:t>
            </a:r>
          </a:p>
          <a:p>
            <a:pPr>
              <a:defRPr sz="2000">
                <a:solidFill>
                  <a:srgbClr val="E2E8F0"/>
                </a:solidFill>
                <a:latin typeface="Inter"/>
              </a:defRPr>
            </a:pPr>
            <a:r>
              <a:t>Prof. Asoc. PhD. C. Arben Lila</a:t>
            </a:r>
            <a:br/>
            <a:r>
              <a:t>Semestri V • 6 ECTS • 2h Ligjëratë + 2h Ushtrime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97280"/>
            <a:ext cx="3291840" cy="502920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port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463040"/>
            <a:ext cx="256032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4206240"/>
            <a:ext cx="2926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8BDF8"/>
                </a:solidFill>
                <a:latin typeface="Inter"/>
              </a:defRPr>
            </a:pPr>
            <a:r>
              <a:t>SKANO ME CELULAR</a:t>
            </a:r>
          </a:p>
          <a:p>
            <a:pPr algn="ctr">
              <a:defRPr sz="1800">
                <a:solidFill>
                  <a:srgbClr val="FFFFFF"/>
                </a:solidFill>
                <a:latin typeface="Inter"/>
              </a:defRPr>
            </a:pPr>
            <a:r>
              <a:t>Portali Zyrtar i Kursit:</a:t>
            </a:r>
            <a:br/>
            <a:r>
              <a:t>arbenl.github.io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HISTORIA &amp; REALITETI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Shikoni Rreth Jush: Bizneset Tona Lokale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Furra e lagjes, kafeneja e qytetit, klinika mjekësore apo dyqani i familjes suaj.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600" b="1">
                <a:solidFill>
                  <a:srgbClr val="F59E0B"/>
                </a:solidFill>
                <a:latin typeface="Inter"/>
              </a:defRPr>
            </a:pPr>
            <a:r>
              <a:t>📝 Si Funksionojnë Sot?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Fletore me dorë për shënime të porosive dhe borxheve.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Telefonata të vazhdueshme dhe mesazhe kaotike në Viber/WhatsApp.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Klientët presin në radhë për të parë menunë ose për të marrë shërbim.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Humbje kohe dhe gabime të përditshme njerëzore në llogari.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600" b="1">
                <a:solidFill>
                  <a:srgbClr val="EF4444"/>
                </a:solidFill>
                <a:latin typeface="Inter"/>
              </a:defRPr>
            </a:pPr>
            <a:r>
              <a:t>❓ Pse Nuk Kanë Aplikacion?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Një agjenci u kërkon 5,000€ — 10,000€ për një aplikacion celular.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Kërkon mirëmbajtje të shtrenjtë dhe muaj të tërë zhvillim.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Klientët e zakonshëm refuzojnë të shkarkojnë 150MB nga App Store.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Përfundimi: Biznesi mbetet prapa, i bllokuar në metodat e vjetra!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MISIONI &amp; MOTIVIMI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Ju Nuk Jeni Thjesht Studentë — Ju Jeni 'Founders'!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Fuqia e inxhinierit modern të softuerit për të sjellë ndryshim të menjëhershëm.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38BDF8"/>
                </a:solidFill>
                <a:latin typeface="Inter"/>
              </a:defRPr>
            </a:pPr>
            <a:r>
              <a:t>💡 Zgjidhni një Problem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Mendoni për biznesin e prindërve, axhës, apo mikut tuaj.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Bisedoni me ta: 'Cila është gjëja më e lodhshme që bëni me dorë çdo ditë?'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Ai problem bëhet kërkesa e projektit tuaj këtë semestër.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10B981"/>
                </a:solidFill>
                <a:latin typeface="Inter"/>
              </a:defRPr>
            </a:pPr>
            <a:r>
              <a:t>🚀 Ndërtoni Zgjidhjen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Përdorni Next.js 15, AI dhe Supabase për të ndërtuar shpejt.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Zgjidhja instalohet në telefonat e tyre me një QR kod në tavolinë.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Porositë dhe rezervimet shkojnë direkt në panelin e tyre live!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6366F1"/>
                </a:solidFill>
                <a:latin typeface="Inter"/>
              </a:defRPr>
            </a:pPr>
            <a:r>
              <a:t>🏆 Portofol Real Pune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Kur të aplikoni për punë, ju nuk tregoni një 'detyrë kursi'.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Ju thoni: 'Ja aplikacioni që ndërtova, ka 50 përdorues aktivë çdo ditë.'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Kjo është diferenca mes një studenti dhe një inxhinieri të kërkuar!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SHEMBUJ TË ZBATUESHËM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Çfarë Mund të Ndërtoni? 4 Profile Konkrete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Zgjidhni njërin prej tyre ose sillni idenë e biznesit tuaj familjar.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205740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38BDF8"/>
                </a:solidFill>
                <a:latin typeface="Inter"/>
              </a:defRPr>
            </a:pPr>
            <a:r>
              <a:t>☕ Kafene / Lounge Bar</a:t>
            </a:r>
          </a:p>
          <a:p>
            <a:pPr>
              <a:defRPr sz="1800">
                <a:solidFill>
                  <a:srgbClr val="E2E8F0"/>
                </a:solidFill>
                <a:latin typeface="Inter"/>
              </a:defRPr>
            </a:pPr>
            <a:r>
              <a:t>Porosi në tavolinë përmes QR kodit. Kamarieri sheh porosinë live, klienti paguan ose kërkon faturën pa pritur.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205740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48840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F59E0B"/>
                </a:solidFill>
                <a:latin typeface="Inter"/>
              </a:defRPr>
            </a:pPr>
            <a:r>
              <a:t>🥖 Furrë Buke / Pastiçeri</a:t>
            </a:r>
          </a:p>
          <a:p>
            <a:pPr>
              <a:defRPr sz="1800">
                <a:solidFill>
                  <a:srgbClr val="E2E8F0"/>
                </a:solidFill>
                <a:latin typeface="Inter"/>
              </a:defRPr>
            </a:pPr>
            <a:r>
              <a:t>Para-porosi e ëmbëlsirave apo bukëve speciale. Klienti zgjedh orën e marrjes, shmang radhën e mëngjesit.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43400"/>
            <a:ext cx="5120640" cy="205740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80560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10B981"/>
                </a:solidFill>
                <a:latin typeface="Inter"/>
              </a:defRPr>
            </a:pPr>
            <a:r>
              <a:t>🏥 Klinikë / Sallon Bukurie</a:t>
            </a:r>
          </a:p>
          <a:p>
            <a:pPr>
              <a:defRPr sz="1800">
                <a:solidFill>
                  <a:srgbClr val="E2E8F0"/>
                </a:solidFill>
                <a:latin typeface="Inter"/>
              </a:defRPr>
            </a:pPr>
            <a:r>
              <a:t>Rezervim i orarit online në kohë reale. Zgjedhja e mjekut/stilit dhe njoftime me SMS/mesazh për konfirmim.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4343400"/>
            <a:ext cx="5120640" cy="205740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480560"/>
            <a:ext cx="47548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1">
                <a:solidFill>
                  <a:srgbClr val="6366F1"/>
                </a:solidFill>
                <a:latin typeface="Inter"/>
              </a:defRPr>
            </a:pPr>
            <a:r>
              <a:t>🔧 Auto-Servis / Zejtari</a:t>
            </a:r>
          </a:p>
          <a:p>
            <a:pPr>
              <a:defRPr sz="1800">
                <a:solidFill>
                  <a:srgbClr val="E2E8F0"/>
                </a:solidFill>
                <a:latin typeface="Inter"/>
              </a:defRPr>
            </a:pPr>
            <a:r>
              <a:t>Ndjekje e statusit të riparimit për veturën. Klienti fut targën dhe sheh fotot dhe fazën e riparimit live!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TERMAT E BIZNESIT &amp; INXHINIERIA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Anatomia e një Biznesi Familjar: Nga Dhimbja te Vlera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Lidhja mes problemeve ekonomike në treg dhe zgjidhjes softuerike që ndërtoni ju.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  <a:latin typeface="Inter"/>
              </a:defRPr>
            </a:pPr>
            <a:r>
              <a:t>🛑 Pika e Dhimbjes (Pain Point)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Humbja nga Radhët e Mëngjesit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Në orën 07:30-08:30 radhët te furra/kafeneja bllokohen.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Klientët me nxitim ikin te konkurrenca pa blerë.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Humbje direkte: ~20% e xhiros ditore nga koha e humbur.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Gabime njerëzore në llogari dhe porosi të ngatërruara.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38BDF8"/>
                </a:solidFill>
                <a:latin typeface="Inter"/>
              </a:defRPr>
            </a:pPr>
            <a:r>
              <a:t>💡 Propozimi i Vlerës (Value Prop)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Modeli 'Click &amp; Collect' pa Radhë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Klienti porosit në 07:00 nga krevati me 2 prekje.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Përzgjedh orën ekzakte të marrjes: '07:35'.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Kalon te dera, e merr qesen e paketuar në çast!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Zero fërkim: Pa shkarkuar asnjë aplikacion nga App Store.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  <a:latin typeface="Inter"/>
              </a:defRPr>
            </a:pPr>
            <a:r>
              <a:t>💰 Ekonomia e Njësisë (Economics)</a:t>
            </a:r>
          </a:p>
          <a:p>
            <a:pPr>
              <a:spcAft>
                <a:spcPts val="1200"/>
              </a:spcAft>
              <a:defRPr sz="2000" b="1">
                <a:solidFill>
                  <a:srgbClr val="FFFFFF"/>
                </a:solidFill>
                <a:latin typeface="Inter"/>
              </a:defRPr>
            </a:pPr>
            <a:r>
              <a:t>Margjinë 100% Neto pa Komisione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Pa komisione 30% të Apple/Google dhe pa ndërmjetës.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Kosto e platformës: 0€ me Vercel &amp; Supabase Free Tier.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Rritje e Shportës Mesatare (AOV) me rekomandime vizuale.</a:t>
            </a:r>
          </a:p>
          <a:p>
            <a:pPr>
              <a:spcAft>
                <a:spcPts val="1000"/>
              </a:spcAft>
              <a:defRPr sz="1700">
                <a:solidFill>
                  <a:srgbClr val="E2E8F0"/>
                </a:solidFill>
                <a:latin typeface="Inter"/>
              </a:defRPr>
            </a:pPr>
            <a:r>
              <a:t>• Fitimi mbetet 100% brenda buxhetit të familjes!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ARKITEKTURA NË VEPRIM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Si Del në Jetë Produkti: Nga Telefoni te Banaku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Fluksi real: Klienti porosit në celular ➔ Cloud-i sinkronizon ➔ Prindërit paketojnë në çast.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438912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02336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  <a:latin typeface="Inter"/>
              </a:defRPr>
            </a:pPr>
            <a:r>
              <a:t>1️⃣ Celulari i Klientit (PWA):</a:t>
            </a:r>
          </a:p>
          <a:p>
            <a:pPr>
              <a:spcAft>
                <a:spcPts val="10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Skanon QR në banak ose Instagram. Shikon menunë me foto, çmime dhe statusin e bukës së nxehtë. Zgjedh orën dhe porosit!</a:t>
            </a:r>
          </a:p>
          <a:p>
            <a:pPr>
              <a:defRPr sz="1800" b="1">
                <a:solidFill>
                  <a:srgbClr val="38BDF8"/>
                </a:solidFill>
                <a:latin typeface="Inter"/>
              </a:defRPr>
            </a:pPr>
            <a:r>
              <a:t>2️⃣ Motori në Cloud (Next.js + DB):</a:t>
            </a:r>
          </a:p>
          <a:p>
            <a:pPr>
              <a:spcAft>
                <a:spcPts val="10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Next.js 15 &amp; Supabase regjistrojnë porosinë për 0.2 sekonda. Dërgojnë njoftim live (WebSocket) te dyqani.</a:t>
            </a:r>
          </a:p>
          <a:p>
            <a:pPr>
              <a:defRPr sz="1800" b="1">
                <a:solidFill>
                  <a:srgbClr val="38BDF8"/>
                </a:solidFill>
                <a:latin typeface="Inter"/>
              </a:defRPr>
            </a:pPr>
            <a:r>
              <a:t>3️⃣ Tableti te Banaku i Furrës:</a:t>
            </a:r>
          </a:p>
          <a:p>
            <a:pPr>
              <a:spcAft>
                <a:spcPts val="1000"/>
              </a:spcAft>
              <a:defRPr sz="1600">
                <a:solidFill>
                  <a:srgbClr val="E2E8F0"/>
                </a:solidFill>
                <a:latin typeface="Inter"/>
              </a:defRPr>
            </a:pPr>
            <a:r>
              <a:t>Tableti bën 'Bip!'. Prindi sheh emrin dhe qesen që duhet bërë gati. Shtyp vetëm 1 buton: [ Gati për Marrje 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2011680"/>
            <a:ext cx="60350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amily_business_pwa_flow_178956863166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2103120"/>
            <a:ext cx="585216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UDHËZUESI SEKUENCIAL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5 Hapat: Nga Ideja Familjare te Demo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Udhëtimi juaj semestral për ndërtimin e produktit hap-pas-hapi.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800">
                <a:latin typeface="Inter"/>
              </a:defRPr>
            </a:pPr>
            <a:r>
              <a:t>1️⃣</a:t>
            </a:r>
          </a:p>
          <a:p>
            <a:pPr>
              <a:spcAft>
                <a:spcPts val="800"/>
              </a:spcAft>
              <a:defRPr sz="1300" b="1">
                <a:solidFill>
                  <a:srgbClr val="38BDF8"/>
                </a:solidFill>
                <a:latin typeface="Inter"/>
              </a:defRPr>
            </a:pPr>
            <a:r>
              <a:t>JAVËT 1–2</a:t>
            </a:r>
          </a:p>
          <a:p>
            <a:pPr>
              <a:spcAft>
                <a:spcPts val="14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Intervista</a:t>
            </a:r>
            <a:br/>
            <a:r>
              <a:t>Familjare</a:t>
            </a:r>
          </a:p>
          <a:p>
            <a:pPr>
              <a:defRPr sz="1600">
                <a:solidFill>
                  <a:srgbClr val="E2E8F0"/>
                </a:solidFill>
                <a:latin typeface="Inter"/>
              </a:defRPr>
            </a:pPr>
            <a:r>
              <a:t>Bisedoni me familjen: Cili është problemi më i lodhshëm ditor? Zgjidhni fushën e projektit.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07792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800">
                <a:latin typeface="Inter"/>
              </a:defRPr>
            </a:pPr>
            <a:r>
              <a:t>2️⃣</a:t>
            </a:r>
          </a:p>
          <a:p>
            <a:pPr>
              <a:spcAft>
                <a:spcPts val="800"/>
              </a:spcAft>
              <a:defRPr sz="1300" b="1">
                <a:solidFill>
                  <a:srgbClr val="6366F1"/>
                </a:solidFill>
                <a:latin typeface="Inter"/>
              </a:defRPr>
            </a:pPr>
            <a:r>
              <a:t>JAVËT 3–5</a:t>
            </a:r>
          </a:p>
          <a:p>
            <a:pPr>
              <a:spcAft>
                <a:spcPts val="14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Dizajni me</a:t>
            </a:r>
            <a:br/>
            <a:r>
              <a:t>Copilot</a:t>
            </a:r>
          </a:p>
          <a:p>
            <a:pPr>
              <a:defRPr sz="1600">
                <a:solidFill>
                  <a:srgbClr val="E2E8F0"/>
                </a:solidFill>
                <a:latin typeface="Inter"/>
              </a:defRPr>
            </a:pPr>
            <a:r>
              <a:t>Ndërtoni ndërfaqen mobile me Tailwind CSS. Butona Touch-First (48px) lehtë për t'u përdorur.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93792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800">
                <a:latin typeface="Inter"/>
              </a:defRPr>
            </a:pPr>
            <a:r>
              <a:t>3️⃣</a:t>
            </a:r>
          </a:p>
          <a:p>
            <a:pPr>
              <a:spcAft>
                <a:spcPts val="800"/>
              </a:spcAft>
              <a:defRPr sz="1300" b="1">
                <a:solidFill>
                  <a:srgbClr val="F59E0B"/>
                </a:solidFill>
                <a:latin typeface="Inter"/>
              </a:defRPr>
            </a:pPr>
            <a:r>
              <a:t>JAVËT 6–9</a:t>
            </a:r>
          </a:p>
          <a:p>
            <a:pPr>
              <a:spcAft>
                <a:spcPts val="14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Databaza</a:t>
            </a:r>
            <a:br/>
            <a:r>
              <a:t>Supabase</a:t>
            </a:r>
          </a:p>
          <a:p>
            <a:pPr>
              <a:defRPr sz="1600">
                <a:solidFill>
                  <a:srgbClr val="E2E8F0"/>
                </a:solidFill>
                <a:latin typeface="Inter"/>
              </a:defRPr>
            </a:pPr>
            <a:r>
              <a:t>Lidhni bazën PostgreSQL në cloud. Ruani menunë, klientët dhe porositë me siguri të plotë (RLS).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0336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800">
                <a:latin typeface="Inter"/>
              </a:defRPr>
            </a:pPr>
            <a:r>
              <a:t>4️⃣</a:t>
            </a:r>
          </a:p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Inter"/>
              </a:defRPr>
            </a:pPr>
            <a:r>
              <a:t>JAVËT 10–12</a:t>
            </a:r>
          </a:p>
          <a:p>
            <a:pPr>
              <a:spcAft>
                <a:spcPts val="14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Testimi në</a:t>
            </a:r>
            <a:br/>
            <a:r>
              <a:t>Dyqan</a:t>
            </a:r>
          </a:p>
          <a:p>
            <a:pPr>
              <a:defRPr sz="1600">
                <a:solidFill>
                  <a:srgbClr val="E2E8F0"/>
                </a:solidFill>
                <a:latin typeface="Inter"/>
              </a:defRPr>
            </a:pPr>
            <a:r>
              <a:t>Vendosni QR kodin në banakun e lokalit. Testoni aplikacionin me 10 klientët e parë të vërtetë!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36608" y="2011680"/>
            <a:ext cx="20116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46336" y="2148840"/>
            <a:ext cx="1792224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800">
                <a:latin typeface="Inter"/>
              </a:defRPr>
            </a:pPr>
            <a:r>
              <a:t>5️⃣</a:t>
            </a:r>
          </a:p>
          <a:p>
            <a:pPr>
              <a:spcAft>
                <a:spcPts val="800"/>
              </a:spcAft>
              <a:defRPr sz="1300" b="1">
                <a:solidFill>
                  <a:srgbClr val="EC4899"/>
                </a:solidFill>
                <a:latin typeface="Inter"/>
              </a:defRPr>
            </a:pPr>
            <a:r>
              <a:t>JAVA 15</a:t>
            </a:r>
          </a:p>
          <a:p>
            <a:pPr>
              <a:spcAft>
                <a:spcPts val="1400"/>
              </a:spcAft>
              <a:defRPr sz="1900" b="1">
                <a:solidFill>
                  <a:srgbClr val="FFFFFF"/>
                </a:solidFill>
                <a:latin typeface="Inter"/>
              </a:defRPr>
            </a:pPr>
            <a:r>
              <a:t>Demo Day &amp;</a:t>
            </a:r>
            <a:br/>
            <a:r>
              <a:t>Suksesi</a:t>
            </a:r>
          </a:p>
          <a:p>
            <a:pPr>
              <a:defRPr sz="1600">
                <a:solidFill>
                  <a:srgbClr val="E2E8F0"/>
                </a:solidFill>
                <a:latin typeface="Inter"/>
              </a:defRPr>
            </a:pPr>
            <a:r>
              <a:t>Prezantimi live nga telefoni para gjithë klasës dhe profesorit. Notë maksimale (10) &amp; Krenari!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ZGJIDHJA TEKNOLOGJIKE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Pse PWA është Ideale për Bizneset Lokale?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Teknologjia që largon barrierat mes biznesit dhe konsumatorit.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⚡ Përvojë pa Fërkime (Zero Friction)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Zero Shkarkim: Klienti nuk shkon në App Store dhe nuk pret me minuta.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QR Instalim: Skanon kodin në banak dhe aplikacioni shfaqet menjëherë.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Add to Home Screen: Ikona vendoset në ekranin kryesor të telefonit të tyre.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Peshë minimale: Ngarkohet për &lt; 1 sekondë edhe me rrjet të ngadaltë!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38BDF8"/>
                </a:solidFill>
                <a:latin typeface="Inter"/>
              </a:defRPr>
            </a:pPr>
            <a:r>
              <a:t>📶 Punon Offline &amp; Njoftime Push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Service Worker: Ruan menunë dhe fotot në memorien e telefonit.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Pa Internet: Klienti mund të shfletojë produktet edhe kur i ikën rrjeti.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Sinkronizim Automatik: Sapo vjen interneti, porosia regjistrohet në çast.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Njoftime Direkte: Biznesi mund t'i dërgojë klientit njoftim për ofertat!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ARKITEKTURA SOFTUERIKE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Pse PWA në vend të Native të Vjetër?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Krahasimi teknik mes zhvillimit klasik Native dhe arkitekturës moderne PWA.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500" b="1">
                <a:solidFill>
                  <a:srgbClr val="EF4444"/>
                </a:solidFill>
                <a:latin typeface="Inter"/>
              </a:defRPr>
            </a:pPr>
            <a:r>
              <a:t>❌ Native Klasik</a:t>
            </a:r>
          </a:p>
          <a:p>
            <a:pPr>
              <a:spcAft>
                <a:spcPts val="16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2 kode krejtësisht të ndara:</a:t>
            </a:r>
            <a:br/>
            <a:r>
              <a:t>Swift (iOS) &amp; Kotlin (Android)</a:t>
            </a:r>
          </a:p>
          <a:p>
            <a:pPr>
              <a:spcAft>
                <a:spcPts val="16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Pritje 7-14 ditë për</a:t>
            </a:r>
            <a:br/>
            <a:r>
              <a:t>aprovim në App Store</a:t>
            </a:r>
          </a:p>
          <a:p>
            <a:pPr>
              <a:spcAft>
                <a:spcPts val="16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Mirëmbajtje e dyfishtë</a:t>
            </a:r>
            <a:br/>
            <a:r>
              <a:t>dhe kosto marramendëse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500" b="1">
                <a:solidFill>
                  <a:srgbClr val="F59E0B"/>
                </a:solidFill>
                <a:latin typeface="Inter"/>
              </a:defRPr>
            </a:pPr>
            <a:r>
              <a:t>⚠️ Web Tradicional</a:t>
            </a:r>
          </a:p>
          <a:p>
            <a:pPr>
              <a:spcAft>
                <a:spcPts val="16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Nuk funksionon pa internet</a:t>
            </a:r>
            <a:br/>
            <a:r>
              <a:t>(Zero Offline Mode)</a:t>
            </a:r>
          </a:p>
          <a:p>
            <a:pPr>
              <a:spcAft>
                <a:spcPts val="16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Nuk instalohet dot në</a:t>
            </a:r>
            <a:br/>
            <a:r>
              <a:t>ekranin e telefonit</a:t>
            </a:r>
          </a:p>
          <a:p>
            <a:pPr>
              <a:spcAft>
                <a:spcPts val="16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Ringarkim i plotë i faqes</a:t>
            </a:r>
            <a:br/>
            <a:r>
              <a:t>i ngadaltë në celular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011680"/>
            <a:ext cx="33832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⚡ Modern Next.js PWA</a:t>
            </a:r>
          </a:p>
          <a:p>
            <a:pPr>
              <a:spcAft>
                <a:spcPts val="16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1 kod i vetëm i unifikuar</a:t>
            </a:r>
            <a:br/>
            <a:r>
              <a:t>për të gjitha platformat</a:t>
            </a:r>
          </a:p>
          <a:p>
            <a:pPr>
              <a:spcAft>
                <a:spcPts val="16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Instalohet me 1-klik direkt</a:t>
            </a:r>
            <a:br/>
            <a:r>
              <a:t>nga shfletuesi në celular</a:t>
            </a:r>
          </a:p>
          <a:p>
            <a:pPr>
              <a:spcAft>
                <a:spcPts val="16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Service Worker &amp; Cache:</a:t>
            </a:r>
            <a:br/>
            <a:r>
              <a:t>Shpejtësi maksimale &amp; Offline!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MJETET PROFESIONALE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Fluksi i Plotë Teknologjik i Kursit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Arkitektura moderne që lidh kodimin me AI deri te publikimi live në cloud.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4688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213969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366F1"/>
                </a:solidFill>
                <a:latin typeface="Inter"/>
              </a:defRPr>
            </a:pPr>
            <a:r>
              <a:t>1. AI PAIRING</a:t>
            </a:r>
          </a:p>
          <a:p>
            <a:pPr>
              <a:spcAft>
                <a:spcPts val="18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🤖 VS Code &amp;</a:t>
            </a:r>
            <a:br/>
            <a:r>
              <a:t>GitHub Copilot</a:t>
            </a:r>
          </a:p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Kodi me ndihmën e AI.</a:t>
            </a:r>
            <a:br/>
            <a:r>
              <a:t>Shkruajmë prompt-e</a:t>
            </a:r>
            <a:br/>
            <a:r>
              <a:t>dhe logjikë biznesi.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2011680"/>
            <a:ext cx="24688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21024" y="2194560"/>
            <a:ext cx="213969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38BDF8"/>
                </a:solidFill>
                <a:latin typeface="Inter"/>
              </a:defRPr>
            </a:pPr>
            <a:r>
              <a:t>2. KORNIZA</a:t>
            </a:r>
          </a:p>
          <a:p>
            <a:pPr>
              <a:spcAft>
                <a:spcPts val="18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⚡ Next.js 15 &amp;</a:t>
            </a:r>
            <a:br/>
            <a:r>
              <a:t>React 19</a:t>
            </a:r>
          </a:p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App Router modern,</a:t>
            </a:r>
            <a:br/>
            <a:r>
              <a:t>Tailwind CSS, dhe</a:t>
            </a:r>
            <a:br/>
            <a:r>
              <a:t>Touch-First UI (48px).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2011680"/>
            <a:ext cx="24688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5936" y="2194560"/>
            <a:ext cx="213969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10B981"/>
                </a:solidFill>
                <a:latin typeface="Inter"/>
              </a:defRPr>
            </a:pPr>
            <a:r>
              <a:t>3. DATABAZA</a:t>
            </a:r>
          </a:p>
          <a:p>
            <a:pPr>
              <a:spcAft>
                <a:spcPts val="18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🗄️ Supabase</a:t>
            </a:r>
            <a:br/>
            <a:r>
              <a:t>(PostgreSQL)</a:t>
            </a:r>
          </a:p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Databaza në Cloud,</a:t>
            </a:r>
            <a:br/>
            <a:r>
              <a:t>Autentikim i gatshëm</a:t>
            </a:r>
            <a:br/>
            <a:r>
              <a:t>dhe Row-Level Security.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2011680"/>
            <a:ext cx="246888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0848" y="2194560"/>
            <a:ext cx="213969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59E0B"/>
                </a:solidFill>
                <a:latin typeface="Inter"/>
              </a:defRPr>
            </a:pPr>
            <a:r>
              <a:t>4. DEPLOYMENT</a:t>
            </a:r>
          </a:p>
          <a:p>
            <a:pPr>
              <a:spcAft>
                <a:spcPts val="1800"/>
              </a:spcAft>
              <a:defRPr sz="2200" b="1">
                <a:solidFill>
                  <a:srgbClr val="FFFFFF"/>
                </a:solidFill>
                <a:latin typeface="Inter"/>
              </a:defRPr>
            </a:pPr>
            <a:r>
              <a:t>🚀 Vercel Cloud</a:t>
            </a:r>
            <a:br/>
            <a:r>
              <a:t>Global Edge</a:t>
            </a:r>
          </a:p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Publikim automatik me</a:t>
            </a:r>
            <a:br/>
            <a:r>
              <a:t>çdo git push direkt në</a:t>
            </a:r>
            <a:br/>
            <a:r>
              <a:t>telefonat e përdoruesve.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INTEGRITETI &amp; ETIKA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Ju jeni Arkitekti, Copilot është Ndihmësi!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Politika e qartë e Kolegjit AAB për përdorimin profesional të AI në zhvillim.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✅ Si Duhet Përdorur Copilot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Për të përshpejtuar shkrimin e sintaksës dhe kodeve standarde.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Për të kërkuar ide, optimizime dhe shpjegime të gabimeve teknike.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Rregulla e Artë: Çdo rresht kod duhet ta kuptoni 100% dhe të jeni gati ta shpjegoni para profesorit!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EF4444"/>
                </a:solidFill>
                <a:latin typeface="Inter"/>
              </a:defRPr>
            </a:pPr>
            <a:r>
              <a:t>❌ Çfarë Çon në Dështim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Kopjimi i verbër i kodit të gjeneruar pa e ditur si funksionon.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Mungesa e njohurive për të mbrojtur logjikën në Demo Day.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Kujtesë: Në mbrojtjen finale nuk vlerësohet kush gjeneroi më shumë kod, por KUPTIMI TEKNIK!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TRANSPARENCA &amp; VLERËSIMI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Formula e Notimit: 10% / 30% / 40% / 20%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Llogaridhënie e qartë — diferencojmë vijueshmërinë nga ata që kërkojnë vetëm një notë.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10B981"/>
                </a:solidFill>
                <a:latin typeface="Inter"/>
              </a:defRPr>
            </a:pPr>
            <a:r>
              <a:t>10%</a:t>
            </a:r>
          </a:p>
          <a:p>
            <a:pPr>
              <a:spcAft>
                <a:spcPts val="1400"/>
              </a:spcAft>
              <a:defRPr sz="2400" b="1">
                <a:solidFill>
                  <a:srgbClr val="FFFFFF"/>
                </a:solidFill>
                <a:latin typeface="Inter"/>
              </a:defRPr>
            </a:pPr>
            <a:r>
              <a:t>📡 Vijueshmëria &amp; QR</a:t>
            </a:r>
          </a:p>
          <a:p>
            <a:pPr>
              <a:spcAft>
                <a:spcPts val="10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Check-In me QR në çdo ligjëratë/lab</a:t>
            </a:r>
          </a:p>
          <a:p>
            <a:pPr>
              <a:spcAft>
                <a:spcPts val="10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Diferencon vijuesit nga pasivët</a:t>
            </a:r>
          </a:p>
          <a:p>
            <a:pPr>
              <a:spcAft>
                <a:spcPts val="10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Pragu 70% minimal: Eliminues!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5576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48456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6366F1"/>
                </a:solidFill>
                <a:latin typeface="Inter"/>
              </a:defRPr>
            </a:pPr>
            <a:r>
              <a:t>30%</a:t>
            </a:r>
          </a:p>
          <a:p>
            <a:pPr>
              <a:spcAft>
                <a:spcPts val="1400"/>
              </a:spcAft>
              <a:defRPr sz="2400" b="1">
                <a:solidFill>
                  <a:srgbClr val="FFFFFF"/>
                </a:solidFill>
                <a:latin typeface="Inter"/>
              </a:defRPr>
            </a:pPr>
            <a:r>
              <a:t>⚡ GitHub Autograding</a:t>
            </a:r>
          </a:p>
          <a:p>
            <a:pPr>
              <a:spcAft>
                <a:spcPts val="10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10 detyra praktike me kod javor</a:t>
            </a:r>
          </a:p>
          <a:p>
            <a:pPr>
              <a:spcAft>
                <a:spcPts val="10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Vlerësim automatik me GitHub Actions</a:t>
            </a:r>
          </a:p>
          <a:p>
            <a:pPr>
              <a:spcAft>
                <a:spcPts val="10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Feedback i menjëhershëm në git push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59E0B"/>
                </a:solidFill>
                <a:latin typeface="Inter"/>
              </a:defRPr>
            </a:pPr>
            <a:r>
              <a:t>40%</a:t>
            </a:r>
          </a:p>
          <a:p>
            <a:pPr>
              <a:spcAft>
                <a:spcPts val="1400"/>
              </a:spcAft>
              <a:defRPr sz="2400" b="1">
                <a:solidFill>
                  <a:srgbClr val="FFFFFF"/>
                </a:solidFill>
                <a:latin typeface="Inter"/>
              </a:defRPr>
            </a:pPr>
            <a:r>
              <a:t>📱 Projekti PWA</a:t>
            </a:r>
          </a:p>
          <a:p>
            <a:pPr>
              <a:spcAft>
                <a:spcPts val="10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PWA mobile për biznes real familjar</a:t>
            </a:r>
          </a:p>
          <a:p>
            <a:pPr>
              <a:spcAft>
                <a:spcPts val="10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Supabase DB + Auth + RLS e plotë</a:t>
            </a:r>
          </a:p>
          <a:p>
            <a:pPr>
              <a:spcAft>
                <a:spcPts val="10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Optimizim Touch-First &amp; Offline Mode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33688" y="2011680"/>
            <a:ext cx="25146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16568" y="2194560"/>
            <a:ext cx="3017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38BDF8"/>
                </a:solidFill>
                <a:latin typeface="Inter"/>
              </a:defRPr>
            </a:pPr>
            <a:r>
              <a:t>20%</a:t>
            </a:r>
          </a:p>
          <a:p>
            <a:pPr>
              <a:spcAft>
                <a:spcPts val="1400"/>
              </a:spcAft>
              <a:defRPr sz="2400" b="1">
                <a:solidFill>
                  <a:srgbClr val="FFFFFF"/>
                </a:solidFill>
                <a:latin typeface="Inter"/>
              </a:defRPr>
            </a:pPr>
            <a:r>
              <a:t>🏆 Demo Day Live</a:t>
            </a:r>
          </a:p>
          <a:p>
            <a:pPr>
              <a:spcAft>
                <a:spcPts val="10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Prezantim 5-minutësh në Javën 15</a:t>
            </a:r>
          </a:p>
          <a:p>
            <a:pPr>
              <a:spcAft>
                <a:spcPts val="10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Demo live nga telefoni në auditor</a:t>
            </a:r>
          </a:p>
          <a:p>
            <a:pPr>
              <a:spcAft>
                <a:spcPts val="10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Mbrojtje teknike e thellë e kodit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EFIKASITET &amp; SHPEJTËSI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Automatizimi i Detyrave Javore: GitHub Autograding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Zero vonesa në korrigjim — çdo 'git push' testohet dhe vlerësohet menjëherë përmes CI/CD.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💻 Fluksi i Studentit në Çdo Javë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1. Prano Detyrën: Klikoni ftesën në GitHub Classroom për të hapur depon tuaj private.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2. Kodo me Copilot: Zgjidhni kërkesat e ushtrimit (komponentët, logjikën, lidhjen me DB).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3. Git Push: Ekzekutoni 'git push origin main' drejt depos suaj zyrtare në GitHub.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FFFFFF"/>
                </a:solidFill>
                <a:latin typeface="Inter"/>
              </a:defRPr>
            </a:pPr>
            <a:r>
              <a:t>🤖 Vlerësimi Automat me GitHub Actions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Teste Automatike: Workflow CI/CD verifikon linter-in, tipet dhe funksionalitetin e kodit.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Rezultat i Menjëhershëm: Pikët (p.sh. 10/10) shfaqen te badge në README brenda 60 sekondave.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Inter"/>
              </a:defRPr>
            </a:pPr>
            <a:r>
              <a:t>• Zero Pritje / Pa Ngarkesë: Notat sinkronizohen në Gradebook CSV të profesorit pa asnjë gabim njerëzor!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KULMI I SEMESTRIT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Demo Day në Javën 15: Vizioni i Suksesit!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Dita kur telefoni juaj kthehet në dëshminë e arritjes suaj profesionale.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38BDF8"/>
                </a:solidFill>
                <a:latin typeface="Inter"/>
              </a:defRPr>
            </a:pPr>
            <a:r>
              <a:t>🎤 Formati i Prezantimit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5 Minuta Prezantim Live: Çdo student prezanton me telefonin e vet.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Projektori i Madh: Ekrani i celularit pasqyrohet para gjithë sallës.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Simulim i Porosisë: Kryeni një porosi ose veprim live në kohë reale.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Pyetje Teknike: Shpjegoni arkitekturën e kodit para profesorit!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🌟 Çfarë Fitoni në Fund?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Notë Maksimale: Vlerësim i merituar për kodin dhe punën tuaj reale.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Zgjidhje për Biznesin: Biznesi familjar/lokal fiton një sistem funksional.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Portofol Digjital: Një link publik në internet për rezymenë tuaj.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Besim i Plotë: Bindja se mund të ndërtoni çdo softuer nga fillimi!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EVIDENCA ZYRTARE E ORËS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Nxirrni Telefonat: Check-In i Pjesëmarrjes!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Regjistroni praninë tuaj në ligjëratë ose laborator brenda dritares 2-minutëshe.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68580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6309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38BDF8"/>
                </a:solidFill>
                <a:latin typeface="Inter"/>
              </a:defRPr>
            </a:pPr>
            <a:r>
              <a:t>1️⃣ Skanoni QR Kodin: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Hapni shfletuesin në arbenl.github.io/#checkin</a:t>
            </a:r>
          </a:p>
          <a:p>
            <a:pPr>
              <a:defRPr sz="2100" b="1">
                <a:solidFill>
                  <a:srgbClr val="38BDF8"/>
                </a:solidFill>
                <a:latin typeface="Inter"/>
              </a:defRPr>
            </a:pPr>
            <a:r>
              <a:t>2️⃣ Zgjidhni Seancën: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Zgjidhni [ 📚 Ligjëratë ] ose [ 🧪 Ushtrime (Lab) ]</a:t>
            </a:r>
          </a:p>
          <a:p>
            <a:pPr>
              <a:defRPr sz="2100" b="1">
                <a:solidFill>
                  <a:srgbClr val="38BDF8"/>
                </a:solidFill>
                <a:latin typeface="Inter"/>
              </a:defRPr>
            </a:pPr>
            <a:r>
              <a:t>3️⃣ Shënoni Të Dhënat &amp; PIN-in:</a:t>
            </a:r>
          </a:p>
          <a:p>
            <a:pPr>
              <a:spcAft>
                <a:spcPts val="800"/>
              </a:spcAft>
              <a:defRPr sz="1800">
                <a:solidFill>
                  <a:srgbClr val="E2E8F0"/>
                </a:solidFill>
                <a:latin typeface="Inter"/>
              </a:defRPr>
            </a:pPr>
            <a:r>
              <a:t>ID e studentit, emri, emaili AAB dhe kodi PIN.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572000"/>
            <a:ext cx="6309360" cy="164592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663440"/>
            <a:ext cx="6126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  <a:defRPr sz="1600" b="1">
                <a:solidFill>
                  <a:srgbClr val="F59E0B"/>
                </a:solidFill>
                <a:latin typeface="Inter"/>
              </a:defRPr>
            </a:pPr>
            <a:r>
              <a:t>🔑 KODI PIN I SEANCËS SOT (DRITARE 2 MINUTA):</a:t>
            </a:r>
          </a:p>
          <a:p>
            <a:pPr algn="ctr">
              <a:defRPr sz="4400" b="1">
                <a:solidFill>
                  <a:srgbClr val="FFFFFF"/>
                </a:solidFill>
                <a:latin typeface="Inter"/>
              </a:defRPr>
            </a:pPr>
            <a:r>
              <a:t>8 4 9 2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2011680"/>
            <a:ext cx="347472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_master_check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0"/>
            <a:ext cx="2743200" cy="274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46720" y="512064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Inter"/>
              </a:defRPr>
            </a:pPr>
            <a:r>
              <a:t>SKANO PËR CHECK-IN</a:t>
            </a:r>
          </a:p>
          <a:p>
            <a:pPr algn="ctr">
              <a:defRPr sz="1600">
                <a:solidFill>
                  <a:srgbClr val="FFFFFF"/>
                </a:solidFill>
                <a:latin typeface="Inter"/>
              </a:defRPr>
            </a:pPr>
            <a:r>
              <a:t>arbenl.github.io/#checkin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AKSIONI FILLON TANI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Sprinti Praktik: Gati për Semestrin!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Në 15 minutat e ardhshme lidhim të gjitha platformat zhvillimore në telefon.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68580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38BDF8"/>
                </a:solidFill>
                <a:latin typeface="Inter"/>
              </a:defRPr>
            </a:pPr>
            <a:r>
              <a:t>1️⃣ GitHub Student Pack: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Përfitoni Copilot Pro Falas me emailin AAB</a:t>
            </a:r>
          </a:p>
          <a:p>
            <a:pPr>
              <a:defRPr sz="2300" b="1">
                <a:solidFill>
                  <a:srgbClr val="38BDF8"/>
                </a:solidFill>
                <a:latin typeface="Inter"/>
              </a:defRPr>
            </a:pPr>
            <a:r>
              <a:t>2️⃣ Supabase Cloud: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Kyçuni me 1 klik (Sign in with GitHub)</a:t>
            </a:r>
          </a:p>
          <a:p>
            <a:pPr>
              <a:defRPr sz="2300" b="1">
                <a:solidFill>
                  <a:srgbClr val="38BDF8"/>
                </a:solidFill>
                <a:latin typeface="Inter"/>
              </a:defRPr>
            </a:pPr>
            <a:r>
              <a:t>3️⃣ Vercel Deployment: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Lidhni llogarinë për deploy live me git push</a:t>
            </a:r>
          </a:p>
          <a:p>
            <a:pPr>
              <a:defRPr sz="2300" b="1">
                <a:solidFill>
                  <a:srgbClr val="38BDF8"/>
                </a:solidFill>
                <a:latin typeface="Inter"/>
              </a:defRPr>
            </a:pPr>
            <a:r>
              <a:t>🌐 Ruani Portalin:</a:t>
            </a:r>
          </a:p>
          <a:p>
            <a:pPr>
              <a:spcAft>
                <a:spcPts val="14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Shtoni arbenl.github.io në Homescreen të telefonit!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2011680"/>
            <a:ext cx="347472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master_por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286000"/>
            <a:ext cx="2560320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49377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Inter"/>
              </a:defRPr>
            </a:pPr>
            <a:r>
              <a:t>SKANO PORTALIN</a:t>
            </a:r>
          </a:p>
          <a:p>
            <a:pPr algn="ctr">
              <a:defRPr sz="1700">
                <a:solidFill>
                  <a:srgbClr val="FFFFFF"/>
                </a:solidFill>
                <a:latin typeface="Inter"/>
              </a:defRPr>
            </a:pPr>
            <a:r>
              <a:t>Hapni portalin e kursit</a:t>
            </a:r>
            <a:br/>
            <a:r>
              <a:t>arbenl.github.io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HAPI 1 • PAKOJA E STUDENTIT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Aktivizoni GitHub Copilot Pro Falas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Përfitoni paketën me vlerë 100$/vit pa pagesë përmes Kolegjit AAB.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685800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FFFFFF"/>
                </a:solidFill>
                <a:latin typeface="Inter"/>
              </a:defRPr>
            </a:pPr>
            <a:r>
              <a:t>✉️ Përdorni Emailin Zyrtar AAB:</a:t>
            </a:r>
          </a:p>
          <a:p>
            <a:pPr>
              <a:spcAft>
                <a:spcPts val="18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Format: emri.mbiemri@universitetiaab.com në llogarinë tuaj GitHub.</a:t>
            </a:r>
          </a:p>
          <a:p>
            <a:pPr>
              <a:defRPr sz="2300" b="1">
                <a:solidFill>
                  <a:srgbClr val="FFFFFF"/>
                </a:solidFill>
                <a:latin typeface="Inter"/>
              </a:defRPr>
            </a:pPr>
            <a:r>
              <a:t>🎓 Klikoni 'Get Student Benefits':</a:t>
            </a:r>
          </a:p>
          <a:p>
            <a:pPr>
              <a:spcAft>
                <a:spcPts val="18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Ngarkoni foton e kartelës studentore ose vërtetimin e vitit.</a:t>
            </a:r>
          </a:p>
          <a:p>
            <a:pPr>
              <a:defRPr sz="2300" b="1">
                <a:solidFill>
                  <a:srgbClr val="FFFFFF"/>
                </a:solidFill>
                <a:latin typeface="Inter"/>
              </a:defRPr>
            </a:pPr>
            <a:r>
              <a:t>🤖 Copilot Aktivizohet Menjëherë:</a:t>
            </a:r>
          </a:p>
          <a:p>
            <a:pPr>
              <a:spcAft>
                <a:spcPts val="18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Akses falas i pakufizuar në VS Code për gjatë gjithë studimeve!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2011680"/>
            <a:ext cx="347472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_master_github_p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2286000"/>
            <a:ext cx="2743200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512064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0B981"/>
                </a:solidFill>
                <a:latin typeface="Inter"/>
              </a:defRPr>
            </a:pPr>
            <a:r>
              <a:t>SKANO PËR COPILOT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HAPAT 2 &amp; 3 • INFRASTRUKTURA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Supabase &amp; Vercel: Kyçja me 1-Kliko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Nuk keni nevojë për fjalëkalime të reja — zgjidhni 'Continue with GitHub'.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master_sup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86000"/>
            <a:ext cx="2194560" cy="2194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383280" y="2194560"/>
            <a:ext cx="2286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10B981"/>
                </a:solidFill>
                <a:latin typeface="Inter"/>
              </a:defRPr>
            </a:pPr>
            <a:r>
              <a:t>🗄️ SUPABASE</a:t>
            </a:r>
          </a:p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• Skanoni QR kodin</a:t>
            </a:r>
            <a:br/>
            <a:r>
              <a:t>• 'Sign in with GitHub'</a:t>
            </a:r>
            <a:br/>
            <a:r>
              <a:t>• Databaza PostgreSQL &amp; Auth gati për aplikacionin tuaj!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qr_master_verc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286000"/>
            <a:ext cx="2194560" cy="2194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961120" y="2194560"/>
            <a:ext cx="2286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38BDF8"/>
                </a:solidFill>
                <a:latin typeface="Inter"/>
              </a:defRPr>
            </a:pPr>
            <a:r>
              <a:t>🚀 VERCEL</a:t>
            </a:r>
          </a:p>
          <a:p>
            <a:pPr>
              <a:defRPr sz="1900">
                <a:solidFill>
                  <a:srgbClr val="E2E8F0"/>
                </a:solidFill>
                <a:latin typeface="Inter"/>
              </a:defRPr>
            </a:pPr>
            <a:r>
              <a:t>• Skanoni QR kodin</a:t>
            </a:r>
            <a:br/>
            <a:r>
              <a:t>• 'Continue with GitHub'</a:t>
            </a:r>
            <a:br/>
            <a:r>
              <a:t>• Publikimi live bëhet automatik me çdo git push!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  <a:latin typeface="Inter"/>
              </a:defRPr>
            </a:pPr>
            <a:r>
              <a:t>PLANI I VEPRIMIT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Inter"/>
              </a:defRPr>
            </a:pPr>
            <a:r>
              <a:t>Gati për Javën e Dytë në Laborator!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4475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E2E8F0"/>
                </a:solidFill>
                <a:latin typeface="Inter"/>
              </a:defRPr>
            </a:pPr>
            <a:r>
              <a:t>Hapat konkretë deri në takimin tonë të ardhshëm praktik.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10B981"/>
                </a:solidFill>
                <a:latin typeface="Inter"/>
              </a:defRPr>
            </a:pPr>
            <a:r>
              <a:t>📋 Detyrat para Javës 2:</a:t>
            </a:r>
          </a:p>
          <a:p>
            <a:pPr>
              <a:spcAft>
                <a:spcPts val="12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Zgjidhni biznesin lokal (familjar, mik, apo lokal në lagje).</a:t>
            </a:r>
          </a:p>
          <a:p>
            <a:pPr>
              <a:spcAft>
                <a:spcPts val="12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Bisedoni me ta: Cili është procesi që duan ta digjitalizojnë?</a:t>
            </a:r>
          </a:p>
          <a:p>
            <a:pPr>
              <a:spcAft>
                <a:spcPts val="12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Verifikoni miratimin e GitHub Student Pack në email.</a:t>
            </a:r>
          </a:p>
          <a:p>
            <a:pPr>
              <a:spcAft>
                <a:spcPts val="12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Instaloni VS Code &amp; GitHub Copilot Extension në laptop.</a:t>
            </a:r>
          </a:p>
          <a:p>
            <a:pPr>
              <a:spcAft>
                <a:spcPts val="12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• Ruani portalin arbenl.github.io në Homescreen të telefonit!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011680"/>
            <a:ext cx="5120640" cy="4389120"/>
          </a:xfrm>
          <a:prstGeom prst="roundRect">
            <a:avLst/>
          </a:prstGeom>
          <a:solidFill>
            <a:srgbClr val="141E34"/>
          </a:solidFill>
          <a:ln w="317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28600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500" b="1">
                <a:solidFill>
                  <a:srgbClr val="38BDF8"/>
                </a:solidFill>
                <a:latin typeface="Inter"/>
              </a:defRPr>
            </a:pPr>
            <a:r>
              <a:t>🏛️ Burimet &amp; Mbështetja:</a:t>
            </a:r>
          </a:p>
          <a:p>
            <a:pPr>
              <a:spcAft>
                <a:spcPts val="12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🌐 Portali Zyrtar: arbenl.github.io</a:t>
            </a:r>
          </a:p>
          <a:p>
            <a:pPr>
              <a:spcAft>
                <a:spcPts val="12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✉️ E-maili Zyrtar: arben.lila@universitetiaab.com</a:t>
            </a:r>
          </a:p>
          <a:p>
            <a:pPr>
              <a:spcAft>
                <a:spcPts val="12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⏱️ Konsultat Online: Mërkurë, 15:00 — 16:30</a:t>
            </a:r>
          </a:p>
          <a:p>
            <a:pPr>
              <a:spcAft>
                <a:spcPts val="12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🏫 Laboratori AAB: Prishtinë, Salla e Kompjuterëve</a:t>
            </a:r>
          </a:p>
          <a:p>
            <a:pPr>
              <a:spcAft>
                <a:spcPts val="1200"/>
              </a:spcAft>
              <a:defRPr sz="2000">
                <a:solidFill>
                  <a:srgbClr val="E2E8F0"/>
                </a:solidFill>
                <a:latin typeface="Inter"/>
              </a:defRPr>
            </a:pPr>
            <a:r>
              <a:t>🚀 Java 2: Fillojmë direkt me kodimin e Next.js 15!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