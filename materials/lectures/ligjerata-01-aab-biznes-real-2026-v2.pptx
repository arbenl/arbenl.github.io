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1.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fa30d9057a14442" /><Relationship Type="http://schemas.openxmlformats.org/officeDocument/2006/relationships/extended-properties" Target="/docProps/app.xml" Id="R899691ba45c94719" /><Relationship Type="http://schemas.openxmlformats.org/officeDocument/2006/relationships/officeDocument" Target="/ppt/presentation.xml" Id="R7db5f84429ff46ac" /></Relationships>
</file>

<file path=ppt/presentation.xml><?xml version="1.0" encoding="utf-8"?>
<p:presentation xmlns:p="http://schemas.openxmlformats.org/presentationml/2006/main">
  <p:sldMasterIdLst>
    <p:sldMasterId xmlns:r="http://schemas.openxmlformats.org/officeDocument/2006/relationships" id="2147483648" r:id="R23ed594d3c874fff"/>
  </p:sldMasterIdLst>
  <p:notesMasterIdLst>
    <p:notesMasterId xmlns:r="http://schemas.openxmlformats.org/officeDocument/2006/relationships" r:id="Ra1f16731bfa54551"/>
  </p:notesMasterIdLst>
  <p:sldIdLst>
    <p:sldId xmlns:r="http://schemas.openxmlformats.org/officeDocument/2006/relationships" id="256" r:id="R680531d7c8d64170"/>
    <p:sldId xmlns:r="http://schemas.openxmlformats.org/officeDocument/2006/relationships" id="257" r:id="Rff792a8fc6b64130"/>
    <p:sldId xmlns:r="http://schemas.openxmlformats.org/officeDocument/2006/relationships" id="258" r:id="Rec8b5cd0ac2947a1"/>
    <p:sldId xmlns:r="http://schemas.openxmlformats.org/officeDocument/2006/relationships" id="259" r:id="Rc976631b983c4f0d"/>
    <p:sldId xmlns:r="http://schemas.openxmlformats.org/officeDocument/2006/relationships" id="260" r:id="R6929fd60dd9e43d1"/>
    <p:sldId xmlns:r="http://schemas.openxmlformats.org/officeDocument/2006/relationships" id="261" r:id="R95a9336130cb4c3d"/>
    <p:sldId xmlns:r="http://schemas.openxmlformats.org/officeDocument/2006/relationships" id="262" r:id="R3ab32a06e8354b1f"/>
    <p:sldId xmlns:r="http://schemas.openxmlformats.org/officeDocument/2006/relationships" id="263" r:id="R6fef2d2775ca4193"/>
    <p:sldId xmlns:r="http://schemas.openxmlformats.org/officeDocument/2006/relationships" id="264" r:id="R3e7df30a18d9477c"/>
    <p:sldId xmlns:r="http://schemas.openxmlformats.org/officeDocument/2006/relationships" id="265" r:id="Re0e13d699e0340e8"/>
    <p:sldId xmlns:r="http://schemas.openxmlformats.org/officeDocument/2006/relationships" id="266" r:id="R61c1f25830d0435d"/>
    <p:sldId xmlns:r="http://schemas.openxmlformats.org/officeDocument/2006/relationships" id="267" r:id="R6119d367e4b04c54"/>
    <p:sldId xmlns:r="http://schemas.openxmlformats.org/officeDocument/2006/relationships" id="268" r:id="R59b8de1e50604a3c"/>
    <p:sldId xmlns:r="http://schemas.openxmlformats.org/officeDocument/2006/relationships" id="269" r:id="R7fa0640df4204a27"/>
    <p:sldId xmlns:r="http://schemas.openxmlformats.org/officeDocument/2006/relationships" id="270" r:id="Rd9b32368748c4db5"/>
    <p:sldId xmlns:r="http://schemas.openxmlformats.org/officeDocument/2006/relationships" id="271" r:id="R182f79178dae4434"/>
    <p:sldId xmlns:r="http://schemas.openxmlformats.org/officeDocument/2006/relationships" id="272" r:id="Rd5de8247305f487e"/>
    <p:sldId xmlns:r="http://schemas.openxmlformats.org/officeDocument/2006/relationships" id="273" r:id="R858f6b8de79542ac"/>
    <p:sldId xmlns:r="http://schemas.openxmlformats.org/officeDocument/2006/relationships" id="274" r:id="Rab9e0b49b5a244ce"/>
    <p:sldId xmlns:r="http://schemas.openxmlformats.org/officeDocument/2006/relationships" id="275" r:id="Rd7b1e3376daf4253"/>
    <p:sldId xmlns:r="http://schemas.openxmlformats.org/officeDocument/2006/relationships" id="276" r:id="R94e51465628e403b"/>
    <p:sldId xmlns:r="http://schemas.openxmlformats.org/officeDocument/2006/relationships" id="277" r:id="Refbbdaebd851445d"/>
    <p:sldId xmlns:r="http://schemas.openxmlformats.org/officeDocument/2006/relationships" id="278" r:id="R7fe04622b0274ac7"/>
    <p:sldId xmlns:r="http://schemas.openxmlformats.org/officeDocument/2006/relationships" id="279" r:id="R721e7f2c1b9a438b"/>
    <p:sldId xmlns:r="http://schemas.openxmlformats.org/officeDocument/2006/relationships" id="280" r:id="Rb9529caa9c6c457e"/>
    <p:sldId xmlns:r="http://schemas.openxmlformats.org/officeDocument/2006/relationships" id="281" r:id="Rffe8cf25171c4459"/>
    <p:sldId xmlns:r="http://schemas.openxmlformats.org/officeDocument/2006/relationships" id="282" r:id="R72c4436e3bd14980"/>
    <p:sldId xmlns:r="http://schemas.openxmlformats.org/officeDocument/2006/relationships" id="283" r:id="R9d46f5b0ad4e4755"/>
    <p:sldId xmlns:r="http://schemas.openxmlformats.org/officeDocument/2006/relationships" id="284" r:id="R7279bdfd901941c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aba3a16fe234df5" /><Relationship Type="http://schemas.openxmlformats.org/officeDocument/2006/relationships/slideMaster" Target="/ppt/slideMasters/slideMaster1.xml" Id="R23ed594d3c874fff" /><Relationship Type="http://schemas.openxmlformats.org/officeDocument/2006/relationships/notesMaster" Target="/ppt/notesMasters/notesMaster1.xml" Id="Ra1f16731bfa54551" /><Relationship Type="http://schemas.openxmlformats.org/officeDocument/2006/relationships/presProps" Target="/ppt/presProps.xml" Id="Rcd21ae74e0bc4332" /><Relationship Type="http://schemas.openxmlformats.org/officeDocument/2006/relationships/tableStyles" Target="/ppt/tableStyles.xml" Id="R508c1a1e3e6f43f5" /><Relationship Type="http://schemas.openxmlformats.org/officeDocument/2006/relationships/slide" Target="/ppt/slides/slide1.xml" Id="R680531d7c8d64170" /><Relationship Type="http://schemas.openxmlformats.org/officeDocument/2006/relationships/slide" Target="/ppt/slides/slide2.xml" Id="Rff792a8fc6b64130" /><Relationship Type="http://schemas.openxmlformats.org/officeDocument/2006/relationships/slide" Target="/ppt/slides/slide3.xml" Id="Rec8b5cd0ac2947a1" /><Relationship Type="http://schemas.openxmlformats.org/officeDocument/2006/relationships/slide" Target="/ppt/slides/slide4.xml" Id="Rc976631b983c4f0d" /><Relationship Type="http://schemas.openxmlformats.org/officeDocument/2006/relationships/slide" Target="/ppt/slides/slide5.xml" Id="R6929fd60dd9e43d1" /><Relationship Type="http://schemas.openxmlformats.org/officeDocument/2006/relationships/slide" Target="/ppt/slides/slide6.xml" Id="R95a9336130cb4c3d" /><Relationship Type="http://schemas.openxmlformats.org/officeDocument/2006/relationships/slide" Target="/ppt/slides/slide7.xml" Id="R3ab32a06e8354b1f" /><Relationship Type="http://schemas.openxmlformats.org/officeDocument/2006/relationships/slide" Target="/ppt/slides/slide8.xml" Id="R6fef2d2775ca4193" /><Relationship Type="http://schemas.openxmlformats.org/officeDocument/2006/relationships/slide" Target="/ppt/slides/slide9.xml" Id="R3e7df30a18d9477c" /><Relationship Type="http://schemas.openxmlformats.org/officeDocument/2006/relationships/slide" Target="/ppt/slides/slide10.xml" Id="Re0e13d699e0340e8" /><Relationship Type="http://schemas.openxmlformats.org/officeDocument/2006/relationships/slide" Target="/ppt/slides/slide11.xml" Id="R61c1f25830d0435d" /><Relationship Type="http://schemas.openxmlformats.org/officeDocument/2006/relationships/slide" Target="/ppt/slides/slide12.xml" Id="R6119d367e4b04c54" /><Relationship Type="http://schemas.openxmlformats.org/officeDocument/2006/relationships/slide" Target="/ppt/slides/slide13.xml" Id="R59b8de1e50604a3c" /><Relationship Type="http://schemas.openxmlformats.org/officeDocument/2006/relationships/slide" Target="/ppt/slides/slide14.xml" Id="R7fa0640df4204a27" /><Relationship Type="http://schemas.openxmlformats.org/officeDocument/2006/relationships/slide" Target="/ppt/slides/slide15.xml" Id="Rd9b32368748c4db5" /><Relationship Type="http://schemas.openxmlformats.org/officeDocument/2006/relationships/slide" Target="/ppt/slides/slide16.xml" Id="R182f79178dae4434" /><Relationship Type="http://schemas.openxmlformats.org/officeDocument/2006/relationships/slide" Target="/ppt/slides/slide17.xml" Id="Rd5de8247305f487e" /><Relationship Type="http://schemas.openxmlformats.org/officeDocument/2006/relationships/slide" Target="/ppt/slides/slide18.xml" Id="R858f6b8de79542ac" /><Relationship Type="http://schemas.openxmlformats.org/officeDocument/2006/relationships/slide" Target="/ppt/slides/slide19.xml" Id="Rab9e0b49b5a244ce" /><Relationship Type="http://schemas.openxmlformats.org/officeDocument/2006/relationships/slide" Target="/ppt/slides/slide20.xml" Id="Rd7b1e3376daf4253" /><Relationship Type="http://schemas.openxmlformats.org/officeDocument/2006/relationships/slide" Target="/ppt/slides/slide21.xml" Id="R94e51465628e403b" /><Relationship Type="http://schemas.openxmlformats.org/officeDocument/2006/relationships/slide" Target="/ppt/slides/slide22.xml" Id="Refbbdaebd851445d" /><Relationship Type="http://schemas.openxmlformats.org/officeDocument/2006/relationships/slide" Target="/ppt/slides/slide23.xml" Id="R7fe04622b0274ac7" /><Relationship Type="http://schemas.openxmlformats.org/officeDocument/2006/relationships/slide" Target="/ppt/slides/slide24.xml" Id="R721e7f2c1b9a438b" /><Relationship Type="http://schemas.openxmlformats.org/officeDocument/2006/relationships/slide" Target="/ppt/slides/slide25.xml" Id="Rb9529caa9c6c457e" /><Relationship Type="http://schemas.openxmlformats.org/officeDocument/2006/relationships/slide" Target="/ppt/slides/slide26.xml" Id="Rffe8cf25171c4459" /><Relationship Type="http://schemas.openxmlformats.org/officeDocument/2006/relationships/slide" Target="/ppt/slides/slide27.xml" Id="R72c4436e3bd14980" /><Relationship Type="http://schemas.openxmlformats.org/officeDocument/2006/relationships/slide" Target="/ppt/slides/slide28.xml" Id="R9d46f5b0ad4e4755" /><Relationship Type="http://schemas.openxmlformats.org/officeDocument/2006/relationships/slide" Target="/ppt/slides/slide29.xml" Id="R7279bdfd901941c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8e06cb3581a4a6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f8210ecbf9d4a88" /><Relationship Type="http://schemas.openxmlformats.org/officeDocument/2006/relationships/notesMaster" Target="/ppt/notesMasters/notesMaster1.xml" Id="Ree1b4b65b3494ff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d67d42376604858" /><Relationship Type="http://schemas.openxmlformats.org/officeDocument/2006/relationships/notesMaster" Target="/ppt/notesMasters/notesMaster1.xml" Id="Rdecf6cf61cb94c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9a8b89f492084782" /><Relationship Type="http://schemas.openxmlformats.org/officeDocument/2006/relationships/notesMaster" Target="/ppt/notesMasters/notesMaster1.xml" Id="R599baa7879e84b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0ca9925c20846c2" /><Relationship Type="http://schemas.openxmlformats.org/officeDocument/2006/relationships/notesMaster" Target="/ppt/notesMasters/notesMaster1.xml" Id="R7343ac0e1f5e40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b16946ef8a924001" /><Relationship Type="http://schemas.openxmlformats.org/officeDocument/2006/relationships/notesMaster" Target="/ppt/notesMasters/notesMaster1.xml" Id="R0a7585370e3b40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41a4087f680e45de" /><Relationship Type="http://schemas.openxmlformats.org/officeDocument/2006/relationships/notesMaster" Target="/ppt/notesMasters/notesMaster1.xml" Id="Rb856646ec8c44865" /></Relationships>
</file>

<file path=ppt/notesSlides/_rels/notesSlide7.xml.rels>&#65279;<?xml version="1.0" encoding="utf-8"?><Relationships xmlns="http://schemas.openxmlformats.org/package/2006/relationships"><Relationship Type="http://schemas.openxmlformats.org/officeDocument/2006/relationships/slide" Target="/ppt/slides/slide7.xml" Id="R25d9523e81f84582" /><Relationship Type="http://schemas.openxmlformats.org/officeDocument/2006/relationships/notesMaster" Target="/ppt/notesMasters/notesMaster1.xml" Id="Rcf523d449d6745c5" /></Relationships>
</file>

<file path=ppt/notesSlides/_rels/notesSlide8.xml.rels>&#65279;<?xml version="1.0" encoding="utf-8"?><Relationships xmlns="http://schemas.openxmlformats.org/package/2006/relationships"><Relationship Type="http://schemas.openxmlformats.org/officeDocument/2006/relationships/slide" Target="/ppt/slides/slide8.xml" Id="R2da60a7c1c254f1b" /><Relationship Type="http://schemas.openxmlformats.org/officeDocument/2006/relationships/notesMaster" Target="/ppt/notesMasters/notesMaster1.xml" Id="R6706760f08ee403a" /></Relationships>
</file>

<file path=ppt/notesSlides/_rels/notesSlide9.xml.rels>&#65279;<?xml version="1.0" encoding="utf-8"?><Relationships xmlns="http://schemas.openxmlformats.org/package/2006/relationships"><Relationship Type="http://schemas.openxmlformats.org/officeDocument/2006/relationships/slide" Target="/ppt/slides/slide9.xml" Id="Re540d42e9f4a4067" /><Relationship Type="http://schemas.openxmlformats.org/officeDocument/2006/relationships/notesMaster" Target="/ppt/notesMasters/notesMaster1.xml" Id="R7c94f4f348b345e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a0fad59c5184e12" /><Relationship Type="http://schemas.openxmlformats.org/officeDocument/2006/relationships/notesMaster" Target="/ppt/notesMasters/notesMaster1.xml" Id="R1f203754ebb845d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32e530621549f3" /><Relationship Type="http://schemas.openxmlformats.org/officeDocument/2006/relationships/notesMaster" Target="/ppt/notesMasters/notesMaster1.xml" Id="Rd5ed8d843b364d4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5953c80620d4b15" /><Relationship Type="http://schemas.openxmlformats.org/officeDocument/2006/relationships/notesMaster" Target="/ppt/notesMasters/notesMaster1.xml" Id="Rfaa5dcf49ac649e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01ab1eb3f1446f1" /><Relationship Type="http://schemas.openxmlformats.org/officeDocument/2006/relationships/notesMaster" Target="/ppt/notesMasters/notesMaster1.xml" Id="R378de806ed3143e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ec382ace7a74434" /><Relationship Type="http://schemas.openxmlformats.org/officeDocument/2006/relationships/notesMaster" Target="/ppt/notesMasters/notesMaster1.xml" Id="Rcdc38d2a5b6c4c7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a3f3ff3ecc149e9" /><Relationship Type="http://schemas.openxmlformats.org/officeDocument/2006/relationships/notesMaster" Target="/ppt/notesMasters/notesMaster1.xml" Id="R49de5d66af7b41b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d88c5d45f6348a7" /><Relationship Type="http://schemas.openxmlformats.org/officeDocument/2006/relationships/notesMaster" Target="/ppt/notesMasters/notesMaster1.xml" Id="R3f43543c103341b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e51b2cb1cb44353" /><Relationship Type="http://schemas.openxmlformats.org/officeDocument/2006/relationships/notesMaster" Target="/ppt/notesMasters/notesMaster1.xml" Id="R8ff93c1fc587438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154eb6187eb496c" /><Relationship Type="http://schemas.openxmlformats.org/officeDocument/2006/relationships/notesMaster" Target="/ppt/notesMasters/notesMaster1.xml" Id="Refe7598ed2734b3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764aca294b04290" /><Relationship Type="http://schemas.openxmlformats.org/officeDocument/2006/relationships/notesMaster" Target="/ppt/notesMasters/notesMaster1.xml" Id="Racc627df336c4d1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3d033bc43a048b0" /><Relationship Type="http://schemas.openxmlformats.org/officeDocument/2006/relationships/notesMaster" Target="/ppt/notesMasters/notesMaster1.xml" Id="Rcb7d62ac1d5f489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b3d864a9e82471c" /><Relationship Type="http://schemas.openxmlformats.org/officeDocument/2006/relationships/notesMaster" Target="/ppt/notesMasters/notesMaster1.xml" Id="R0c27f02ba2b0411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b95add62f91478d" /><Relationship Type="http://schemas.openxmlformats.org/officeDocument/2006/relationships/notesMaster" Target="/ppt/notesMasters/notesMaster1.xml" Id="R9e55b15f7b1845a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e6ae485778546f0" /><Relationship Type="http://schemas.openxmlformats.org/officeDocument/2006/relationships/notesMaster" Target="/ppt/notesMasters/notesMaster1.xml" Id="R3b10a5a570574e5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a6df28a301c47da" /><Relationship Type="http://schemas.openxmlformats.org/officeDocument/2006/relationships/notesMaster" Target="/ppt/notesMasters/notesMaster1.xml" Id="R20d1a4ed54474ff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b0e273861164f3d" /><Relationship Type="http://schemas.openxmlformats.org/officeDocument/2006/relationships/notesMaster" Target="/ppt/notesMasters/notesMaster1.xml" Id="R4941fe1185ec4df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adee5ae0e1b48ec" /><Relationship Type="http://schemas.openxmlformats.org/officeDocument/2006/relationships/notesMaster" Target="/ppt/notesMasters/notesMaster1.xml" Id="R543a9058ccec4b3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9f6e951f98840c1" /><Relationship Type="http://schemas.openxmlformats.org/officeDocument/2006/relationships/notesMaster" Target="/ppt/notesMasters/notesMaster1.xml" Id="R47d37701b19144c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a29656627684e39" /><Relationship Type="http://schemas.openxmlformats.org/officeDocument/2006/relationships/notesMaster" Target="/ppt/notesMasters/notesMaster1.xml" Id="Rd26bd6c08a1d4f1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9f98a4d8f364d29" /><Relationship Type="http://schemas.openxmlformats.org/officeDocument/2006/relationships/notesMaster" Target="/ppt/notesMasters/notesMaster1.xml" Id="R87841128e7bb4b7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1: Këtë semestër, ju krijoni</a:t>
            </a:r>
          </a:p>
          <a:p xmlns:a="http://schemas.openxmlformats.org/drawingml/2006/main">
            <a:r>
              <a:t>KOHA: 00:00–03:00 | FAZA: Hyrja</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ta shohë telefonin si vend ku mund të shpërndajë zgjidhjen e vet dhe ta lidhë kursin me një problem të përjetuar.</a:t>
            </a:r>
          </a:p>
          <a:p xmlns:a="http://schemas.openxmlformats.org/drawingml/2006/main">
            <a:r>
              <a:t/>
            </a:r>
          </a:p>
          <a:p xmlns:a="http://schemas.openxmlformats.org/drawingml/2006/main">
            <a:r>
              <a:t>SKENARI I PROFESORIT</a:t>
            </a:r>
          </a:p>
          <a:p xmlns:a="http://schemas.openxmlformats.org/drawingml/2006/main">
            <a:r>
              <a:t>Nxirreni telefonin për një moment. Mendoni për aplikacionin e fundit që hapët sot. Dikush ka vendosur çfarë ju shfaqet, çfarë mund të bëni dhe çfarë ndodh kur diçka dështon.</a:t>
            </a:r>
          </a:p>
          <a:p xmlns:a="http://schemas.openxmlformats.org/drawingml/2006/main">
            <a:r>
              <a:t/>
            </a:r>
          </a:p>
          <a:p xmlns:a="http://schemas.openxmlformats.org/drawingml/2006/main">
            <a:r>
              <a:t>Këtë semestër, këto vendime do t’i merrni ju.</a:t>
            </a:r>
          </a:p>
          <a:p xmlns:a="http://schemas.openxmlformats.org/drawingml/2006/main">
            <a:r>
              <a:t/>
            </a:r>
          </a:p>
          <a:p xmlns:a="http://schemas.openxmlformats.org/drawingml/2006/main">
            <a:r>
              <a:t>Do të ndërtoni një produkt që hapet në telefon dhe zgjidh një problem të përcaktuar. Do ta provoni me përdorues dhe do të shpjegoni pse funksionon.</a:t>
            </a:r>
          </a:p>
          <a:p xmlns:a="http://schemas.openxmlformats.org/drawingml/2006/main">
            <a:r>
              <a:t/>
            </a:r>
          </a:p>
          <a:p xmlns:a="http://schemas.openxmlformats.org/drawingml/2006/main">
            <a:r>
              <a:t>Le ta fillojmë nga mëngjesi juaj. Kush ka pasur pasiguri sot rreth transportit, kohës së nisjes ose mbërritjes në kampus?</a:t>
            </a:r>
          </a:p>
          <a:p xmlns:a="http://schemas.openxmlformats.org/drawingml/2006/main">
            <a:r>
              <a:t/>
            </a:r>
          </a:p>
          <a:p xmlns:a="http://schemas.openxmlformats.org/drawingml/2006/main">
            <a:r>
              <a:t>Mbajeni mend atë moment. Ai mund të jetë fillimi i një kërkese softuerike.</a:t>
            </a:r>
          </a:p>
          <a:p xmlns:a="http://schemas.openxmlformats.org/drawingml/2006/main">
            <a:r>
              <a:t/>
            </a:r>
          </a:p>
          <a:p xmlns:a="http://schemas.openxmlformats.org/drawingml/2006/main">
            <a:r>
              <a:t>PYETJA INTERAKTIVE</a:t>
            </a:r>
          </a:p>
          <a:p xmlns:a="http://schemas.openxmlformats.org/drawingml/2006/main">
            <a:r>
              <a:t>Cili ishte momenti i fundit kur telefoni juaj mund t’ju kishte ndihmuar më mirë gjatë ardhjes në fakultet?</a:t>
            </a:r>
          </a:p>
          <a:p xmlns:a="http://schemas.openxmlformats.org/drawingml/2006/main">
            <a:r>
              <a:t/>
            </a:r>
          </a:p>
          <a:p xmlns:a="http://schemas.openxmlformats.org/drawingml/2006/main">
            <a:r>
              <a:t>UDHËZIMI</a:t>
            </a:r>
          </a:p>
          <a:p xmlns:a="http://schemas.openxmlformats.org/drawingml/2006/main">
            <a:r>
              <a:t>1 minutë. Merrni dy përgjigje dhe kërkoni situatë konkrete.</a:t>
            </a:r>
          </a:p>
          <a:p xmlns:a="http://schemas.openxmlformats.org/drawingml/2006/main">
            <a:r>
              <a:t/>
            </a:r>
          </a:p>
          <a:p xmlns:a="http://schemas.openxmlformats.org/drawingml/2006/main">
            <a:r>
              <a:t>PARALAJMËRIMI INXHINIERIK</a:t>
            </a:r>
          </a:p>
          <a:p xmlns:a="http://schemas.openxmlformats.org/drawingml/2006/main">
            <a:r>
              <a:t>Një ndërfaqe bindëse mund të demonstrojë pamjen e një zgjidhjeje përpara se të ekzistojë zgjidhja.</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Çdo student zgjedh një biznes familjar ose një biznes tjetër me një person kontaktues. Gjatë semestrit zhvilloni individualisht një aplikacion Next.js që zgjidh një nevojë të qartë të tij. Përdorni të njëjtin repository dhe përmirësojeni çdo javë. Në fund demonstroni aplikacionin nga telefoni dhe shpjegoni vendimet tuaja. RideShare mbetet shembulli ynë në ligjërata, jo tema e detyrueshme për të gjithë. Pyetja: cilin biznes mund ta kontaktoni këtë javë?</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Këto janë shembuj, jo një listë e mbyllur. Salloni mund të ketë problem me rezervimet e dyfishta. Servisi mund të ketë telefonata të shpeshta për statusin e riparimit. Dyqani mund të marrë porosi të paplota në mesazhe. Mobileria mund të ketë kërkesa pa përmasa apo afat. Flisni me biznesin para se të zgjidhni funksionalitetet. Për projektin mësimor shmangim pagesat reale dhe të dhënat e ndjeshme. Pyetja: cili hap i punës së biznesit tuaj shkakton më shumë telefonata apo gabime?</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ta lidhim çdo njohuri me aplikacionin e biznesit tuaj. React dhe TypeScript na ndihmojnë të ndërtojmë komponentë të kuptueshëm. Next.js App Router organizon faqet dhe logjikën në server. Supabase ruan të dhënat, menaxhon identitetin dhe zbaton politikat RLS. PWA jep instalim kur pajisja e mbështet dhe një sjellje të planifikuar pa rrjet. Testimi dhe publikimi na lejojnë të verifikojmë se ndryshimet nuk e prishin rrjedhën. AI ndihmon, por ju duhet ta shpjegoni dhe ta testoni kodin.</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Java e parë ka vetëm dy orë ligjëratë. Studentët zgjedhin biznesin dhe përgatiten për laboratorin e parë në javën e dytë. Deri në javën e tretë kemi një version të publikuar me navigim dhe përmbajtje të biznesit. Në javët katër dhe pesë shtojmë ruajtjen e të dhënave dhe autentifikimin. Në javën e gjashtë projektojmë sjelljen PWA dhe offline. Në javën e shtatë secili tregon një rrjedhë funksionale nga fillimi në fund.</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Më pas shtojmë aftësi vetëm kur i duhen biznesit. Vendndodhja dhe njoftimet duhet të kenë arsye dhe leje të përdoruesit. Nëse nuk i duhen aplikacionit, studenti demonstron një alternativë të arsyetuar. Javët e fundit i kushtohen validimit, sigurisë, performancës dhe testimit të rrjedhës kryesore. Demo Day përfshin një provë reale në telefon, reagimin e biznesit dhe mbrojtjen individuale. Qëllimi është një produkt i vogël që funksionon, me kufizimet e dokumentuara.</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Nga java e dytë kemi dy orë ushtrime çdo të enjte. Kjo është ndarja orientuese në përqindje të bllokut, sepse kohëzgjatja në minuta varet nëse institucioni përdor orë akademike. Fillojmë me një demonstrim të shkurtër dhe kriteret e pranimit. Pjesën më të madhe e kaloni duke zbatuar ndryshimin në aplikacionin tuaj. Më pas testoni në telefon dhe kontrolloni një skenar dështimi. Në fund bëni commit dhe shënoni çfarë përfunduat dhe çfarë mbetet. Profesori ndihmon për pengesat e përbashkëta. QR në mes të orës regjistron pjesëmarrjen për atë seancë, kur sistemi të jetë aktiv.</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Dhjetë dorëzime teknike kanë nga tre pikë, gjithsej tridhjetë. Kriteret e çdo dorëzimi publikohen para afatit. Testet duhet të kontrollojnë sjelljen e aplikacionit dhe jo vetëm ekzistencën e skedarëve. Sistemi do të ruajë commit-in e dorëzuar dhe raportin e testeve. Një dështim i shërbimit të testimit nuk do të llogaritet si zero. Përgjigjja e biznesit dhe arsyetimi i vendimeve vlerësohen në projektin dhe mbrojtjen finale. Publikimi automatik i pikëve ende kërkon aktivizimin e shërbimit. Afati të dielën në 23:59 është propozim pune dhe do të konfirmohet para përdorimit me studentët.</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Orari bazohet në datën e dhënë nga profesori: 17 shtator 2026, çdo të enjte, për 15 javë. Java 15 bie më 24 dhjetor 2026. Java e parë ka dy orë ligjëratë dhe asnjë ushtrim, ndërsa javët dy deri në pesëmbëdhjetë kanë dy orë ligjëratë dhe dy orë ushtrime, gjithsej 30 orë ligjëratë dhe 28 orë ushtrime. Kalendari zyrtar i MPB-së nuk ka festë zyrtare në këto të enjte. Krishtlindjet janë më 25 dhjetor, të premten. Faqja publike e AAB-së ende shfaq kalendarin 2025/26, ndaj pushimi institucional dhe takimi i 24 dhjetorit mbeten për verifikim. Burimet: https://mpb.rks-gov.net/f/86/Festat-Zyrtare dhe https://aab-edu.net/studentet-aktuale/kalendari-akademik/</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2: Para prerjes, vizatimi</a:t>
            </a:r>
          </a:p>
          <a:p xmlns:a="http://schemas.openxmlformats.org/drawingml/2006/main">
            <a:r>
              <a:t>KOHA: 03:00–06:00 | FAZA: Hyrja</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kuptojë se kërkesat dhe kufizimet paraprijnë ndërtimin, ndërsa specifikimi mund të përmirësohet gjatë punës.</a:t>
            </a:r>
          </a:p>
          <a:p xmlns:a="http://schemas.openxmlformats.org/drawingml/2006/main">
            <a:r>
              <a:t/>
            </a:r>
          </a:p>
          <a:p xmlns:a="http://schemas.openxmlformats.org/drawingml/2006/main">
            <a:r>
              <a:t>SKENARI I PROFESORIT</a:t>
            </a:r>
          </a:p>
          <a:p xmlns:a="http://schemas.openxmlformats.org/drawingml/2006/main">
            <a:r>
              <a:t>Imagjinoni një punishte mobiliesh në Kosovë. Klienti kërkon një karrige. Mjeshtri pyet: për kë është, çfarë ngarkese duhet të mbajë dhe ku do të përdoret?</a:t>
            </a:r>
          </a:p>
          <a:p xmlns:a="http://schemas.openxmlformats.org/drawingml/2006/main">
            <a:r>
              <a:t/>
            </a:r>
          </a:p>
          <a:p xmlns:a="http://schemas.openxmlformats.org/drawingml/2006/main">
            <a:r>
              <a:t>Përpara prerjes, vizatimi përcakton dimensionet dhe tolerancat. Një lidhje që nuk përshtatet mund ta bëjë të pavlefshëm montimin.</a:t>
            </a:r>
          </a:p>
          <a:p xmlns:a="http://schemas.openxmlformats.org/drawingml/2006/main">
            <a:r>
              <a:t/>
            </a:r>
          </a:p>
          <a:p xmlns:a="http://schemas.openxmlformats.org/drawingml/2006/main">
            <a:r>
              <a:t>Edhe në softuer kemi lidhje dhe kufizime. Kush kërkon vendin? Kush e miraton? Çfarë ndodh kur nuk ka më vende?</a:t>
            </a:r>
          </a:p>
          <a:p xmlns:a="http://schemas.openxmlformats.org/drawingml/2006/main">
            <a:r>
              <a:t/>
            </a:r>
          </a:p>
          <a:p xmlns:a="http://schemas.openxmlformats.org/drawingml/2006/main">
            <a:r>
              <a:t>PRD-ja është marrëveshja jonë fillestare për problemin dhe sjelljen e produktit. Kufijtë e besimit përcaktojnë ku kontrollohen kërkesat.</a:t>
            </a:r>
          </a:p>
          <a:p xmlns:a="http://schemas.openxmlformats.org/drawingml/2006/main">
            <a:r>
              <a:t/>
            </a:r>
          </a:p>
          <a:p xmlns:a="http://schemas.openxmlformats.org/drawingml/2006/main">
            <a:r>
              <a:t>Analogjia ka një kufi: softuerin e ndryshojmë shpesh kur mësojmë diçka të re. Vizatimi na orienton, provat na lejojnë ta korrigjojmë.</a:t>
            </a:r>
          </a:p>
          <a:p xmlns:a="http://schemas.openxmlformats.org/drawingml/2006/main">
            <a:r>
              <a:t/>
            </a:r>
          </a:p>
          <a:p xmlns:a="http://schemas.openxmlformats.org/drawingml/2006/main">
            <a:r>
              <a:t>PYETJA INTERAKTIVE</a:t>
            </a:r>
          </a:p>
          <a:p xmlns:a="http://schemas.openxmlformats.org/drawingml/2006/main">
            <a:r>
              <a:t>Nëse karrigia duket bukur, por lidhja lëviz nën ngarkesë, a është përfunduar produkti? Cila do të ishte lidhja e dobët te RideShare?</a:t>
            </a:r>
          </a:p>
          <a:p xmlns:a="http://schemas.openxmlformats.org/drawingml/2006/main">
            <a:r>
              <a:t/>
            </a:r>
          </a:p>
          <a:p xmlns:a="http://schemas.openxmlformats.org/drawingml/2006/main">
            <a:r>
              <a:t>UDHËZIMI</a:t>
            </a:r>
          </a:p>
          <a:p xmlns:a="http://schemas.openxmlformats.org/drawingml/2006/main">
            <a:r>
              <a:t>1 minutë. Lidhni një përgjigje me kërkesat e softuerit.</a:t>
            </a:r>
          </a:p>
          <a:p xmlns:a="http://schemas.openxmlformats.org/drawingml/2006/main">
            <a:r>
              <a:t/>
            </a:r>
          </a:p>
          <a:p xmlns:a="http://schemas.openxmlformats.org/drawingml/2006/main">
            <a:r>
              <a:t>PARALAJMËRIMI INXHINIERIK</a:t>
            </a:r>
          </a:p>
          <a:p xmlns:a="http://schemas.openxmlformats.org/drawingml/2006/main">
            <a:r>
              <a:t>Pjesët që funksionojnë veçmas mund të dështojnë kur bashkohen.</a:t>
            </a:r>
          </a:p>
          <a:p xmlns:a="http://schemas.openxmlformats.org/drawingml/2006/main">
            <a:r>
              <a:t/>
            </a:r>
          </a:p>
          <a:p xmlns:a="http://schemas.openxmlformats.org/drawingml/2006/main">
            <a:r>
              <a:t>BURIM / SHËNIM</a:t>
            </a:r>
          </a:p>
          <a:p xmlns:a="http://schemas.openxmlformats.org/drawingml/2006/main">
            <a:r>
              <a:t>Skicë konceptuale e gjeneruar me AI për këtë ligjëratë. Nuk është vizatim prodhimi dhe nuk përfaqëson një produkt real të Woodcraft Kosova.</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3: Çdo vendim kërkon provë</a:t>
            </a:r>
          </a:p>
          <a:p xmlns:a="http://schemas.openxmlformats.org/drawingml/2006/main">
            <a:r>
              <a:t>KOHA: 06:00–10:00 | FAZA: Hyrja</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kuptojë ciklin e punës dhe përgjegjësinë individuale për vendimet.</a:t>
            </a:r>
          </a:p>
          <a:p xmlns:a="http://schemas.openxmlformats.org/drawingml/2006/main">
            <a:r>
              <a:t/>
            </a:r>
          </a:p>
          <a:p xmlns:a="http://schemas.openxmlformats.org/drawingml/2006/main">
            <a:r>
              <a:t>SKENARI I PROFESORIT</a:t>
            </a:r>
          </a:p>
          <a:p xmlns:a="http://schemas.openxmlformats.org/drawingml/2006/main">
            <a:r>
              <a:t>Kjo është marrëveshja jonë për semestrin. Çdo projekt kalon nëpër këto pesë pika.</a:t>
            </a:r>
          </a:p>
          <a:p xmlns:a="http://schemas.openxmlformats.org/drawingml/2006/main">
            <a:r>
              <a:t/>
            </a:r>
          </a:p>
          <a:p xmlns:a="http://schemas.openxmlformats.org/drawingml/2006/main">
            <a:r>
              <a:t>Fillimisht përshkruani një problem që e keni vëzhguar. Pastaj formuloni çfarë besoni se mund ta përmirësojë. E ktheni atë hipotezë në kërkesa, ndërtoni një pjesë të testueshme dhe shikoni çfarë ndodhi.</a:t>
            </a:r>
          </a:p>
          <a:p xmlns:a="http://schemas.openxmlformats.org/drawingml/2006/main">
            <a:r>
              <a:t/>
            </a:r>
          </a:p>
          <a:p xmlns:a="http://schemas.openxmlformats.org/drawingml/2006/main">
            <a:r>
              <a:t>Nëse përdoruesi nuk e kupton zgjidhjen, kemi informacion të ri. Nëse hipoteza rrëzohet, ndryshojmë drejtim me argument.</a:t>
            </a:r>
          </a:p>
          <a:p xmlns:a="http://schemas.openxmlformats.org/drawingml/2006/main">
            <a:r>
              <a:t/>
            </a:r>
          </a:p>
          <a:p xmlns:a="http://schemas.openxmlformats.org/drawingml/2006/main">
            <a:r>
              <a:t>Unë do t’ju kërkoj tri gjëra vazhdimisht: ma trego, ma shpjego dhe ma provo.</a:t>
            </a:r>
          </a:p>
          <a:p xmlns:a="http://schemas.openxmlformats.org/drawingml/2006/main">
            <a:r>
              <a:t/>
            </a:r>
          </a:p>
          <a:p xmlns:a="http://schemas.openxmlformats.org/drawingml/2006/main">
            <a:r>
              <a:t>Ju mund të përdorni dokumentacion, bashkëpunim dhe AI. Përgjegjësia për atë që dorëzoni mbetet e juaja.</a:t>
            </a:r>
          </a:p>
          <a:p xmlns:a="http://schemas.openxmlformats.org/drawingml/2006/main">
            <a:r>
              <a:t/>
            </a:r>
          </a:p>
          <a:p xmlns:a="http://schemas.openxmlformats.org/drawingml/2006/main">
            <a:r>
              <a:t>PYETJA INTERAKTIVE</a:t>
            </a:r>
          </a:p>
          <a:p xmlns:a="http://schemas.openxmlformats.org/drawingml/2006/main">
            <a:r>
              <a:t>Cila provë është më e fortë: shokëve u pëlqeu ideja apo tre persona e përfunduan detyrën pa ndihmën time? Çfarë na tregon secila?</a:t>
            </a:r>
          </a:p>
          <a:p xmlns:a="http://schemas.openxmlformats.org/drawingml/2006/main">
            <a:r>
              <a:t/>
            </a:r>
          </a:p>
          <a:p xmlns:a="http://schemas.openxmlformats.org/drawingml/2006/main">
            <a:r>
              <a:t>UDHËZIMI</a:t>
            </a:r>
          </a:p>
          <a:p xmlns:a="http://schemas.openxmlformats.org/drawingml/2006/main">
            <a:r>
              <a:t>1 minutë. Kërkoni argumentin, jo vetëm zgjedhjen.</a:t>
            </a:r>
          </a:p>
          <a:p xmlns:a="http://schemas.openxmlformats.org/drawingml/2006/main">
            <a:r>
              <a:t/>
            </a:r>
          </a:p>
          <a:p xmlns:a="http://schemas.openxmlformats.org/drawingml/2006/main">
            <a:r>
              <a:t>PARALAJMËRIMI INXHINIERIK</a:t>
            </a:r>
          </a:p>
          <a:p xmlns:a="http://schemas.openxmlformats.org/drawingml/2006/main">
            <a:r>
              <a:t>Miratimi verbal i një ideje nuk garanton përdorimin e produktit.</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4: 07:20. Ende pa konfirmim</a:t>
            </a:r>
          </a:p>
          <a:p xmlns:a="http://schemas.openxmlformats.org/drawingml/2006/main">
            <a:r>
              <a:t>KOHA: 10:00–15:00 | FAZA: Problemi real</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ndajë situatën konkrete nga përgjithësimi transporti është problem.</a:t>
            </a:r>
          </a:p>
          <a:p xmlns:a="http://schemas.openxmlformats.org/drawingml/2006/main">
            <a:r>
              <a:t/>
            </a:r>
          </a:p>
          <a:p xmlns:a="http://schemas.openxmlformats.org/drawingml/2006/main">
            <a:r>
              <a:t>SKENARI I PROFESORIT</a:t>
            </a:r>
          </a:p>
          <a:p xmlns:a="http://schemas.openxmlformats.org/drawingml/2006/main">
            <a:r>
              <a:t>Marrim një situatë ilustruese. Një studente në Fushë Kosovë kërkon të vijë në kampus. Një student tjetër do të niset me veturë dhe ka një vend të lirë.</a:t>
            </a:r>
          </a:p>
          <a:p xmlns:a="http://schemas.openxmlformats.org/drawingml/2006/main">
            <a:r>
              <a:t/>
            </a:r>
          </a:p>
          <a:p xmlns:a="http://schemas.openxmlformats.org/drawingml/2006/main">
            <a:r>
              <a:t>Të dy ekzistojnë. Vendi ekziston. Megjithatë, udhëtimi i përbashkët mund të mos ndodhë.</a:t>
            </a:r>
          </a:p>
          <a:p xmlns:a="http://schemas.openxmlformats.org/drawingml/2006/main">
            <a:r>
              <a:t/>
            </a:r>
          </a:p>
          <a:p xmlns:a="http://schemas.openxmlformats.org/drawingml/2006/main">
            <a:r>
              <a:t>Pse? Ndoshta nuk e gjejnë njëri-tjetrin. Ndoshta oraret nuk përputhen. Ndoshta kërkesa mbetet pa përgjigje.</a:t>
            </a:r>
          </a:p>
          <a:p xmlns:a="http://schemas.openxmlformats.org/drawingml/2006/main">
            <a:r>
              <a:t/>
            </a:r>
          </a:p>
          <a:p xmlns:a="http://schemas.openxmlformats.org/drawingml/2006/main">
            <a:r>
              <a:t>Këto janë probleme të ndryshme dhe kërkojnë zgjidhje të ndryshme.</a:t>
            </a:r>
          </a:p>
          <a:p xmlns:a="http://schemas.openxmlformats.org/drawingml/2006/main">
            <a:r>
              <a:t/>
            </a:r>
          </a:p>
          <a:p xmlns:a="http://schemas.openxmlformats.org/drawingml/2006/main">
            <a:r>
              <a:t>Sot do të shqyrtojmë një pyetje të kufizuar: si mund ta bëjmë më të qartë kërkesën dhe konfirmimin e një vendi?</a:t>
            </a:r>
          </a:p>
          <a:p xmlns:a="http://schemas.openxmlformats.org/drawingml/2006/main">
            <a:r>
              <a:t/>
            </a:r>
          </a:p>
          <a:p xmlns:a="http://schemas.openxmlformats.org/drawingml/2006/main">
            <a:r>
              <a:t>Nuk kemi ende prova se kjo është pengesa kryesore. Kemi një pikënisje për hetim.</a:t>
            </a:r>
          </a:p>
          <a:p xmlns:a="http://schemas.openxmlformats.org/drawingml/2006/main">
            <a:r>
              <a:t/>
            </a:r>
          </a:p>
          <a:p xmlns:a="http://schemas.openxmlformats.org/drawingml/2006/main">
            <a:r>
              <a:t>PYETJA INTERAKTIVE</a:t>
            </a:r>
          </a:p>
          <a:p xmlns:a="http://schemas.openxmlformats.org/drawingml/2006/main">
            <a:r>
              <a:t>Në çift, përshkruani një rast real: çfarë po përpiqeshit të bënit, çfarë ju pengoi dhe si e zgjidhët?</a:t>
            </a:r>
          </a:p>
          <a:p xmlns:a="http://schemas.openxmlformats.org/drawingml/2006/main">
            <a:r>
              <a:t/>
            </a:r>
          </a:p>
          <a:p xmlns:a="http://schemas.openxmlformats.org/drawingml/2006/main">
            <a:r>
              <a:t>UDHËZIMI</a:t>
            </a:r>
          </a:p>
          <a:p xmlns:a="http://schemas.openxmlformats.org/drawingml/2006/main">
            <a:r>
              <a:t>2 minuta. Ndajeni një shembull në dërrasë në situatë, pengesë, zgjidhje aktuale.</a:t>
            </a:r>
          </a:p>
          <a:p xmlns:a="http://schemas.openxmlformats.org/drawingml/2006/main">
            <a:r>
              <a:t/>
            </a:r>
          </a:p>
          <a:p xmlns:a="http://schemas.openxmlformats.org/drawingml/2006/main">
            <a:r>
              <a:t>PARALAJMËRIMI INXHINIERIK</a:t>
            </a:r>
          </a:p>
          <a:p xmlns:a="http://schemas.openxmlformats.org/drawingml/2006/main">
            <a:r>
              <a:t>Një problem i përshkruar shumë gjerë prodhon një projekt që nuk ka kufi të qartë përfundimi.</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5: Mesazhi nuk është rezervim</a:t>
            </a:r>
          </a:p>
          <a:p xmlns:a="http://schemas.openxmlformats.org/drawingml/2006/main">
            <a:r>
              <a:t>KOHA: 15:00–20:00 | FAZA: Problemi real</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dallojë komunikimin nga gjendja e strukturuar dhe të mos e nënvlerësojë zgjidhjen që përdoret sot.</a:t>
            </a:r>
          </a:p>
          <a:p xmlns:a="http://schemas.openxmlformats.org/drawingml/2006/main">
            <a:r>
              <a:t/>
            </a:r>
          </a:p>
          <a:p xmlns:a="http://schemas.openxmlformats.org/drawingml/2006/main">
            <a:r>
              <a:t>SKENARI I PROFESORIT</a:t>
            </a:r>
          </a:p>
          <a:p xmlns:a="http://schemas.openxmlformats.org/drawingml/2006/main">
            <a:r>
              <a:t>Një grup në WhatsApp ose Viber ka përparësi të rëndësishme: njerëzit janë aty dhe dinë ta përdorin.</a:t>
            </a:r>
          </a:p>
          <a:p xmlns:a="http://schemas.openxmlformats.org/drawingml/2006/main">
            <a:r>
              <a:t/>
            </a:r>
          </a:p>
          <a:p xmlns:a="http://schemas.openxmlformats.org/drawingml/2006/main">
            <a:r>
              <a:t>Prandaj, pyetja jonë është serioze: çfarë vlere shtesë do të sillte një aplikacion?</a:t>
            </a:r>
          </a:p>
          <a:p xmlns:a="http://schemas.openxmlformats.org/drawingml/2006/main">
            <a:r>
              <a:t/>
            </a:r>
          </a:p>
          <a:p xmlns:a="http://schemas.openxmlformats.org/drawingml/2006/main">
            <a:r>
              <a:t>Shikoni bisedën. Dy persona mund ta interpretojnë të njëjtin mesazh si konfirmim. Informacioni për orarin mund të humbasë mes mesazheve të tjera.</a:t>
            </a:r>
          </a:p>
          <a:p xmlns:a="http://schemas.openxmlformats.org/drawingml/2006/main">
            <a:r>
              <a:t/>
            </a:r>
          </a:p>
          <a:p xmlns:a="http://schemas.openxmlformats.org/drawingml/2006/main">
            <a:r>
              <a:t>Një sistem i strukturuar mund ta ruajë kërkesën me gjendje të qartë: në pritje, e pranuar ose e refuzuar.</a:t>
            </a:r>
          </a:p>
          <a:p xmlns:a="http://schemas.openxmlformats.org/drawingml/2006/main">
            <a:r>
              <a:t/>
            </a:r>
          </a:p>
          <a:p xmlns:a="http://schemas.openxmlformats.org/drawingml/2006/main">
            <a:r>
              <a:t>Kjo vlerë duhet provuar. Nëse grupi ekzistues e zgjidh nevojën mjaftueshëm mirë, duhet të kemi arsye bindëse për t’u kërkuar njerëzve një mënyrë të re pune.</a:t>
            </a:r>
          </a:p>
          <a:p xmlns:a="http://schemas.openxmlformats.org/drawingml/2006/main">
            <a:r>
              <a:t/>
            </a:r>
          </a:p>
          <a:p xmlns:a="http://schemas.openxmlformats.org/drawingml/2006/main">
            <a:r>
              <a:t>PYETJA INTERAKTIVE</a:t>
            </a:r>
          </a:p>
          <a:p xmlns:a="http://schemas.openxmlformats.org/drawingml/2006/main">
            <a:r>
              <a:t>Cilën do ta përdornit nesër: grupin ku janë të gjithë apo aplikacionin me status të qartë, por me pak përdorues? Çfarë duhet të ndryshojë që të kaloni?</a:t>
            </a:r>
          </a:p>
          <a:p xmlns:a="http://schemas.openxmlformats.org/drawingml/2006/main">
            <a:r>
              <a:t/>
            </a:r>
          </a:p>
          <a:p xmlns:a="http://schemas.openxmlformats.org/drawingml/2006/main">
            <a:r>
              <a:t>UDHËZIMI</a:t>
            </a:r>
          </a:p>
          <a:p xmlns:a="http://schemas.openxmlformats.org/drawingml/2006/main">
            <a:r>
              <a:t>2 minuta. Diskutoni vlerën e rrjetit ekzistues të përdoruesve.</a:t>
            </a:r>
          </a:p>
          <a:p xmlns:a="http://schemas.openxmlformats.org/drawingml/2006/main">
            <a:r>
              <a:t/>
            </a:r>
          </a:p>
          <a:p xmlns:a="http://schemas.openxmlformats.org/drawingml/2006/main">
            <a:r>
              <a:t>PARALAJMËRIMI INXHINIERIK</a:t>
            </a:r>
          </a:p>
          <a:p xmlns:a="http://schemas.openxmlformats.org/drawingml/2006/main">
            <a:r>
              <a:t>Një produkt teknikisht më i rregullt mund të ketë më pak vlerë nëse përdoruesit e nevojshëm mungojnë.</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6: Hipoteza mund të rrëzohet</a:t>
            </a:r>
          </a:p>
          <a:p xmlns:a="http://schemas.openxmlformats.org/drawingml/2006/main">
            <a:r>
              <a:t>KOHA: 20:00–25:00 | FAZA: Problemi real</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formulojë një hipotezë që mund të testohet dhe të dallojë përdorshmërinë nga kërkesa reale.</a:t>
            </a:r>
          </a:p>
          <a:p xmlns:a="http://schemas.openxmlformats.org/drawingml/2006/main">
            <a:r>
              <a:t/>
            </a:r>
          </a:p>
          <a:p xmlns:a="http://schemas.openxmlformats.org/drawingml/2006/main">
            <a:r>
              <a:t>SKENARI I PROFESORIT</a:t>
            </a:r>
          </a:p>
          <a:p xmlns:a="http://schemas.openxmlformats.org/drawingml/2006/main">
            <a:r>
              <a:t>Hipoteza jonë fillestare është kjo: nëse kërkesa për vend ka një status të qartë, studentët do ta kuptojnë më mirë nëse udhëtimi është konfirmuar.</a:t>
            </a:r>
          </a:p>
          <a:p xmlns:a="http://schemas.openxmlformats.org/drawingml/2006/main">
            <a:r>
              <a:t/>
            </a:r>
          </a:p>
          <a:p xmlns:a="http://schemas.openxmlformats.org/drawingml/2006/main">
            <a:r>
              <a:t>Mund ta provojmë përpara se të kemi databazë. Ndërtojmë disa pamje dhe u japim pesë personave një detyrë.</a:t>
            </a:r>
          </a:p>
          <a:p xmlns:a="http://schemas.openxmlformats.org/drawingml/2006/main">
            <a:r>
              <a:t/>
            </a:r>
          </a:p>
          <a:p xmlns:a="http://schemas.openxmlformats.org/drawingml/2006/main">
            <a:r>
              <a:t>Si prag fillestar mësimor mund të vendosim: katër prej pesë personave e dërgojnë kërkesën dhe e interpretojnë statusin pa ndihmën tonë.</a:t>
            </a:r>
          </a:p>
          <a:p xmlns:a="http://schemas.openxmlformats.org/drawingml/2006/main">
            <a:r>
              <a:t/>
            </a:r>
          </a:p>
          <a:p xmlns:a="http://schemas.openxmlformats.org/drawingml/2006/main">
            <a:r>
              <a:t>Ky test na jep informacion për përdorshmërinë. Nuk provon se kemi treg, se do të ketë shoferë të mjaftueshëm ose se shërbimi do të përdoret çdo ditë.</a:t>
            </a:r>
          </a:p>
          <a:p xmlns:a="http://schemas.openxmlformats.org/drawingml/2006/main">
            <a:r>
              <a:t/>
            </a:r>
          </a:p>
          <a:p xmlns:a="http://schemas.openxmlformats.org/drawingml/2006/main">
            <a:r>
              <a:t>Për secilën pyetje na duhet prova përkatëse.</a:t>
            </a:r>
          </a:p>
          <a:p xmlns:a="http://schemas.openxmlformats.org/drawingml/2006/main">
            <a:r>
              <a:t/>
            </a:r>
          </a:p>
          <a:p xmlns:a="http://schemas.openxmlformats.org/drawingml/2006/main">
            <a:r>
              <a:t>PYETJA INTERAKTIVE</a:t>
            </a:r>
          </a:p>
          <a:p xmlns:a="http://schemas.openxmlformats.org/drawingml/2006/main">
            <a:r>
              <a:t>Çfarë rezultati do t’ju shtynte ta ndryshonit hipotezën? Shkruani një rezultat që do t’ju zhgënjente, por do t’ju mësonte diçka.</a:t>
            </a:r>
          </a:p>
          <a:p xmlns:a="http://schemas.openxmlformats.org/drawingml/2006/main">
            <a:r>
              <a:t/>
            </a:r>
          </a:p>
          <a:p xmlns:a="http://schemas.openxmlformats.org/drawingml/2006/main">
            <a:r>
              <a:t>UDHËZIMI</a:t>
            </a:r>
          </a:p>
          <a:p xmlns:a="http://schemas.openxmlformats.org/drawingml/2006/main">
            <a:r>
              <a:t>2 minuta. Shkrim individual dhe një përgjigje në sallë.</a:t>
            </a:r>
          </a:p>
          <a:p xmlns:a="http://schemas.openxmlformats.org/drawingml/2006/main">
            <a:r>
              <a:t/>
            </a:r>
          </a:p>
          <a:p xmlns:a="http://schemas.openxmlformats.org/drawingml/2006/main">
            <a:r>
              <a:t>PARALAJMËRIMI INXHINIERIK</a:t>
            </a:r>
          </a:p>
          <a:p xmlns:a="http://schemas.openxmlformats.org/drawingml/2006/main">
            <a:r>
              <a:t>Një test i vogël përdorshmërie nuk provon kërkesën e tregut.</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7: Një faqe para kodit</a:t>
            </a:r>
          </a:p>
          <a:p xmlns:a="http://schemas.openxmlformats.org/drawingml/2006/main">
            <a:r>
              <a:t>KOHA: 25:00–30:00 | FAZA: Specifikimi</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kuptojë PRD-në si marrëveshje pune që lidh problemin me sjelljen e pritshme.</a:t>
            </a:r>
          </a:p>
          <a:p xmlns:a="http://schemas.openxmlformats.org/drawingml/2006/main">
            <a:r>
              <a:t/>
            </a:r>
          </a:p>
          <a:p xmlns:a="http://schemas.openxmlformats.org/drawingml/2006/main">
            <a:r>
              <a:t>SKENARI I PROFESORIT</a:t>
            </a:r>
          </a:p>
          <a:p xmlns:a="http://schemas.openxmlformats.org/drawingml/2006/main">
            <a:r>
              <a:t>PRD do të thotë dokument i kërkesave të produktit. Për projektin tonë fillestar, një faqe duhet të mjaftojë.</a:t>
            </a:r>
          </a:p>
          <a:p xmlns:a="http://schemas.openxmlformats.org/drawingml/2006/main">
            <a:r>
              <a:t/>
            </a:r>
          </a:p>
          <a:p xmlns:a="http://schemas.openxmlformats.org/drawingml/2006/main">
            <a:r>
              <a:t>Përdoruesi: student që kërkon një udhëtim drejt kampusit.</a:t>
            </a:r>
          </a:p>
          <a:p xmlns:a="http://schemas.openxmlformats.org/drawingml/2006/main">
            <a:r>
              <a:t/>
            </a:r>
          </a:p>
          <a:p xmlns:a="http://schemas.openxmlformats.org/drawingml/2006/main">
            <a:r>
              <a:t>Problemi që po hetojmë: nuk e di nëse kërkesa për një vend është pranuar.</a:t>
            </a:r>
          </a:p>
          <a:p xmlns:a="http://schemas.openxmlformats.org/drawingml/2006/main">
            <a:r>
              <a:t/>
            </a:r>
          </a:p>
          <a:p xmlns:a="http://schemas.openxmlformats.org/drawingml/2006/main">
            <a:r>
              <a:t>Rezultati i dëshiruar: mund të kërkojë vend dhe të shohë përgjigjen.</a:t>
            </a:r>
          </a:p>
          <a:p xmlns:a="http://schemas.openxmlformats.org/drawingml/2006/main">
            <a:r>
              <a:t/>
            </a:r>
          </a:p>
          <a:p xmlns:a="http://schemas.openxmlformats.org/drawingml/2006/main">
            <a:r>
              <a:t>Pastaj shkruajmë kufijtë dhe kriteret e pranimit.</a:t>
            </a:r>
          </a:p>
          <a:p xmlns:a="http://schemas.openxmlformats.org/drawingml/2006/main">
            <a:r>
              <a:t/>
            </a:r>
          </a:p>
          <a:p xmlns:a="http://schemas.openxmlformats.org/drawingml/2006/main">
            <a:r>
              <a:t>Nëse zhvilluesi mendon se kërko vend do të thotë rezervim automatik, ndërsa përdoruesi pret miratim nga shoferi, kemi dy produkte të ndryshme brenda së njëjtës fjali.</a:t>
            </a:r>
          </a:p>
          <a:p xmlns:a="http://schemas.openxmlformats.org/drawingml/2006/main">
            <a:r>
              <a:t/>
            </a:r>
          </a:p>
          <a:p xmlns:a="http://schemas.openxmlformats.org/drawingml/2006/main">
            <a:r>
              <a:t>PRD-ja duhet ta zbulojë këtë mospërputhje herët.</a:t>
            </a:r>
          </a:p>
          <a:p xmlns:a="http://schemas.openxmlformats.org/drawingml/2006/main">
            <a:r>
              <a:t/>
            </a:r>
          </a:p>
          <a:p xmlns:a="http://schemas.openxmlformats.org/drawingml/2006/main">
            <a:r>
              <a:t>PYETJA INTERAKTIVE</a:t>
            </a:r>
          </a:p>
          <a:p xmlns:a="http://schemas.openxmlformats.org/drawingml/2006/main">
            <a:r>
              <a:t>Plotësoni: Për studentin që ___, produkti mundëson ___; e dimë se funksionon kur ___.</a:t>
            </a:r>
          </a:p>
          <a:p xmlns:a="http://schemas.openxmlformats.org/drawingml/2006/main">
            <a:r>
              <a:t/>
            </a:r>
          </a:p>
          <a:p xmlns:a="http://schemas.openxmlformats.org/drawingml/2006/main">
            <a:r>
              <a:t>UDHËZIMI</a:t>
            </a:r>
          </a:p>
          <a:p xmlns:a="http://schemas.openxmlformats.org/drawingml/2006/main">
            <a:r>
              <a:t>2 minuta. Studentët shkruajnë një fjali për problemin e tyre.</a:t>
            </a:r>
          </a:p>
          <a:p xmlns:a="http://schemas.openxmlformats.org/drawingml/2006/main">
            <a:r>
              <a:t/>
            </a:r>
          </a:p>
          <a:p xmlns:a="http://schemas.openxmlformats.org/drawingml/2006/main">
            <a:r>
              <a:t>PARALAJMËRIMI INXHINIERIK</a:t>
            </a:r>
          </a:p>
          <a:p xmlns:a="http://schemas.openxmlformats.org/drawingml/2006/main">
            <a:r>
              <a:t>Një kërkesë e paqartë mund të implementohet saktë sipas një interpretimi të gabuar.</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8: Tri veçori, një rrjedhë</a:t>
            </a:r>
          </a:p>
          <a:p xmlns:a="http://schemas.openxmlformats.org/drawingml/2006/main">
            <a:r>
              <a:t>KOHA: 30:00–35:00 | FAZA: Specifikimi</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zgjedhë një rrjedhë të plotë dhe të përjashtojë qëllimisht zgjerimet.</a:t>
            </a:r>
          </a:p>
          <a:p xmlns:a="http://schemas.openxmlformats.org/drawingml/2006/main">
            <a:r>
              <a:t/>
            </a:r>
          </a:p>
          <a:p xmlns:a="http://schemas.openxmlformats.org/drawingml/2006/main">
            <a:r>
              <a:t>SKENARI I PROFESORIT</a:t>
            </a:r>
          </a:p>
          <a:p xmlns:a="http://schemas.openxmlformats.org/drawingml/2006/main">
            <a:r>
              <a:t>Për RideShare-in tonë, kontrata fillestare ka tri aftësi: shoferi publikon udhëtimin, studenti kërkon vend, shoferi pranon ose refuzon.</a:t>
            </a:r>
          </a:p>
          <a:p xmlns:a="http://schemas.openxmlformats.org/drawingml/2006/main">
            <a:r>
              <a:t/>
            </a:r>
          </a:p>
          <a:p xmlns:a="http://schemas.openxmlformats.org/drawingml/2006/main">
            <a:r>
              <a:t>Këto formojnë një rrjedhë që mund ta demonstrojmë nga fillimi në fund.</a:t>
            </a:r>
          </a:p>
          <a:p xmlns:a="http://schemas.openxmlformats.org/drawingml/2006/main">
            <a:r>
              <a:t/>
            </a:r>
          </a:p>
          <a:p xmlns:a="http://schemas.openxmlformats.org/drawingml/2006/main">
            <a:r>
              <a:t>Pagesat, harta live, chat-i dhe vlerësimet presin.</a:t>
            </a:r>
          </a:p>
          <a:p xmlns:a="http://schemas.openxmlformats.org/drawingml/2006/main">
            <a:r>
              <a:t/>
            </a:r>
          </a:p>
          <a:p xmlns:a="http://schemas.openxmlformats.org/drawingml/2006/main">
            <a:r>
              <a:t>Tri veçori janë kufizim pedagogjik i këtij projekti. Nuk janë ligj universal për çdo MVP.</a:t>
            </a:r>
          </a:p>
          <a:p xmlns:a="http://schemas.openxmlformats.org/drawingml/2006/main">
            <a:r>
              <a:t/>
            </a:r>
          </a:p>
          <a:p xmlns:a="http://schemas.openxmlformats.org/drawingml/2006/main">
            <a:r>
              <a:t>Edhe brenda këtij kufiri kemi punë të domosdoshme: identitet, autorizim, validim dhe mesazhe gabimi. Siguria e rrjedhës nuk hiqet nga scope-i për ta bërë listën më të shkurtër.</a:t>
            </a:r>
          </a:p>
          <a:p xmlns:a="http://schemas.openxmlformats.org/drawingml/2006/main">
            <a:r>
              <a:t/>
            </a:r>
          </a:p>
          <a:p xmlns:a="http://schemas.openxmlformats.org/drawingml/2006/main">
            <a:r>
              <a:t>Kur shtojmë një veçori, duhet të shpjegojmë çfarë vlere sjell dhe çfarë kostoje shton.</a:t>
            </a:r>
          </a:p>
          <a:p xmlns:a="http://schemas.openxmlformats.org/drawingml/2006/main">
            <a:r>
              <a:t/>
            </a:r>
          </a:p>
          <a:p xmlns:a="http://schemas.openxmlformats.org/drawingml/2006/main">
            <a:r>
              <a:t>PYETJA INTERAKTIVE</a:t>
            </a:r>
          </a:p>
          <a:p xmlns:a="http://schemas.openxmlformats.org/drawingml/2006/main">
            <a:r>
              <a:t>Keni kohë vetëm për njërën: hartë live apo refuzim të qartë kur vendi është zënë. Cilën zgjidhni dhe cilin rrezik po ulni?</a:t>
            </a:r>
          </a:p>
          <a:p xmlns:a="http://schemas.openxmlformats.org/drawingml/2006/main">
            <a:r>
              <a:t/>
            </a:r>
          </a:p>
          <a:p xmlns:a="http://schemas.openxmlformats.org/drawingml/2006/main">
            <a:r>
              <a:t>UDHËZIMI</a:t>
            </a:r>
          </a:p>
          <a:p xmlns:a="http://schemas.openxmlformats.org/drawingml/2006/main">
            <a:r>
              <a:t>2 minuta. Zgjedhje me ngritje dore, pastaj argumentim.</a:t>
            </a:r>
          </a:p>
          <a:p xmlns:a="http://schemas.openxmlformats.org/drawingml/2006/main">
            <a:r>
              <a:t/>
            </a:r>
          </a:p>
          <a:p xmlns:a="http://schemas.openxmlformats.org/drawingml/2006/main">
            <a:r>
              <a:t>PARALAJMËRIMI INXHINIERIK</a:t>
            </a:r>
          </a:p>
          <a:p xmlns:a="http://schemas.openxmlformats.org/drawingml/2006/main">
            <a:r>
              <a:t>Çdo veçori shton edhe gjendje, gabime dhe punë mirëmbajtjeje.</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9: Kur quhet e përfunduar?</a:t>
            </a:r>
          </a:p>
          <a:p xmlns:a="http://schemas.openxmlformats.org/drawingml/2006/main">
            <a:r>
              <a:t>KOHA: 35:00–40:00 | FAZA: Specifikimi</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kthejë kërkesën në sjellje të vëzhgueshme, përfshirë dështimin.</a:t>
            </a:r>
          </a:p>
          <a:p xmlns:a="http://schemas.openxmlformats.org/drawingml/2006/main">
            <a:r>
              <a:t/>
            </a:r>
          </a:p>
          <a:p xmlns:a="http://schemas.openxmlformats.org/drawingml/2006/main">
            <a:r>
              <a:t>SKENARI I PROFESORIT</a:t>
            </a:r>
          </a:p>
          <a:p xmlns:a="http://schemas.openxmlformats.org/drawingml/2006/main">
            <a:r>
              <a:t>Shprehja rezervimi funksionon është shumë e gjerë.</a:t>
            </a:r>
          </a:p>
          <a:p xmlns:a="http://schemas.openxmlformats.org/drawingml/2006/main">
            <a:r>
              <a:t/>
            </a:r>
          </a:p>
          <a:p xmlns:a="http://schemas.openxmlformats.org/drawingml/2006/main">
            <a:r>
              <a:t>Ja një kriter: duke pasur një student të autentikuar dhe një udhëtim aktiv, kur studenti kërkon vend, sistemi regjistron kërkesën me status në pritje.</a:t>
            </a:r>
          </a:p>
          <a:p xmlns:a="http://schemas.openxmlformats.org/drawingml/2006/main">
            <a:r>
              <a:t/>
            </a:r>
          </a:p>
          <a:p xmlns:a="http://schemas.openxmlformats.org/drawingml/2006/main">
            <a:r>
              <a:t>Ja një tjetër: kur studenti shtyp dy herë, nuk krijohen dy kërkesa aktive për të njëjtin udhëtim.</a:t>
            </a:r>
          </a:p>
          <a:p xmlns:a="http://schemas.openxmlformats.org/drawingml/2006/main">
            <a:r>
              <a:t/>
            </a:r>
          </a:p>
          <a:p xmlns:a="http://schemas.openxmlformats.org/drawingml/2006/main">
            <a:r>
              <a:t>Tani rasti i vështirë. Ka një vend dhe dy kërkesa. Shoferi mund të pranojë vetëm aq persona sa lejon kapaciteti.</a:t>
            </a:r>
          </a:p>
          <a:p xmlns:a="http://schemas.openxmlformats.org/drawingml/2006/main">
            <a:r>
              <a:t/>
            </a:r>
          </a:p>
          <a:p xmlns:a="http://schemas.openxmlformats.org/drawingml/2006/main">
            <a:r>
              <a:t>Këtë rregull duhet ta ruajë operacioni në databazë edhe kur kërkesat mbërrijnë pothuajse njëkohësisht.</a:t>
            </a:r>
          </a:p>
          <a:p xmlns:a="http://schemas.openxmlformats.org/drawingml/2006/main">
            <a:r>
              <a:t/>
            </a:r>
          </a:p>
          <a:p xmlns:a="http://schemas.openxmlformats.org/drawingml/2006/main">
            <a:r>
              <a:t>Kriteri i pranimit na tregon çfarë do të demonstrojmë. Më vonë do ta kthejmë në test.</a:t>
            </a:r>
          </a:p>
          <a:p xmlns:a="http://schemas.openxmlformats.org/drawingml/2006/main">
            <a:r>
              <a:t/>
            </a:r>
          </a:p>
          <a:p xmlns:a="http://schemas.openxmlformats.org/drawingml/2006/main">
            <a:r>
              <a:t>PYETJA INTERAKTIVE</a:t>
            </a:r>
          </a:p>
          <a:p xmlns:a="http://schemas.openxmlformats.org/drawingml/2006/main">
            <a:r>
              <a:t>Shkruani një kriter për anulimin e një kërkese. Kush e kryen veprimin dhe në cilat gjendje lejohet?</a:t>
            </a:r>
          </a:p>
          <a:p xmlns:a="http://schemas.openxmlformats.org/drawingml/2006/main">
            <a:r>
              <a:t/>
            </a:r>
          </a:p>
          <a:p xmlns:a="http://schemas.openxmlformats.org/drawingml/2006/main">
            <a:r>
              <a:t>UDHËZIMI</a:t>
            </a:r>
          </a:p>
          <a:p xmlns:a="http://schemas.openxmlformats.org/drawingml/2006/main">
            <a:r>
              <a:t>2 minuta. Përdorni formulën Duke pasur / Kur / Atëherë.</a:t>
            </a:r>
          </a:p>
          <a:p xmlns:a="http://schemas.openxmlformats.org/drawingml/2006/main">
            <a:r>
              <a:t/>
            </a:r>
          </a:p>
          <a:p xmlns:a="http://schemas.openxmlformats.org/drawingml/2006/main">
            <a:r>
              <a:t>PARALAJMËRIMI INXHINIERIK</a:t>
            </a:r>
          </a:p>
          <a:p xmlns:a="http://schemas.openxmlformats.org/drawingml/2006/main">
            <a:r>
              <a:t>Një test me një përdorues nuk zbulon domosdoshmërisht gabimet e veprimeve të njëkohshme.</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10: Testojeni përpara ndërtimit</a:t>
            </a:r>
          </a:p>
          <a:p xmlns:a="http://schemas.openxmlformats.org/drawingml/2006/main">
            <a:r>
              <a:t>KOHA: 40:00–45:00 | FAZA: Specifikimi</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kuptojë se një wireframe mund të zbulojë paqartësi përpara implementimit.</a:t>
            </a:r>
          </a:p>
          <a:p xmlns:a="http://schemas.openxmlformats.org/drawingml/2006/main">
            <a:r>
              <a:t/>
            </a:r>
          </a:p>
          <a:p xmlns:a="http://schemas.openxmlformats.org/drawingml/2006/main">
            <a:r>
              <a:t>SKENARI I PROFESORIT</a:t>
            </a:r>
          </a:p>
          <a:p xmlns:a="http://schemas.openxmlformats.org/drawingml/2006/main">
            <a:r>
              <a:t>Këto janë tri pamje, ende pa kod.</a:t>
            </a:r>
          </a:p>
          <a:p xmlns:a="http://schemas.openxmlformats.org/drawingml/2006/main">
            <a:r>
              <a:t/>
            </a:r>
          </a:p>
          <a:p xmlns:a="http://schemas.openxmlformats.org/drawingml/2006/main">
            <a:r>
              <a:t>Detyra juaj është të gjeni një udhëtim dhe të kërkoni vend. Pastaj duhet të më thoni nëse vendi është konfirmuar.</a:t>
            </a:r>
          </a:p>
          <a:p xmlns:a="http://schemas.openxmlformats.org/drawingml/2006/main">
            <a:r>
              <a:t/>
            </a:r>
          </a:p>
          <a:p xmlns:a="http://schemas.openxmlformats.org/drawingml/2006/main">
            <a:r>
              <a:t>Personi që teston nuk merr shpjegime nga projektuesi. Ne vëzhgojmë ku ndalet dhe çfarë interpreton.</a:t>
            </a:r>
          </a:p>
          <a:p xmlns:a="http://schemas.openxmlformats.org/drawingml/2006/main">
            <a:r>
              <a:t/>
            </a:r>
          </a:p>
          <a:p xmlns:a="http://schemas.openxmlformats.org/drawingml/2006/main">
            <a:r>
              <a:t>Nëse duhet t’i themi shtyp këtu, kemi mësuar se pamja nuk e udhëzon mjaftueshëm.</a:t>
            </a:r>
          </a:p>
          <a:p xmlns:a="http://schemas.openxmlformats.org/drawingml/2006/main">
            <a:r>
              <a:t/>
            </a:r>
          </a:p>
          <a:p xmlns:a="http://schemas.openxmlformats.org/drawingml/2006/main">
            <a:r>
              <a:t>Nëse lexon kërkesa u dërgua dhe mendon vendi është imi, kemi një gabim me pasoja praktike.</a:t>
            </a:r>
          </a:p>
          <a:p xmlns:a="http://schemas.openxmlformats.org/drawingml/2006/main">
            <a:r>
              <a:t/>
            </a:r>
          </a:p>
          <a:p xmlns:a="http://schemas.openxmlformats.org/drawingml/2006/main">
            <a:r>
              <a:t>Ndryshimi i këtij mesazhi tani është i thjeshtë. Pas implementimit, mund të prekë ndërfaqen, logjikën dhe testet.</a:t>
            </a:r>
          </a:p>
          <a:p xmlns:a="http://schemas.openxmlformats.org/drawingml/2006/main">
            <a:r>
              <a:t/>
            </a:r>
          </a:p>
          <a:p xmlns:a="http://schemas.openxmlformats.org/drawingml/2006/main">
            <a:r>
              <a:t>PYETJA INTERAKTIVE</a:t>
            </a:r>
          </a:p>
          <a:p xmlns:a="http://schemas.openxmlformats.org/drawingml/2006/main">
            <a:r>
              <a:t>Në cilën pamje mund të lindë bindja e gabuar se vendi është konfirmuar?</a:t>
            </a:r>
          </a:p>
          <a:p xmlns:a="http://schemas.openxmlformats.org/drawingml/2006/main">
            <a:r>
              <a:t/>
            </a:r>
          </a:p>
          <a:p xmlns:a="http://schemas.openxmlformats.org/drawingml/2006/main">
            <a:r>
              <a:t>UDHËZIMI</a:t>
            </a:r>
          </a:p>
          <a:p xmlns:a="http://schemas.openxmlformats.org/drawingml/2006/main">
            <a:r>
              <a:t>2 minuta. Njëri në çift luan përdoruesin, tjetri vëzhguesin.</a:t>
            </a:r>
          </a:p>
          <a:p xmlns:a="http://schemas.openxmlformats.org/drawingml/2006/main">
            <a:r>
              <a:t/>
            </a:r>
          </a:p>
          <a:p xmlns:a="http://schemas.openxmlformats.org/drawingml/2006/main">
            <a:r>
              <a:t>PARALAJMËRIMI INXHINIERIK</a:t>
            </a:r>
          </a:p>
          <a:p xmlns:a="http://schemas.openxmlformats.org/drawingml/2006/main">
            <a:r>
              <a:t>Një prototip i kuptueshëm verifikon një pjesë të përvojës; ende nuk provon funksionimin e backend-it.</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11: Produkti mbërrin me një lidhje</a:t>
            </a:r>
          </a:p>
          <a:p xmlns:a="http://schemas.openxmlformats.org/drawingml/2006/main">
            <a:r>
              <a:t>KOHA: 45:00–49:00 | FAZA: Arkitektura mobile</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kuptojë pse PWA është zgjedhje e përshtatshme për eksperimentin dhe kur duhet shqyrtuar native.</a:t>
            </a:r>
          </a:p>
          <a:p xmlns:a="http://schemas.openxmlformats.org/drawingml/2006/main">
            <a:r>
              <a:t/>
            </a:r>
          </a:p>
          <a:p xmlns:a="http://schemas.openxmlformats.org/drawingml/2006/main">
            <a:r>
              <a:t>SKENARI I PROFESORIT</a:t>
            </a:r>
          </a:p>
          <a:p xmlns:a="http://schemas.openxmlformats.org/drawingml/2006/main">
            <a:r>
              <a:t>Për eksperimentin tonë duam që studenti ta hapë produktin nga një lidhje dhe ta provojë menjëherë.</a:t>
            </a:r>
          </a:p>
          <a:p xmlns:a="http://schemas.openxmlformats.org/drawingml/2006/main">
            <a:r>
              <a:t/>
            </a:r>
          </a:p>
          <a:p xmlns:a="http://schemas.openxmlformats.org/drawingml/2006/main">
            <a:r>
              <a:t>Një PWA na lejon ta ndërtojmë këtë përvojë me teknologji web dhe të shtojmë aftësi si instalimi dhe sjellja e projektuar pa rrjet.</a:t>
            </a:r>
          </a:p>
          <a:p xmlns:a="http://schemas.openxmlformats.org/drawingml/2006/main">
            <a:r>
              <a:t/>
            </a:r>
          </a:p>
          <a:p xmlns:a="http://schemas.openxmlformats.org/drawingml/2006/main">
            <a:r>
              <a:t>Shpërndarja përmes web-it mund të na kursejë hapat e publikimit në dyqane aplikacionesh gjatë provave të para.</a:t>
            </a:r>
          </a:p>
          <a:p xmlns:a="http://schemas.openxmlformats.org/drawingml/2006/main">
            <a:r>
              <a:t/>
            </a:r>
          </a:p>
          <a:p xmlns:a="http://schemas.openxmlformats.org/drawingml/2006/main">
            <a:r>
              <a:t>Megjithatë, zgjedhja e platformës varet nga kërkesat. Nëse produkti kërkon integrime të thella me pajisjen ose sjellje specifike në sfond, shqyrtojmë kufizimet dhe alternativat native.</a:t>
            </a:r>
          </a:p>
          <a:p xmlns:a="http://schemas.openxmlformats.org/drawingml/2006/main">
            <a:r>
              <a:t/>
            </a:r>
          </a:p>
          <a:p xmlns:a="http://schemas.openxmlformats.org/drawingml/2006/main">
            <a:r>
              <a:t>Për RideShare-in e kufizuar që përshkruam, fillojmë me PWA dhe testojmë në pajisjet që studentët përdorin realisht.</a:t>
            </a:r>
          </a:p>
          <a:p xmlns:a="http://schemas.openxmlformats.org/drawingml/2006/main">
            <a:r>
              <a:t/>
            </a:r>
          </a:p>
          <a:p xmlns:a="http://schemas.openxmlformats.org/drawingml/2006/main">
            <a:r>
              <a:t>PYETJA INTERAKTIVE</a:t>
            </a:r>
          </a:p>
          <a:p xmlns:a="http://schemas.openxmlformats.org/drawingml/2006/main">
            <a:r>
              <a:t>Cila kërkesë e re do t’ju detyronte ta rishqyrtonit zgjedhjen PWA?</a:t>
            </a:r>
          </a:p>
          <a:p xmlns:a="http://schemas.openxmlformats.org/drawingml/2006/main">
            <a:r>
              <a:t/>
            </a:r>
          </a:p>
          <a:p xmlns:a="http://schemas.openxmlformats.org/drawingml/2006/main">
            <a:r>
              <a:t>UDHËZIMI</a:t>
            </a:r>
          </a:p>
          <a:p xmlns:a="http://schemas.openxmlformats.org/drawingml/2006/main">
            <a:r>
              <a:t>1 minutë. Kërkoni një nevojë të pajisjes ose punë në sfond.</a:t>
            </a:r>
          </a:p>
          <a:p xmlns:a="http://schemas.openxmlformats.org/drawingml/2006/main">
            <a:r>
              <a:t/>
            </a:r>
          </a:p>
          <a:p xmlns:a="http://schemas.openxmlformats.org/drawingml/2006/main">
            <a:r>
              <a:t>PARALAJMËRIMI INXHINIERIK</a:t>
            </a:r>
          </a:p>
          <a:p xmlns:a="http://schemas.openxmlformats.org/drawingml/2006/main">
            <a:r>
              <a:t>Instalimi dhe aftësitë web ndryshojnë sipas shfletuesit dhe sistemit operativ.</a:t>
            </a:r>
          </a:p>
          <a:p xmlns:a="http://schemas.openxmlformats.org/drawingml/2006/main">
            <a:r>
              <a:t/>
            </a:r>
          </a:p>
          <a:p xmlns:a="http://schemas.openxmlformats.org/drawingml/2006/main">
            <a:r>
              <a:t>BURIM / SHËNIM</a:t>
            </a:r>
          </a:p>
          <a:p xmlns:a="http://schemas.openxmlformats.org/drawingml/2006/main">
            <a:r>
              <a:t>https://nextjs.org/docs/app/guides/progressive-web-apps</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12: Ku ekzekutohet vendimi?</a:t>
            </a:r>
          </a:p>
          <a:p xmlns:a="http://schemas.openxmlformats.org/drawingml/2006/main">
            <a:r>
              <a:t>KOHA: 49:00–53:00 | FAZA: Arkitektura mobile</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lidhë teknologjitë me përgjegjësi konkrete dhe të dallojë telefonin, serverin dhe databazën.</a:t>
            </a:r>
          </a:p>
          <a:p xmlns:a="http://schemas.openxmlformats.org/drawingml/2006/main">
            <a:r>
              <a:t/>
            </a:r>
          </a:p>
          <a:p xmlns:a="http://schemas.openxmlformats.org/drawingml/2006/main">
            <a:r>
              <a:t>SKENARI I PROFESORIT</a:t>
            </a:r>
          </a:p>
          <a:p xmlns:a="http://schemas.openxmlformats.org/drawingml/2006/main">
            <a:r>
              <a:t>Kur shtypim kërko vend, prekim ndërfaqen në telefon. Kërkesa duhet të arrijë te një operacion që verifikon përdoruesin dhe rregullat.</a:t>
            </a:r>
          </a:p>
          <a:p xmlns:a="http://schemas.openxmlformats.org/drawingml/2006/main">
            <a:r>
              <a:t/>
            </a:r>
          </a:p>
          <a:p xmlns:a="http://schemas.openxmlformats.org/drawingml/2006/main">
            <a:r>
              <a:t>React ndërton ndërfaqen. Next.js organizon aplikacionin dhe pjesët që ekzekutohen në server. Supabase na jep identitetin dhe ruajtjen e të dhënave.</a:t>
            </a:r>
          </a:p>
          <a:p xmlns:a="http://schemas.openxmlformats.org/drawingml/2006/main">
            <a:r>
              <a:t/>
            </a:r>
          </a:p>
          <a:p xmlns:a="http://schemas.openxmlformats.org/drawingml/2006/main">
            <a:r>
              <a:t>Server Components ekzekutohen në server. Pjesët interaktive që kërkojnë aftësi të shfletuesit përdorin Client Components. Ndarja na ndihmon të vendosim ku kryhet puna.</a:t>
            </a:r>
          </a:p>
          <a:p xmlns:a="http://schemas.openxmlformats.org/drawingml/2006/main">
            <a:r>
              <a:t/>
            </a:r>
          </a:p>
          <a:p xmlns:a="http://schemas.openxmlformats.org/drawingml/2006/main">
            <a:r>
              <a:t>TypeScript kontrollon llojet gjatë zhvillimit. Të dhënat që vijnë nga rrjeti ende kërkojnë validim.</a:t>
            </a:r>
          </a:p>
          <a:p xmlns:a="http://schemas.openxmlformats.org/drawingml/2006/main">
            <a:r>
              <a:t/>
            </a:r>
          </a:p>
          <a:p xmlns:a="http://schemas.openxmlformats.org/drawingml/2006/main">
            <a:r>
              <a:t>Për këtë kurs zgjedhim një rrugë të qartë për ndryshimet kritike: kërkesë e autentikuar, kontroll i rregullave dhe operacion i qëndrueshëm në databazë.</a:t>
            </a:r>
          </a:p>
          <a:p xmlns:a="http://schemas.openxmlformats.org/drawingml/2006/main">
            <a:r>
              <a:t/>
            </a:r>
          </a:p>
          <a:p xmlns:a="http://schemas.openxmlformats.org/drawingml/2006/main">
            <a:r>
              <a:t>PYETJA INTERAKTIVE</a:t>
            </a:r>
          </a:p>
          <a:p xmlns:a="http://schemas.openxmlformats.org/drawingml/2006/main">
            <a:r>
              <a:t>Nëse çmimi ose numri i vendeve ndryshohet në shfletues, cila pjesë duhet të vendosë nëse ndryshimi lejohet?</a:t>
            </a:r>
          </a:p>
          <a:p xmlns:a="http://schemas.openxmlformats.org/drawingml/2006/main">
            <a:r>
              <a:t/>
            </a:r>
          </a:p>
          <a:p xmlns:a="http://schemas.openxmlformats.org/drawingml/2006/main">
            <a:r>
              <a:t>UDHËZIMI</a:t>
            </a:r>
          </a:p>
          <a:p xmlns:a="http://schemas.openxmlformats.org/drawingml/2006/main">
            <a:r>
              <a:t>1 minutë. Ndiqni kërkesën përmes diagramit.</a:t>
            </a:r>
          </a:p>
          <a:p xmlns:a="http://schemas.openxmlformats.org/drawingml/2006/main">
            <a:r>
              <a:t/>
            </a:r>
          </a:p>
          <a:p xmlns:a="http://schemas.openxmlformats.org/drawingml/2006/main">
            <a:r>
              <a:t>PARALAJMËRIMI INXHINIERIK</a:t>
            </a:r>
          </a:p>
          <a:p xmlns:a="http://schemas.openxmlformats.org/drawingml/2006/main">
            <a:r>
              <a:t>Vendndodhja e kodit dhe autoriteti i tij janë vendime që duhet t’i projektojmë shprehimisht.</a:t>
            </a:r>
          </a:p>
          <a:p xmlns:a="http://schemas.openxmlformats.org/drawingml/2006/main">
            <a:r>
              <a:t/>
            </a:r>
          </a:p>
          <a:p xmlns:a="http://schemas.openxmlformats.org/drawingml/2006/main">
            <a:r>
              <a:t>BURIM / SHËNIM</a:t>
            </a:r>
          </a:p>
          <a:p xmlns:a="http://schemas.openxmlformats.org/drawingml/2006/main">
            <a:r>
              <a:t>https://nextjs.org/docs/app/getting-started/server-and-client-components</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13: Telefoni kërkon. Sistemi verifikon.</a:t>
            </a:r>
          </a:p>
          <a:p xmlns:a="http://schemas.openxmlformats.org/drawingml/2006/main">
            <a:r>
              <a:t>KOHA: 53:00–57:00 | FAZA: Arkitektura mobile</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ndajë autentikimin nga autorizimi dhe të kuptojë se klienti është mjedis i pakontrolluar.</a:t>
            </a:r>
          </a:p>
          <a:p xmlns:a="http://schemas.openxmlformats.org/drawingml/2006/main">
            <a:r>
              <a:t/>
            </a:r>
          </a:p>
          <a:p xmlns:a="http://schemas.openxmlformats.org/drawingml/2006/main">
            <a:r>
              <a:t>SKENARI I PROFESORIT</a:t>
            </a:r>
          </a:p>
          <a:p xmlns:a="http://schemas.openxmlformats.org/drawingml/2006/main">
            <a:r>
              <a:t>Telefoni është jashtë kontrollit tonë. Dikush mund të ndryshojë kërkesën ose ta dërgojë pa përdorur fare butonat tanë.</a:t>
            </a:r>
          </a:p>
          <a:p xmlns:a="http://schemas.openxmlformats.org/drawingml/2006/main">
            <a:r>
              <a:t/>
            </a:r>
          </a:p>
          <a:p xmlns:a="http://schemas.openxmlformats.org/drawingml/2006/main">
            <a:r>
              <a:t>Autentikimi na tregon kush po kërkon. Autorizimi përcakton çfarë lejohet të bëjë.</a:t>
            </a:r>
          </a:p>
          <a:p xmlns:a="http://schemas.openxmlformats.org/drawingml/2006/main">
            <a:r>
              <a:t/>
            </a:r>
          </a:p>
          <a:p xmlns:a="http://schemas.openxmlformats.org/drawingml/2006/main">
            <a:r>
              <a:t>Për shembull, një student mund të jetë i identifikuar dhe përsëri të mos ketë të drejtë të ndryshojë udhëtimin e dikujt tjetër.</a:t>
            </a:r>
          </a:p>
          <a:p xmlns:a="http://schemas.openxmlformats.org/drawingml/2006/main">
            <a:r>
              <a:t/>
            </a:r>
          </a:p>
          <a:p xmlns:a="http://schemas.openxmlformats.org/drawingml/2006/main">
            <a:r>
              <a:t>Me RLS përcaktojmë rregulla të qasjes mbi rreshtat e databazës. Duhet të konfigurojmë edhe privilegjet përkatëse.</a:t>
            </a:r>
          </a:p>
          <a:p xmlns:a="http://schemas.openxmlformats.org/drawingml/2006/main">
            <a:r>
              <a:t/>
            </a:r>
          </a:p>
          <a:p xmlns:a="http://schemas.openxmlformats.org/drawingml/2006/main">
            <a:r>
              <a:t>Çelësat me privilegje administrative mbahen në server. Ata nuk dërgohen te telefoni.</a:t>
            </a:r>
          </a:p>
          <a:p xmlns:a="http://schemas.openxmlformats.org/drawingml/2006/main">
            <a:r>
              <a:t/>
            </a:r>
          </a:p>
          <a:p xmlns:a="http://schemas.openxmlformats.org/drawingml/2006/main">
            <a:r>
              <a:t>Identiteti merret nga autentikimi i verifikuar, jo nga fusha unë jam ky përdorues në trupin e kërkesës.</a:t>
            </a:r>
          </a:p>
          <a:p xmlns:a="http://schemas.openxmlformats.org/drawingml/2006/main">
            <a:r>
              <a:t/>
            </a:r>
          </a:p>
          <a:p xmlns:a="http://schemas.openxmlformats.org/drawingml/2006/main">
            <a:r>
              <a:t>PYETJA INTERAKTIVE</a:t>
            </a:r>
          </a:p>
          <a:p xmlns:a="http://schemas.openxmlformats.org/drawingml/2006/main">
            <a:r>
              <a:t>Nëse butoni fshi është i fshehur për studentin, a e kemi ndaluar fshirjen? Ku duhet të refuzohet kërkesa?</a:t>
            </a:r>
          </a:p>
          <a:p xmlns:a="http://schemas.openxmlformats.org/drawingml/2006/main">
            <a:r>
              <a:t/>
            </a:r>
          </a:p>
          <a:p xmlns:a="http://schemas.openxmlformats.org/drawingml/2006/main">
            <a:r>
              <a:t>UDHËZIMI</a:t>
            </a:r>
          </a:p>
          <a:p xmlns:a="http://schemas.openxmlformats.org/drawingml/2006/main">
            <a:r>
              <a:t>1 minutë. Theksoni kontrollin në anën e besuar.</a:t>
            </a:r>
          </a:p>
          <a:p xmlns:a="http://schemas.openxmlformats.org/drawingml/2006/main">
            <a:r>
              <a:t/>
            </a:r>
          </a:p>
          <a:p xmlns:a="http://schemas.openxmlformats.org/drawingml/2006/main">
            <a:r>
              <a:t>PARALAJMËRIMI INXHINIERIK</a:t>
            </a:r>
          </a:p>
          <a:p xmlns:a="http://schemas.openxmlformats.org/drawingml/2006/main">
            <a:r>
              <a:t>RLS mbron qasjen sipas politikave. Integriteti i rezervimeve kërkon edhe kufizime dhe operacione të sakta në databazë.</a:t>
            </a:r>
          </a:p>
          <a:p xmlns:a="http://schemas.openxmlformats.org/drawingml/2006/main">
            <a:r>
              <a:t/>
            </a:r>
          </a:p>
          <a:p xmlns:a="http://schemas.openxmlformats.org/drawingml/2006/main">
            <a:r>
              <a:t>BURIM / SHËNIM</a:t>
            </a:r>
          </a:p>
          <a:p xmlns:a="http://schemas.openxmlformats.org/drawingml/2006/main">
            <a:r>
              <a:t>https://supabase.com/docs/guides/database/postgres/row-level-security</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14: Rrjeti nuk është premtim</a:t>
            </a:r>
          </a:p>
          <a:p xmlns:a="http://schemas.openxmlformats.org/drawingml/2006/main">
            <a:r>
              <a:t>KOHA: 57:00–61:00 | FAZA: Arkitektura mobile</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kuptojë se puna pa rrjet është sjellje e projektuar, me kufij të dukshëm.</a:t>
            </a:r>
          </a:p>
          <a:p xmlns:a="http://schemas.openxmlformats.org/drawingml/2006/main">
            <a:r>
              <a:t/>
            </a:r>
          </a:p>
          <a:p xmlns:a="http://schemas.openxmlformats.org/drawingml/2006/main">
            <a:r>
              <a:t>SKENARI I PROFESORIT</a:t>
            </a:r>
          </a:p>
          <a:p xmlns:a="http://schemas.openxmlformats.org/drawingml/2006/main">
            <a:r>
              <a:t>Studenti hap aplikacionin, pastaj humbet lidhjen. Çfarë shfaqim?</a:t>
            </a:r>
          </a:p>
          <a:p xmlns:a="http://schemas.openxmlformats.org/drawingml/2006/main">
            <a:r>
              <a:t/>
            </a:r>
          </a:p>
          <a:p xmlns:a="http://schemas.openxmlformats.org/drawingml/2006/main">
            <a:r>
              <a:t>Service Worker është një mekanizëm që mund të ndërmjetësojë kërkesa dhe të përdorë përgjigje të ruajtura. Cache Storage na ndihmon të ruajmë burime të përzgjedhura.</a:t>
            </a:r>
          </a:p>
          <a:p xmlns:a="http://schemas.openxmlformats.org/drawingml/2006/main">
            <a:r>
              <a:t/>
            </a:r>
          </a:p>
          <a:p xmlns:a="http://schemas.openxmlformats.org/drawingml/2006/main">
            <a:r>
              <a:t>Duhet të vendosim çfarë ruajmë, për sa kohë dhe si e përditësojmë.</a:t>
            </a:r>
          </a:p>
          <a:p xmlns:a="http://schemas.openxmlformats.org/drawingml/2006/main">
            <a:r>
              <a:t/>
            </a:r>
          </a:p>
          <a:p xmlns:a="http://schemas.openxmlformats.org/drawingml/2006/main">
            <a:r>
              <a:t>Për versionin tonë fillestar, mund të ruajmë skeletin e aplikacionit dhe një pamje të përshtatshme offline. Të dhënat private nuk futen pa dallim në cache.</a:t>
            </a:r>
          </a:p>
          <a:p xmlns:a="http://schemas.openxmlformats.org/drawingml/2006/main">
            <a:r>
              <a:t/>
            </a:r>
          </a:p>
          <a:p xmlns:a="http://schemas.openxmlformats.org/drawingml/2006/main">
            <a:r>
              <a:t>Nëse shfaqim një listë të vjetër udhëtimesh, e etiketojmë si të tillë. Konfirmimi i një vendi kërkon komunikim dhe verifikim.</a:t>
            </a:r>
          </a:p>
          <a:p xmlns:a="http://schemas.openxmlformats.org/drawingml/2006/main">
            <a:r>
              <a:t/>
            </a:r>
          </a:p>
          <a:p xmlns:a="http://schemas.openxmlformats.org/drawingml/2006/main">
            <a:r>
              <a:t>Përdoruesi duhet ta kuptojë dallimin mes asaj që sheh dhe asaj që sistemi ka konfirmuar.</a:t>
            </a:r>
          </a:p>
          <a:p xmlns:a="http://schemas.openxmlformats.org/drawingml/2006/main">
            <a:r>
              <a:t/>
            </a:r>
          </a:p>
          <a:p xmlns:a="http://schemas.openxmlformats.org/drawingml/2006/main">
            <a:r>
              <a:t>PYETJA INTERAKTIVE</a:t>
            </a:r>
          </a:p>
          <a:p xmlns:a="http://schemas.openxmlformats.org/drawingml/2006/main">
            <a:r>
              <a:t>Cilat informacione do të lejonit të shfaqeshin offline dhe cilat veprime do t’i ndalonit?</a:t>
            </a:r>
          </a:p>
          <a:p xmlns:a="http://schemas.openxmlformats.org/drawingml/2006/main">
            <a:r>
              <a:t/>
            </a:r>
          </a:p>
          <a:p xmlns:a="http://schemas.openxmlformats.org/drawingml/2006/main">
            <a:r>
              <a:t>UDHËZIMI</a:t>
            </a:r>
          </a:p>
          <a:p xmlns:a="http://schemas.openxmlformats.org/drawingml/2006/main">
            <a:r>
              <a:t>1 minutë. Ndani leximin nga konfirmimi i veprimit.</a:t>
            </a:r>
          </a:p>
          <a:p xmlns:a="http://schemas.openxmlformats.org/drawingml/2006/main">
            <a:r>
              <a:t/>
            </a:r>
          </a:p>
          <a:p xmlns:a="http://schemas.openxmlformats.org/drawingml/2006/main">
            <a:r>
              <a:t>PARALAJMËRIMI INXHINIERIK</a:t>
            </a:r>
          </a:p>
          <a:p xmlns:a="http://schemas.openxmlformats.org/drawingml/2006/main">
            <a:r>
              <a:t>Një përgjigje e ruajtur mund të jetë e shpejtë dhe njëkohësisht e vjetruar.</a:t>
            </a:r>
          </a:p>
          <a:p xmlns:a="http://schemas.openxmlformats.org/drawingml/2006/main">
            <a:r>
              <a:t/>
            </a:r>
          </a:p>
          <a:p xmlns:a="http://schemas.openxmlformats.org/drawingml/2006/main">
            <a:r>
              <a:t>BURIM / SHËNIM</a:t>
            </a:r>
          </a:p>
          <a:p xmlns:a="http://schemas.openxmlformats.org/drawingml/2006/main">
            <a:r>
              <a:t>https://developer.mozilla.org/en-US/docs/Web/API/Service_Worker_API</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15: Kërkesa nuk është konfirmim</a:t>
            </a:r>
          </a:p>
          <a:p xmlns:a="http://schemas.openxmlformats.org/drawingml/2006/main">
            <a:r>
              <a:t>KOHA: 61:00–65:00 | FAZA: Arkitektura mobile</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dallojë qëllimin lokal nga rezultati i konfirmuar dhe të kuptojë rrezikun e përsëritjes.</a:t>
            </a:r>
          </a:p>
          <a:p xmlns:a="http://schemas.openxmlformats.org/drawingml/2006/main">
            <a:r>
              <a:t/>
            </a:r>
          </a:p>
          <a:p xmlns:a="http://schemas.openxmlformats.org/drawingml/2006/main">
            <a:r>
              <a:t>SKENARI I PROFESORIT</a:t>
            </a:r>
          </a:p>
          <a:p xmlns:a="http://schemas.openxmlformats.org/drawingml/2006/main">
            <a:r>
              <a:t>Imagjinoni se shtypni butonin. Serveri e regjistron kërkesën, por përgjigjja humbet gjatë rrugës.</a:t>
            </a:r>
          </a:p>
          <a:p xmlns:a="http://schemas.openxmlformats.org/drawingml/2006/main">
            <a:r>
              <a:t/>
            </a:r>
          </a:p>
          <a:p xmlns:a="http://schemas.openxmlformats.org/drawingml/2006/main">
            <a:r>
              <a:t>Telefoni nuk e di nëse operacioni pati sukses. Nëse përdoruesi provon përsëri, duhet të shmangim krijimin e një kërkese të dytë.</a:t>
            </a:r>
          </a:p>
          <a:p xmlns:a="http://schemas.openxmlformats.org/drawingml/2006/main">
            <a:r>
              <a:t/>
            </a:r>
          </a:p>
          <a:p xmlns:a="http://schemas.openxmlformats.org/drawingml/2006/main">
            <a:r>
              <a:t>Këtë sjellje e projektojmë me identifikim të operacionit dhe kufizime përkatëse. Më vonë do ta lidhim me konceptin e idempotencës.</a:t>
            </a:r>
          </a:p>
          <a:p xmlns:a="http://schemas.openxmlformats.org/drawingml/2006/main">
            <a:r>
              <a:t/>
            </a:r>
          </a:p>
          <a:p xmlns:a="http://schemas.openxmlformats.org/drawingml/2006/main">
            <a:r>
              <a:t>Në MVP-në fillestare nuk do të ndërtojmë një radhë të ndërlikuar rezervimesh offline. Do të tregojmë pasigurinë dhe do të kontrollojmë statusin kur lidhja rikthehet.</a:t>
            </a:r>
          </a:p>
          <a:p xmlns:a="http://schemas.openxmlformats.org/drawingml/2006/main">
            <a:r>
              <a:t/>
            </a:r>
          </a:p>
          <a:p xmlns:a="http://schemas.openxmlformats.org/drawingml/2006/main">
            <a:r>
              <a:t>Realtime mund t’ua përditësojë pamjen përdoruesve. Vendimin për kapacitetin e ruan operacioni në databazë.</a:t>
            </a:r>
          </a:p>
          <a:p xmlns:a="http://schemas.openxmlformats.org/drawingml/2006/main">
            <a:r>
              <a:t/>
            </a:r>
          </a:p>
          <a:p xmlns:a="http://schemas.openxmlformats.org/drawingml/2006/main">
            <a:r>
              <a:t>PYETJA INTERAKTIVE</a:t>
            </a:r>
          </a:p>
          <a:p xmlns:a="http://schemas.openxmlformats.org/drawingml/2006/main">
            <a:r>
              <a:t>Çfarë mesazhi do t’i shfaqnit përdoruesit kur nuk dini nëse kërkesa mbërriti?</a:t>
            </a:r>
          </a:p>
          <a:p xmlns:a="http://schemas.openxmlformats.org/drawingml/2006/main">
            <a:r>
              <a:t/>
            </a:r>
          </a:p>
          <a:p xmlns:a="http://schemas.openxmlformats.org/drawingml/2006/main">
            <a:r>
              <a:t>UDHËZIMI</a:t>
            </a:r>
          </a:p>
          <a:p xmlns:a="http://schemas.openxmlformats.org/drawingml/2006/main">
            <a:r>
              <a:t>1 minutë. Kërkoni një mesazh të qartë, pa premtim të rremë.</a:t>
            </a:r>
          </a:p>
          <a:p xmlns:a="http://schemas.openxmlformats.org/drawingml/2006/main">
            <a:r>
              <a:t/>
            </a:r>
          </a:p>
          <a:p xmlns:a="http://schemas.openxmlformats.org/drawingml/2006/main">
            <a:r>
              <a:t>PARALAJMËRIMI INXHINIERIK</a:t>
            </a:r>
          </a:p>
          <a:p xmlns:a="http://schemas.openxmlformats.org/drawingml/2006/main">
            <a:r>
              <a:t>Mungesa e përgjigjes nuk provon se operacioni dështoi.</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16: AI propozon. Ju përgjigjeni.</a:t>
            </a:r>
          </a:p>
          <a:p xmlns:a="http://schemas.openxmlformats.org/drawingml/2006/main">
            <a:r>
              <a:t>KOHA: 65:00–70:00 | FAZA: Inteligjenca artificiale</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përdorë AI-n për të përshpejtuar punën duke ruajtur kontrollin dhe përgjegjësinë.</a:t>
            </a:r>
          </a:p>
          <a:p xmlns:a="http://schemas.openxmlformats.org/drawingml/2006/main">
            <a:r>
              <a:t/>
            </a:r>
          </a:p>
          <a:p xmlns:a="http://schemas.openxmlformats.org/drawingml/2006/main">
            <a:r>
              <a:t>SKENARI I PROFESORIT</a:t>
            </a:r>
          </a:p>
          <a:p xmlns:a="http://schemas.openxmlformats.org/drawingml/2006/main">
            <a:r>
              <a:t>Copilot, Cursor ose mjete të ngjashme mund t’ju ndihmojnë të propozoni kod, të kuptoni një gabim dhe të krijoni alternativa.</a:t>
            </a:r>
          </a:p>
          <a:p xmlns:a="http://schemas.openxmlformats.org/drawingml/2006/main">
            <a:r>
              <a:t/>
            </a:r>
          </a:p>
          <a:p xmlns:a="http://schemas.openxmlformats.org/drawingml/2006/main">
            <a:r>
              <a:t>Ju vendosni çfarë hyn në projekt.</a:t>
            </a:r>
          </a:p>
          <a:p xmlns:a="http://schemas.openxmlformats.org/drawingml/2006/main">
            <a:r>
              <a:t/>
            </a:r>
          </a:p>
          <a:p xmlns:a="http://schemas.openxmlformats.org/drawingml/2006/main">
            <a:r>
              <a:t>Rregulli ynë është: nëse nuk e shpjegoni dot çdo rresht të kodit që dorëzoni si zgjidhjen tuaj, ajo pjesë nuk merr pikë derisa të demonstroni kuptimin.</a:t>
            </a:r>
          </a:p>
          <a:p xmlns:a="http://schemas.openxmlformats.org/drawingml/2006/main">
            <a:r>
              <a:t/>
            </a:r>
          </a:p>
          <a:p xmlns:a="http://schemas.openxmlformats.org/drawingml/2006/main">
            <a:r>
              <a:t>Kjo nuk kërkon memorizimin e kodit të brendshëm të bibliotekave. Kërkon të shpjegoni ndryshimet tuaja, thirrjet që bëni dhe supozimet nga të cilat varen.</a:t>
            </a:r>
          </a:p>
          <a:p xmlns:a="http://schemas.openxmlformats.org/drawingml/2006/main">
            <a:r>
              <a:t/>
            </a:r>
          </a:p>
          <a:p xmlns:a="http://schemas.openxmlformats.org/drawingml/2006/main">
            <a:r>
              <a:t>Kur AI ju jep një zgjidhje, pyesni: çfarë beson kjo zgjidhje për përdoruesin, të dhënat dhe rrjetin?</a:t>
            </a:r>
          </a:p>
          <a:p xmlns:a="http://schemas.openxmlformats.org/drawingml/2006/main">
            <a:r>
              <a:t/>
            </a:r>
          </a:p>
          <a:p xmlns:a="http://schemas.openxmlformats.org/drawingml/2006/main">
            <a:r>
              <a:t>Pastaj provoni një rast ku ai supozim nuk qëndron.</a:t>
            </a:r>
          </a:p>
          <a:p xmlns:a="http://schemas.openxmlformats.org/drawingml/2006/main">
            <a:r>
              <a:t/>
            </a:r>
          </a:p>
          <a:p xmlns:a="http://schemas.openxmlformats.org/drawingml/2006/main">
            <a:r>
              <a:t>PYETJA INTERAKTIVE</a:t>
            </a:r>
          </a:p>
          <a:p xmlns:a="http://schemas.openxmlformats.org/drawingml/2006/main">
            <a:r>
              <a:t>AI gjeneron një funksion që pranon një rezervim. Cilat tri pyetje do t’i bënit përpara se ta pranoni në projekt?</a:t>
            </a:r>
          </a:p>
          <a:p xmlns:a="http://schemas.openxmlformats.org/drawingml/2006/main">
            <a:r>
              <a:t/>
            </a:r>
          </a:p>
          <a:p xmlns:a="http://schemas.openxmlformats.org/drawingml/2006/main">
            <a:r>
              <a:t>UDHËZIMI</a:t>
            </a:r>
          </a:p>
          <a:p xmlns:a="http://schemas.openxmlformats.org/drawingml/2006/main">
            <a:r>
              <a:t>2 minuta. Kërkoni pyetje rreth identitetit, kapacitetit dhe përsëritjes.</a:t>
            </a:r>
          </a:p>
          <a:p xmlns:a="http://schemas.openxmlformats.org/drawingml/2006/main">
            <a:r>
              <a:t/>
            </a:r>
          </a:p>
          <a:p xmlns:a="http://schemas.openxmlformats.org/drawingml/2006/main">
            <a:r>
              <a:t>PARALAJMËRIMI INXHINIERIK</a:t>
            </a:r>
          </a:p>
          <a:p xmlns:a="http://schemas.openxmlformats.org/drawingml/2006/main">
            <a:r>
              <a:t>Kod i besueshëm në pamje mund të mbështetet në supozime që nuk vlejnë për sistemin tuaj.</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17: Kërkoni edhe kundërshembullin</a:t>
            </a:r>
          </a:p>
          <a:p xmlns:a="http://schemas.openxmlformats.org/drawingml/2006/main">
            <a:r>
              <a:t>KOHA: 70:00–75:00 | FAZA: Inteligjenca artificiale</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shkruajë kërkesë të kufizuar për AI dhe të kontrollojë rezultatin me prova të pavarura.</a:t>
            </a:r>
          </a:p>
          <a:p xmlns:a="http://schemas.openxmlformats.org/drawingml/2006/main">
            <a:r>
              <a:t/>
            </a:r>
          </a:p>
          <a:p xmlns:a="http://schemas.openxmlformats.org/drawingml/2006/main">
            <a:r>
              <a:t>SKENARI I PROFESORIT</a:t>
            </a:r>
          </a:p>
          <a:p xmlns:a="http://schemas.openxmlformats.org/drawingml/2006/main">
            <a:r>
              <a:t>Shikoni ndryshimin mes dy kërkesave.</a:t>
            </a:r>
          </a:p>
          <a:p xmlns:a="http://schemas.openxmlformats.org/drawingml/2006/main">
            <a:r>
              <a:t/>
            </a:r>
          </a:p>
          <a:p xmlns:a="http://schemas.openxmlformats.org/drawingml/2006/main">
            <a:r>
              <a:t>Ndërto RideShare i lë mjetit të shpikë shumicën e vendimeve.</a:t>
            </a:r>
          </a:p>
          <a:p xmlns:a="http://schemas.openxmlformats.org/drawingml/2006/main">
            <a:r>
              <a:t/>
            </a:r>
          </a:p>
          <a:p xmlns:a="http://schemas.openxmlformats.org/drawingml/2006/main">
            <a:r>
              <a:t>Një kërkesë më e dobishme është: Propozo operacionin për kërkesën e një vendi. Identiteti duhet të vijë nga sesioni i verifikuar. Kërkesat e përsëritura nuk duhet të krijojnë dublikatë. Fillimisht shpjego supozimet dhe rastet e dështimit.</a:t>
            </a:r>
          </a:p>
          <a:p xmlns:a="http://schemas.openxmlformats.org/drawingml/2006/main">
            <a:r>
              <a:t/>
            </a:r>
          </a:p>
          <a:p xmlns:a="http://schemas.openxmlformats.org/drawingml/2006/main">
            <a:r>
              <a:t>Pastaj kërkojmë testet përkatëse dhe i shqyrtojmë vetë.</a:t>
            </a:r>
          </a:p>
          <a:p xmlns:a="http://schemas.openxmlformats.org/drawingml/2006/main">
            <a:r>
              <a:t/>
            </a:r>
          </a:p>
          <a:p xmlns:a="http://schemas.openxmlformats.org/drawingml/2006/main">
            <a:r>
              <a:t>Një kontroll i dobishëm është të heqim përkohësisht një mbrojtje dhe të shohim nëse testi e zbulon mungesën.</a:t>
            </a:r>
          </a:p>
          <a:p xmlns:a="http://schemas.openxmlformats.org/drawingml/2006/main">
            <a:r>
              <a:t/>
            </a:r>
          </a:p>
          <a:p xmlns:a="http://schemas.openxmlformats.org/drawingml/2006/main">
            <a:r>
              <a:t>Në shënimin e dorëzimit shkruani: çfarë propozoi AI, çfarë ndryshuat dhe si e verifikuat.</a:t>
            </a:r>
          </a:p>
          <a:p xmlns:a="http://schemas.openxmlformats.org/drawingml/2006/main">
            <a:r>
              <a:t/>
            </a:r>
          </a:p>
          <a:p xmlns:a="http://schemas.openxmlformats.org/drawingml/2006/main">
            <a:r>
              <a:t>PYETJA INTERAKTIVE</a:t>
            </a:r>
          </a:p>
          <a:p xmlns:a="http://schemas.openxmlformats.org/drawingml/2006/main">
            <a:r>
              <a:t>Nëse AI shkruan edhe funksionin, edhe testet, si mund të kenë të dyja të njëjtin gabim?</a:t>
            </a:r>
          </a:p>
          <a:p xmlns:a="http://schemas.openxmlformats.org/drawingml/2006/main">
            <a:r>
              <a:t/>
            </a:r>
          </a:p>
          <a:p xmlns:a="http://schemas.openxmlformats.org/drawingml/2006/main">
            <a:r>
              <a:t>UDHËZIMI</a:t>
            </a:r>
          </a:p>
          <a:p xmlns:a="http://schemas.openxmlformats.org/drawingml/2006/main">
            <a:r>
              <a:t>2 minuta. Lidhni kriterin e pranimit me testin e pavarur.</a:t>
            </a:r>
          </a:p>
          <a:p xmlns:a="http://schemas.openxmlformats.org/drawingml/2006/main">
            <a:r>
              <a:t/>
            </a:r>
          </a:p>
          <a:p xmlns:a="http://schemas.openxmlformats.org/drawingml/2006/main">
            <a:r>
              <a:t>PARALAJMËRIMI INXHINIERIK</a:t>
            </a:r>
          </a:p>
          <a:p xmlns:a="http://schemas.openxmlformats.org/drawingml/2006/main">
            <a:r>
              <a:t>Një test që përsërit supozimin e implementimit mund ta konfirmojë gabimin në vend që ta zbulojë.</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18: Pikët ndjekin provat</a:t>
            </a:r>
          </a:p>
          <a:p xmlns:a="http://schemas.openxmlformats.org/drawingml/2006/main">
            <a:r>
              <a:t>KOHA: 75:00–79:00 | FAZA: Vlerësimi dhe laboratori</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kuptojë lidhjen mes punës javore, produktit dhe zotërimit individual.</a:t>
            </a:r>
          </a:p>
          <a:p xmlns:a="http://schemas.openxmlformats.org/drawingml/2006/main">
            <a:r>
              <a:t/>
            </a:r>
          </a:p>
          <a:p xmlns:a="http://schemas.openxmlformats.org/drawingml/2006/main">
            <a:r>
              <a:t>SKENARI I PROFESORIT</a:t>
            </a:r>
          </a:p>
          <a:p xmlns:a="http://schemas.openxmlformats.org/drawingml/2006/main">
            <a:r>
              <a:t>Kjo është formula e vlerësimit.</a:t>
            </a:r>
          </a:p>
          <a:p xmlns:a="http://schemas.openxmlformats.org/drawingml/2006/main">
            <a:r>
              <a:t/>
            </a:r>
          </a:p>
          <a:p xmlns:a="http://schemas.openxmlformats.org/drawingml/2006/main">
            <a:r>
              <a:t>Pjesëmarrja përbën dhjetë për qind, sipas rregullave të kursit. Për një gabim teknik të check-in duhet të ekzistojë rrugë korrigjimi.</a:t>
            </a:r>
          </a:p>
          <a:p xmlns:a="http://schemas.openxmlformats.org/drawingml/2006/main">
            <a:r>
              <a:t/>
            </a:r>
          </a:p>
          <a:p xmlns:a="http://schemas.openxmlformats.org/drawingml/2006/main">
            <a:r>
              <a:t>Detyrat javore përbëjnë tridhjetë për qind. Ato tregojnë si përparoni dhe çfarë kuptoni.</a:t>
            </a:r>
          </a:p>
          <a:p xmlns:a="http://schemas.openxmlformats.org/drawingml/2006/main">
            <a:r>
              <a:t/>
            </a:r>
          </a:p>
          <a:p xmlns:a="http://schemas.openxmlformats.org/drawingml/2006/main">
            <a:r>
              <a:t>Projekti përbën dyzet për qind: rrjedha funksionale, përvoja mobile, trajtimi i të dhënave, kontrolli i qasjes dhe verifikimi.</a:t>
            </a:r>
          </a:p>
          <a:p xmlns:a="http://schemas.openxmlformats.org/drawingml/2006/main">
            <a:r>
              <a:t/>
            </a:r>
          </a:p>
          <a:p xmlns:a="http://schemas.openxmlformats.org/drawingml/2006/main">
            <a:r>
              <a:t>Demo Day përbën njëzet për qind, duke përfshirë shpjegimin individual.</a:t>
            </a:r>
          </a:p>
          <a:p xmlns:a="http://schemas.openxmlformats.org/drawingml/2006/main">
            <a:r>
              <a:t/>
            </a:r>
          </a:p>
          <a:p xmlns:a="http://schemas.openxmlformats.org/drawingml/2006/main">
            <a:r>
              <a:t>CI na ndihmon të kontrollojmë vazhdimisht disa kërkesa. Një rezultat i gjelbër vlen aq sa kontrollet që kemi shkruar.</a:t>
            </a:r>
          </a:p>
          <a:p xmlns:a="http://schemas.openxmlformats.org/drawingml/2006/main">
            <a:r>
              <a:t/>
            </a:r>
          </a:p>
          <a:p xmlns:a="http://schemas.openxmlformats.org/drawingml/2006/main">
            <a:r>
              <a:t>Rubrikën do ta keni përpara punës që vlerësohet.</a:t>
            </a:r>
          </a:p>
          <a:p xmlns:a="http://schemas.openxmlformats.org/drawingml/2006/main">
            <a:r>
              <a:t/>
            </a:r>
          </a:p>
          <a:p xmlns:a="http://schemas.openxmlformats.org/drawingml/2006/main">
            <a:r>
              <a:t>PYETJA INTERAKTIVE</a:t>
            </a:r>
          </a:p>
          <a:p xmlns:a="http://schemas.openxmlformats.org/drawingml/2006/main">
            <a:r>
              <a:t>Dy projekte duken njësoj. Njëri lejon përdoruesin të ndryshojë të dhënat e tjetrit. Cila provë do ta zbulonte dallimin?</a:t>
            </a:r>
          </a:p>
          <a:p xmlns:a="http://schemas.openxmlformats.org/drawingml/2006/main">
            <a:r>
              <a:t/>
            </a:r>
          </a:p>
          <a:p xmlns:a="http://schemas.openxmlformats.org/drawingml/2006/main">
            <a:r>
              <a:t>UDHËZIMI</a:t>
            </a:r>
          </a:p>
          <a:p xmlns:a="http://schemas.openxmlformats.org/drawingml/2006/main">
            <a:r>
              <a:t>1 minutë. Lidhni provën e autorizimit me rubrikën.</a:t>
            </a:r>
          </a:p>
          <a:p xmlns:a="http://schemas.openxmlformats.org/drawingml/2006/main">
            <a:r>
              <a:t/>
            </a:r>
          </a:p>
          <a:p xmlns:a="http://schemas.openxmlformats.org/drawingml/2006/main">
            <a:r>
              <a:t>PARALAJMËRIMI INXHINIERIK</a:t>
            </a:r>
          </a:p>
          <a:p xmlns:a="http://schemas.openxmlformats.org/drawingml/2006/main">
            <a:r>
              <a:t>Build-i i suksesshëm tregon se projekti ndërtohet. Nuk provon se kërkesat e produktit plotësohen.</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19: Demonstroni edhe kur dështon</a:t>
            </a:r>
          </a:p>
          <a:p xmlns:a="http://schemas.openxmlformats.org/drawingml/2006/main">
            <a:r>
              <a:t>KOHA: 79:00–83:00 | FAZA: Vlerësimi dhe laboratori</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shohë demonstrimin si provë funksionimi dhe arsyetimi.</a:t>
            </a:r>
          </a:p>
          <a:p xmlns:a="http://schemas.openxmlformats.org/drawingml/2006/main">
            <a:r>
              <a:t/>
            </a:r>
          </a:p>
          <a:p xmlns:a="http://schemas.openxmlformats.org/drawingml/2006/main">
            <a:r>
              <a:t>SKENARI I PROFESORIT</a:t>
            </a:r>
          </a:p>
          <a:p xmlns:a="http://schemas.openxmlformats.org/drawingml/2006/main">
            <a:r>
              <a:t>Në fund të semestrit do ta paraqitni produktin para jurisë.</a:t>
            </a:r>
          </a:p>
          <a:p xmlns:a="http://schemas.openxmlformats.org/drawingml/2006/main">
            <a:r>
              <a:t/>
            </a:r>
          </a:p>
          <a:p xmlns:a="http://schemas.openxmlformats.org/drawingml/2006/main">
            <a:r>
              <a:t>Formati që propozoj është i përqendruar: një minutë për problemin dhe evidencën, dy minuta për rrjedhën kryesore, një minutë për një dështim, një minutë për një vendim arkitekturor. Pastaj pyetje.</a:t>
            </a:r>
          </a:p>
          <a:p xmlns:a="http://schemas.openxmlformats.org/drawingml/2006/main">
            <a:r>
              <a:t/>
            </a:r>
          </a:p>
          <a:p xmlns:a="http://schemas.openxmlformats.org/drawingml/2006/main">
            <a:r>
              <a:t>Dështimi mund të jetë mungesa e rrjetit, një kërkesë e palejuar ose një udhëtim pa vende.</a:t>
            </a:r>
          </a:p>
          <a:p xmlns:a="http://schemas.openxmlformats.org/drawingml/2006/main">
            <a:r>
              <a:t/>
            </a:r>
          </a:p>
          <a:p xmlns:a="http://schemas.openxmlformats.org/drawingml/2006/main">
            <a:r>
              <a:t>Për RideShare, demonstrimi duhet të tregojë qartë dallimin mes kërkesës dhe pranimit.</a:t>
            </a:r>
          </a:p>
          <a:p xmlns:a="http://schemas.openxmlformats.org/drawingml/2006/main">
            <a:r>
              <a:t/>
            </a:r>
          </a:p>
          <a:p xmlns:a="http://schemas.openxmlformats.org/drawingml/2006/main">
            <a:r>
              <a:t>Ju duhet gjithashtu të tregoni çfarë ndryshuat pas feedback-ut.</a:t>
            </a:r>
          </a:p>
          <a:p xmlns:a="http://schemas.openxmlformats.org/drawingml/2006/main">
            <a:r>
              <a:t/>
            </a:r>
          </a:p>
          <a:p xmlns:a="http://schemas.openxmlformats.org/drawingml/2006/main">
            <a:r>
              <a:t>Një themelues argumenton vlerën. Një inxhinier demonstron kufijtë dhe sjelljen. Në këtë kurs do t’i ushtroni të dyja.</a:t>
            </a:r>
          </a:p>
          <a:p xmlns:a="http://schemas.openxmlformats.org/drawingml/2006/main">
            <a:r>
              <a:t/>
            </a:r>
          </a:p>
          <a:p xmlns:a="http://schemas.openxmlformats.org/drawingml/2006/main">
            <a:r>
              <a:t>PYETJA INTERAKTIVE</a:t>
            </a:r>
          </a:p>
          <a:p xmlns:a="http://schemas.openxmlformats.org/drawingml/2006/main">
            <a:r>
              <a:t>Cilin dështim do të zgjidhnit për ta demonstruar dhe çfarë do të provonte ai për produktin tuaj?</a:t>
            </a:r>
          </a:p>
          <a:p xmlns:a="http://schemas.openxmlformats.org/drawingml/2006/main">
            <a:r>
              <a:t/>
            </a:r>
          </a:p>
          <a:p xmlns:a="http://schemas.openxmlformats.org/drawingml/2006/main">
            <a:r>
              <a:t>UDHËZIMI</a:t>
            </a:r>
          </a:p>
          <a:p xmlns:a="http://schemas.openxmlformats.org/drawingml/2006/main">
            <a:r>
              <a:t>1 minutë. Merrni dy shembuj.</a:t>
            </a:r>
          </a:p>
          <a:p xmlns:a="http://schemas.openxmlformats.org/drawingml/2006/main">
            <a:r>
              <a:t/>
            </a:r>
          </a:p>
          <a:p xmlns:a="http://schemas.openxmlformats.org/drawingml/2006/main">
            <a:r>
              <a:t>PARALAJMËRIMI INXHINIERIK</a:t>
            </a:r>
          </a:p>
          <a:p xmlns:a="http://schemas.openxmlformats.org/drawingml/2006/main">
            <a:r>
              <a:t>Një demonstrim vetëm i rrugës ideale lë të panjohur sjelljen kur kushtet ndryshojnë.</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20: Ndryshimi juaj, në telefon</a:t>
            </a:r>
          </a:p>
          <a:p xmlns:a="http://schemas.openxmlformats.org/drawingml/2006/main">
            <a:r>
              <a:t>KOHA: 83:00–88:00 | FAZA: Vlerësimi dhe laboratori</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kuptojë rezultatin konkret të laboratorit dhe lidhjen mes kodit, historikut dhe publikimit.</a:t>
            </a:r>
          </a:p>
          <a:p xmlns:a="http://schemas.openxmlformats.org/drawingml/2006/main">
            <a:r>
              <a:t/>
            </a:r>
          </a:p>
          <a:p xmlns:a="http://schemas.openxmlformats.org/drawingml/2006/main">
            <a:r>
              <a:t>SKENARI I PROFESORIT</a:t>
            </a:r>
          </a:p>
          <a:p xmlns:a="http://schemas.openxmlformats.org/drawingml/2006/main">
            <a:r>
              <a:t>Në laborator do të përdorim një projekt fillestar të përgatitur dhe të testuar.</a:t>
            </a:r>
          </a:p>
          <a:p xmlns:a="http://schemas.openxmlformats.org/drawingml/2006/main">
            <a:r>
              <a:t/>
            </a:r>
          </a:p>
          <a:p xmlns:a="http://schemas.openxmlformats.org/drawingml/2006/main">
            <a:r>
              <a:t>Do ta vendosni në repository-n tuaj, do të ndryshoni një pjesë të dukshme dhe do të krijoni commit-in përkatës.</a:t>
            </a:r>
          </a:p>
          <a:p xmlns:a="http://schemas.openxmlformats.org/drawingml/2006/main">
            <a:r>
              <a:t/>
            </a:r>
          </a:p>
          <a:p xmlns:a="http://schemas.openxmlformats.org/drawingml/2006/main">
            <a:r>
              <a:t>Pastaj do ta lidhni me Vercel dhe do ta hapni adresën publike në telefon.</a:t>
            </a:r>
          </a:p>
          <a:p xmlns:a="http://schemas.openxmlformats.org/drawingml/2006/main">
            <a:r>
              <a:t/>
            </a:r>
          </a:p>
          <a:p xmlns:a="http://schemas.openxmlformats.org/drawingml/2006/main">
            <a:r>
              <a:t>Prova kryesore vjen pas kësaj: bëni një ndryshim të dytë dhe kontrolloni nëse ai shfaqet pas publikimit të ri.</a:t>
            </a:r>
          </a:p>
          <a:p xmlns:a="http://schemas.openxmlformats.org/drawingml/2006/main">
            <a:r>
              <a:t/>
            </a:r>
          </a:p>
          <a:p xmlns:a="http://schemas.openxmlformats.org/drawingml/2006/main">
            <a:r>
              <a:t>Projekti fillestar përmban konfigurimin bazë PWA që do ta studiojmë gradualisht. Sot nuk presim backend të plotë ose rezervime reale.</a:t>
            </a:r>
          </a:p>
          <a:p xmlns:a="http://schemas.openxmlformats.org/drawingml/2006/main">
            <a:r>
              <a:t/>
            </a:r>
          </a:p>
          <a:p xmlns:a="http://schemas.openxmlformats.org/drawingml/2006/main">
            <a:r>
              <a:t>Nëse instalimi lokal ju bllokon, asistenti ju kalon te rruga në shfletues. Aktivizimi i një mjeti AI nuk është kusht për ta përfunduar detyrën.</a:t>
            </a:r>
          </a:p>
          <a:p xmlns:a="http://schemas.openxmlformats.org/drawingml/2006/main">
            <a:r>
              <a:t/>
            </a:r>
          </a:p>
          <a:p xmlns:a="http://schemas.openxmlformats.org/drawingml/2006/main">
            <a:r>
              <a:t>PYETJA INTERAKTIVE</a:t>
            </a:r>
          </a:p>
          <a:p xmlns:a="http://schemas.openxmlformats.org/drawingml/2006/main">
            <a:r>
              <a:t>Çfarë duhet të dorëzoni që asistenti ta lidhë ndryshimin tuaj në kod me faqen që po sheh në telefon?</a:t>
            </a:r>
          </a:p>
          <a:p xmlns:a="http://schemas.openxmlformats.org/drawingml/2006/main">
            <a:r>
              <a:t/>
            </a:r>
          </a:p>
          <a:p xmlns:a="http://schemas.openxmlformats.org/drawingml/2006/main">
            <a:r>
              <a:t>UDHËZIMI</a:t>
            </a:r>
          </a:p>
          <a:p xmlns:a="http://schemas.openxmlformats.org/drawingml/2006/main">
            <a:r>
              <a:t>1 minutë. Përgjigjja e synuar: repo, commit dhe URL funksionale. Laboratori 45-minutësh zhvillohet veçmas.</a:t>
            </a:r>
          </a:p>
          <a:p xmlns:a="http://schemas.openxmlformats.org/drawingml/2006/main">
            <a:r>
              <a:t/>
            </a:r>
          </a:p>
          <a:p xmlns:a="http://schemas.openxmlformats.org/drawingml/2006/main">
            <a:r>
              <a:t>PARALAJMËRIMI INXHINIERIK</a:t>
            </a:r>
          </a:p>
          <a:p xmlns:a="http://schemas.openxmlformats.org/drawingml/2006/main">
            <a:r>
              <a:t>Publikimi automatik shpërndan ndryshimet. Cilësia varet nga kontrollet që kryhen përpara dhe pas tij.</a:t>
            </a:r>
          </a:p>
          <a:p xmlns:a="http://schemas.openxmlformats.org/drawingml/2006/main">
            <a:r>
              <a:t/>
            </a:r>
          </a:p>
          <a:p xmlns:a="http://schemas.openxmlformats.org/drawingml/2006/main">
            <a:r>
              <a:t>BURIM / SHËNIM</a:t>
            </a:r>
          </a:p>
          <a:p xmlns:a="http://schemas.openxmlformats.org/drawingml/2006/main">
            <a:r>
              <a:t>https://vercel.com/docs/git</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LIGJËRATA 1 — PROGRAMIMI PËR PAJISJE MOBILE</a:t>
            </a:r>
          </a:p>
          <a:p xmlns:a="http://schemas.openxmlformats.org/drawingml/2006/main">
            <a:r>
              <a:t>SLAJDI 21: Cilin supozim do të provoni?</a:t>
            </a:r>
          </a:p>
          <a:p xmlns:a="http://schemas.openxmlformats.org/drawingml/2006/main">
            <a:r>
              <a:t>KOHA: 88:00–90:00 | FAZA: Reflektimi</a:t>
            </a:r>
          </a:p>
          <a:p xmlns:a="http://schemas.openxmlformats.org/drawingml/2006/main">
            <a:r>
              <a:t>Koha përfshin ndërveprimin.</a:t>
            </a:r>
          </a:p>
          <a:p xmlns:a="http://schemas.openxmlformats.org/drawingml/2006/main">
            <a:r>
              <a:t/>
            </a:r>
          </a:p>
          <a:p xmlns:a="http://schemas.openxmlformats.org/drawingml/2006/main">
            <a:r>
              <a:t>OBJEKTIVI KOGNITIV</a:t>
            </a:r>
          </a:p>
          <a:p xmlns:a="http://schemas.openxmlformats.org/drawingml/2006/main">
            <a:r>
              <a:t>Studenti të dalë me një problem të kufizuar dhe një hap të qartë për mbledhjen e provave.</a:t>
            </a:r>
          </a:p>
          <a:p xmlns:a="http://schemas.openxmlformats.org/drawingml/2006/main">
            <a:r>
              <a:t/>
            </a:r>
          </a:p>
          <a:p xmlns:a="http://schemas.openxmlformats.org/drawingml/2006/main">
            <a:r>
              <a:t>SKENARI I PROFESORIT</a:t>
            </a:r>
          </a:p>
          <a:p xmlns:a="http://schemas.openxmlformats.org/drawingml/2006/main">
            <a:r>
              <a:t>Përpara se të dilni, plotësoni këto tri fjali. Keni një minutë.</a:t>
            </a:r>
          </a:p>
          <a:p xmlns:a="http://schemas.openxmlformats.org/drawingml/2006/main">
            <a:r>
              <a:t/>
            </a:r>
          </a:p>
          <a:p xmlns:a="http://schemas.openxmlformats.org/drawingml/2006/main">
            <a:r>
              <a:t>Për javën tjetër, zhvilloni tri biseda të shkurtra me persona që mund ta kenë problemin. Pyetini për rastin e fundit kur e përjetuan dhe si vepruan. Shënimet i sillni të anonimizuara.</a:t>
            </a:r>
          </a:p>
          <a:p xmlns:a="http://schemas.openxmlformats.org/drawingml/2006/main">
            <a:r>
              <a:t/>
            </a:r>
          </a:p>
          <a:p xmlns:a="http://schemas.openxmlformats.org/drawingml/2006/main">
            <a:r>
              <a:t>Pastaj përgatisni PRD-në paraprake dhe shkruani një veçori që qëllimisht do ta lini jashtë MVP-së.</a:t>
            </a:r>
          </a:p>
          <a:p xmlns:a="http://schemas.openxmlformats.org/drawingml/2006/main">
            <a:r>
              <a:t/>
            </a:r>
          </a:p>
          <a:p xmlns:a="http://schemas.openxmlformats.org/drawingml/2006/main">
            <a:r>
              <a:t>Sot ndoqëm rrugën nga një mëngjes i pasigurt te kërkesat, kufijtë dhe provat.</a:t>
            </a:r>
          </a:p>
          <a:p xmlns:a="http://schemas.openxmlformats.org/drawingml/2006/main">
            <a:r>
              <a:t/>
            </a:r>
          </a:p>
          <a:p xmlns:a="http://schemas.openxmlformats.org/drawingml/2006/main">
            <a:r>
              <a:t>Hapi juaj i radhës është të zbuloni nëse supozimi fillestar qëndron.</a:t>
            </a:r>
          </a:p>
          <a:p xmlns:a="http://schemas.openxmlformats.org/drawingml/2006/main">
            <a:r>
              <a:t/>
            </a:r>
          </a:p>
          <a:p xmlns:a="http://schemas.openxmlformats.org/drawingml/2006/main">
            <a:r>
              <a:t>PYETJA INTERAKTIVE</a:t>
            </a:r>
          </a:p>
          <a:p xmlns:a="http://schemas.openxmlformats.org/drawingml/2006/main">
            <a:r>
              <a:t>Cili informacion nga një përdorues real mund t’ju bëjë ta ndryshoni idenë?</a:t>
            </a:r>
          </a:p>
          <a:p xmlns:a="http://schemas.openxmlformats.org/drawingml/2006/main">
            <a:r>
              <a:t/>
            </a:r>
          </a:p>
          <a:p xmlns:a="http://schemas.openxmlformats.org/drawingml/2006/main">
            <a:r>
              <a:t>UDHËZIMI</a:t>
            </a:r>
          </a:p>
          <a:p xmlns:a="http://schemas.openxmlformats.org/drawingml/2006/main">
            <a:r>
              <a:t>1 minutë shkrim individual. Dorëzohet në letër si exit ticket. Nuk hapet debat shtesë.</a:t>
            </a:r>
          </a:p>
          <a:p xmlns:a="http://schemas.openxmlformats.org/drawingml/2006/main">
            <a:r>
              <a:t/>
            </a:r>
          </a:p>
          <a:p xmlns:a="http://schemas.openxmlformats.org/drawingml/2006/main">
            <a:r>
              <a:t>PARALAJMËRIMI INXHINIERIK</a:t>
            </a:r>
          </a:p>
          <a:p xmlns:a="http://schemas.openxmlformats.org/drawingml/2006/main">
            <a:r>
              <a:t>Nëse asnjë rezultat nuk mund ta ndryshojë idenë tuaj, hipoteza ende nuk është e testueshme.</a:t>
            </a:r>
          </a:p>
          <a:p xmlns:a="http://schemas.openxmlformats.org/drawingml/2006/main">
            <a:r>
              <a:t/>
            </a:r>
          </a:p>
          <a:p xmlns:a="http://schemas.openxmlformats.org/drawingml/2006/main">
            <a:r>
              <a:t>Të gjitha situatat, oraret, pamjet e aplikacionit dhe identitetet e RideShare janë ilustrime mësimore.</a:t>
            </a:r>
          </a:p>
          <a:p xmlns:a="http://schemas.openxmlformats.org/drawingml/2006/main">
            <a:r>
              <a:t/>
            </a:r>
          </a:p>
          <a:p xmlns:a="http://schemas.openxmlformats.org/drawingml/2006/main">
            <a:r>
              <a:t>Logo: https://aab-edu.net/wp-content/themes/Kolegji-AAB/dist/img/kolegji-aab-logo.svg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0b66bf6d5be4df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37a39f07bfd49f2" /><Relationship Type="http://schemas.openxmlformats.org/officeDocument/2006/relationships/slideLayout" Target="/ppt/slideLayouts/slideLayout1.xml" Id="R0754685b2e43419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754685b2e43419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e062c5ea6b9490a" /><Relationship Type="http://schemas.openxmlformats.org/officeDocument/2006/relationships/image" Target="/ppt/media/image.png" Id="Ra243a7a739104693" /><Relationship Type="http://schemas.openxmlformats.org/officeDocument/2006/relationships/notesSlide" Target="/ppt/notesSlides/notesSlide1.xml" Id="R0029e5bdb1ad4d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0658e0ccf5a46c4" /><Relationship Type="http://schemas.openxmlformats.org/officeDocument/2006/relationships/image" Target="/ppt/media/image2.png" Id="R1fc20b2eaa22486f" /><Relationship Type="http://schemas.openxmlformats.org/officeDocument/2006/relationships/notesSlide" Target="/ppt/notesSlides/notesSlide2.xml" Id="R0f21ad9934a9473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196b039f0244d2f" /><Relationship Type="http://schemas.openxmlformats.org/officeDocument/2006/relationships/image" Target="/ppt/media/image3.png" Id="Re1363725f64349c4" /><Relationship Type="http://schemas.openxmlformats.org/officeDocument/2006/relationships/notesSlide" Target="/ppt/notesSlides/notesSlide3.xml" Id="R2951c98e69ad49e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deda07f986442f7" /><Relationship Type="http://schemas.openxmlformats.org/officeDocument/2006/relationships/image" Target="/ppt/media/image4.png" Id="R36ce272619b1429a" /><Relationship Type="http://schemas.openxmlformats.org/officeDocument/2006/relationships/notesSlide" Target="/ppt/notesSlides/notesSlide4.xml" Id="Rbdbbae3f3c82427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ad6892f45db4cb6" /><Relationship Type="http://schemas.openxmlformats.org/officeDocument/2006/relationships/image" Target="/ppt/media/image5.png" Id="R62afa0df71354993" /><Relationship Type="http://schemas.openxmlformats.org/officeDocument/2006/relationships/notesSlide" Target="/ppt/notesSlides/notesSlide5.xml" Id="R30f3079d6fbd4e5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e26678246a2403e" /><Relationship Type="http://schemas.openxmlformats.org/officeDocument/2006/relationships/image" Target="/ppt/media/image6.png" Id="Rc65f15f84fce44f1" /><Relationship Type="http://schemas.openxmlformats.org/officeDocument/2006/relationships/notesSlide" Target="/ppt/notesSlides/notesSlide6.xml" Id="Rdaf0c2ef79064d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3e7d4bf767c4b93" /><Relationship Type="http://schemas.openxmlformats.org/officeDocument/2006/relationships/image" Target="/ppt/media/image7.png" Id="Rc8d13fb93b974a77" /><Relationship Type="http://schemas.openxmlformats.org/officeDocument/2006/relationships/notesSlide" Target="/ppt/notesSlides/notesSlide7.xml" Id="R846a87694ebe4e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c934164a6494cb3" /><Relationship Type="http://schemas.openxmlformats.org/officeDocument/2006/relationships/image" Target="/ppt/media/image8.png" Id="R313cc01891e84e22" /><Relationship Type="http://schemas.openxmlformats.org/officeDocument/2006/relationships/notesSlide" Target="/ppt/notesSlides/notesSlide8.xml" Id="R306082b70fb4452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a3db2cdb8b540d8" /><Relationship Type="http://schemas.openxmlformats.org/officeDocument/2006/relationships/image" Target="/ppt/media/image9.png" Id="Rbacc376dffb34012" /><Relationship Type="http://schemas.openxmlformats.org/officeDocument/2006/relationships/notesSlide" Target="/ppt/notesSlides/notesSlide9.xml" Id="Rc12ce3a87c634fa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64acf8538844a08" /><Relationship Type="http://schemas.openxmlformats.org/officeDocument/2006/relationships/image" Target="/ppt/media/image10.png" Id="R9774eb9d87664a5a" /><Relationship Type="http://schemas.openxmlformats.org/officeDocument/2006/relationships/image" Target="/ppt/media/image11.png" Id="Rba131908bd9f48cd" /><Relationship Type="http://schemas.openxmlformats.org/officeDocument/2006/relationships/notesSlide" Target="/ppt/notesSlides/notesSlide10.xml" Id="Ra3da6678ebcd46b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83308bfb53846aa" /><Relationship Type="http://schemas.openxmlformats.org/officeDocument/2006/relationships/image" Target="/ppt/media/image12.png" Id="R51bef60c1719491a" /><Relationship Type="http://schemas.openxmlformats.org/officeDocument/2006/relationships/notesSlide" Target="/ppt/notesSlides/notesSlide11.xml" Id="R502b7a4a6bef409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88a4097a8d94ded" /><Relationship Type="http://schemas.openxmlformats.org/officeDocument/2006/relationships/image" Target="/ppt/media/image13.png" Id="R968fcfa1e2c24eaf" /><Relationship Type="http://schemas.openxmlformats.org/officeDocument/2006/relationships/notesSlide" Target="/ppt/notesSlides/notesSlide12.xml" Id="Rf1817c7e8359434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e2a44d0a7da493e" /><Relationship Type="http://schemas.openxmlformats.org/officeDocument/2006/relationships/image" Target="/ppt/media/image14.png" Id="Rba5f01c83da94874" /><Relationship Type="http://schemas.openxmlformats.org/officeDocument/2006/relationships/notesSlide" Target="/ppt/notesSlides/notesSlide13.xml" Id="R7127fe9d791348d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e3ad39335154c69" /><Relationship Type="http://schemas.openxmlformats.org/officeDocument/2006/relationships/image" Target="/ppt/media/image15.png" Id="R54b3663926e04dfa" /><Relationship Type="http://schemas.openxmlformats.org/officeDocument/2006/relationships/notesSlide" Target="/ppt/notesSlides/notesSlide14.xml" Id="R5ffd2bd78cfb4e3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28203a44809468f" /><Relationship Type="http://schemas.openxmlformats.org/officeDocument/2006/relationships/image" Target="/ppt/media/image16.png" Id="R2cc19a352b8440f3" /><Relationship Type="http://schemas.openxmlformats.org/officeDocument/2006/relationships/notesSlide" Target="/ppt/notesSlides/notesSlide15.xml" Id="R05ef6c74cba44a0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8aa5005563b4a9f" /><Relationship Type="http://schemas.openxmlformats.org/officeDocument/2006/relationships/image" Target="/ppt/media/image17.png" Id="R58907d9627b54a78" /><Relationship Type="http://schemas.openxmlformats.org/officeDocument/2006/relationships/notesSlide" Target="/ppt/notesSlides/notesSlide16.xml" Id="R7d42b207ebdc4c6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5c9543fb2a34d86" /><Relationship Type="http://schemas.openxmlformats.org/officeDocument/2006/relationships/image" Target="/ppt/media/image18.png" Id="Rbd4973aaa44e43db" /><Relationship Type="http://schemas.openxmlformats.org/officeDocument/2006/relationships/notesSlide" Target="/ppt/notesSlides/notesSlide17.xml" Id="R1ebb8eb91a6b48d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1e90f5d076e4796" /><Relationship Type="http://schemas.openxmlformats.org/officeDocument/2006/relationships/image" Target="/ppt/media/image19.png" Id="Rb6623f22b2be473b" /><Relationship Type="http://schemas.openxmlformats.org/officeDocument/2006/relationships/notesSlide" Target="/ppt/notesSlides/notesSlide18.xml" Id="R56a91cc48bac46e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cf63898e13e4754" /><Relationship Type="http://schemas.openxmlformats.org/officeDocument/2006/relationships/image" Target="/ppt/media/image20.png" Id="R1afc3fae45b64d34" /><Relationship Type="http://schemas.openxmlformats.org/officeDocument/2006/relationships/notesSlide" Target="/ppt/notesSlides/notesSlide19.xml" Id="R4f49f46f2c9c480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d5381ba613c42fa" /><Relationship Type="http://schemas.openxmlformats.org/officeDocument/2006/relationships/image" Target="/ppt/media/image21.png" Id="R98ace120382a43e3" /><Relationship Type="http://schemas.openxmlformats.org/officeDocument/2006/relationships/notesSlide" Target="/ppt/notesSlides/notesSlide20.xml" Id="Ra07ec33fd13641b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0a55afa60c943fe" /><Relationship Type="http://schemas.openxmlformats.org/officeDocument/2006/relationships/image" Target="/ppt/media/image22.png" Id="R5d14c913be434580" /><Relationship Type="http://schemas.openxmlformats.org/officeDocument/2006/relationships/notesSlide" Target="/ppt/notesSlides/notesSlide21.xml" Id="Rb74a95e2bbb640e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2ef5da393f14d89" /><Relationship Type="http://schemas.openxmlformats.org/officeDocument/2006/relationships/image" Target="/ppt/media/image23.png" Id="Rf8eaaf691b6349f2" /><Relationship Type="http://schemas.openxmlformats.org/officeDocument/2006/relationships/notesSlide" Target="/ppt/notesSlides/notesSlide22.xml" Id="Rd1113e4908c3447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f30e533f3cc49e2" /><Relationship Type="http://schemas.openxmlformats.org/officeDocument/2006/relationships/image" Target="/ppt/media/image24.png" Id="R349646eef29c4cd9" /><Relationship Type="http://schemas.openxmlformats.org/officeDocument/2006/relationships/notesSlide" Target="/ppt/notesSlides/notesSlide23.xml" Id="R2e310e6dc6f94f2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35bac4102144109" /><Relationship Type="http://schemas.openxmlformats.org/officeDocument/2006/relationships/image" Target="/ppt/media/image25.png" Id="Rc08b661624bd4359" /><Relationship Type="http://schemas.openxmlformats.org/officeDocument/2006/relationships/notesSlide" Target="/ppt/notesSlides/notesSlide24.xml" Id="R45c5f2dda59841d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893cc12777b430f" /><Relationship Type="http://schemas.openxmlformats.org/officeDocument/2006/relationships/image" Target="/ppt/media/image26.png" Id="R2faaef6cf63549da" /><Relationship Type="http://schemas.openxmlformats.org/officeDocument/2006/relationships/notesSlide" Target="/ppt/notesSlides/notesSlide25.xml" Id="Rbb3f909917a742d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4a9267981ac41e5" /><Relationship Type="http://schemas.openxmlformats.org/officeDocument/2006/relationships/chart" Target="/ppt/slides/charts/chart1.xml" Id="Ra5480f1dec004572" /><Relationship Type="http://schemas.openxmlformats.org/officeDocument/2006/relationships/image" Target="/ppt/media/image27.png" Id="Rb66087b0c8c04312" /><Relationship Type="http://schemas.openxmlformats.org/officeDocument/2006/relationships/notesSlide" Target="/ppt/notesSlides/notesSlide26.xml" Id="R8516e0c6cc954b6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ee883e5bc1a440c" /><Relationship Type="http://schemas.openxmlformats.org/officeDocument/2006/relationships/image" Target="/ppt/media/image28.png" Id="R6283e919e6d64c50" /><Relationship Type="http://schemas.openxmlformats.org/officeDocument/2006/relationships/notesSlide" Target="/ppt/notesSlides/notesSlide27.xml" Id="R1e8d7b7270df402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653f6358ee94b9b" /><Relationship Type="http://schemas.openxmlformats.org/officeDocument/2006/relationships/image" Target="/ppt/media/image29.png" Id="R0e9f8901551f4f7f" /><Relationship Type="http://schemas.openxmlformats.org/officeDocument/2006/relationships/notesSlide" Target="/ppt/notesSlides/notesSlide28.xml" Id="R1aad51e70084469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d40659452be7492d" /><Relationship Type="http://schemas.openxmlformats.org/officeDocument/2006/relationships/image" Target="/ppt/media/image30.png" Id="Re2405347440b457e" /><Relationship Type="http://schemas.openxmlformats.org/officeDocument/2006/relationships/notesSlide" Target="/ppt/notesSlides/notesSlide29.xml" Id="R892516955b2e4b2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Pesha në vlerësim (%)</c:v>
          </c:tx>
          <c:spPr>
            <a:solidFill xmlns:a="http://schemas.openxmlformats.org/drawingml/2006/main">
              <a:srgbClr val="63CDF2"/>
            </a:solidFill>
          </c:spPr>
          <c:dPt>
            <c:idx val="0"/>
            <c:invertIfNegative val="0"/>
            <c:spPr>
              <a:solidFill xmlns:a="http://schemas.openxmlformats.org/drawingml/2006/main">
                <a:srgbClr val="AEBFCB"/>
              </a:solidFill>
            </c:spPr>
          </c:dPt>
          <c:dPt>
            <c:idx val="1"/>
            <c:invertIfNegative val="0"/>
            <c:spPr>
              <a:solidFill xmlns:a="http://schemas.openxmlformats.org/drawingml/2006/main">
                <a:srgbClr val="63CDF2"/>
              </a:solidFill>
            </c:spPr>
          </c:dPt>
          <c:dPt>
            <c:idx val="2"/>
            <c:invertIfNegative val="0"/>
            <c:spPr>
              <a:solidFill xmlns:a="http://schemas.openxmlformats.org/drawingml/2006/main">
                <a:srgbClr val="91DEBB"/>
              </a:solidFill>
            </c:spPr>
          </c:dPt>
          <c:dPt>
            <c:idx val="3"/>
            <c:invertIfNegative val="0"/>
            <c:spPr>
              <a:solidFill xmlns:a="http://schemas.openxmlformats.org/drawingml/2006/main">
                <a:srgbClr val="F2BB66"/>
              </a:solidFill>
            </c:spPr>
          </c:dPt>
          <c:cat>
            <c:strRef>
              <c:f>'Chart Data'!$A$2:$A$5</c:f>
              <c:strCache>
                <c:ptCount val="4"/>
                <c:pt idx="0">
                  <c:v>Pjesëmarrja</c:v>
                </c:pt>
                <c:pt idx="1">
                  <c:v>Detyrat javore</c:v>
                </c:pt>
                <c:pt idx="2">
                  <c:v>Projekti</c:v>
                </c:pt>
                <c:pt idx="3">
                  <c:v>Demo Day</c:v>
                </c:pt>
              </c:strCache>
            </c:strRef>
          </c:cat>
          <c:val>
            <c:numRef>
              <c:f>'Chart Data'!$B$2:$B$5</c:f>
              <c:numCache>
                <c:formatCode>0"%"</c:formatCode>
                <c:ptCount val="4"/>
                <c:pt idx="0">
                  <c:v>10</c:v>
                </c:pt>
                <c:pt idx="1">
                  <c:v>30</c:v>
                </c:pt>
                <c:pt idx="2">
                  <c:v>40</c:v>
                </c:pt>
                <c:pt idx="3">
                  <c:v>20</c:v>
                </c:pt>
              </c:numCache>
            </c:numRef>
          </c:val>
        </c:ser>
        <c:dLbls>
          <c:txPr>
            <a:bodyPr xmlns:a="http://schemas.openxmlformats.org/drawingml/2006/main" anchorCtr="1"/>
            <a:lstStyle xmlns:a="http://schemas.openxmlformats.org/drawingml/2006/main"/>
            <a:p xmlns:a="http://schemas.openxmlformats.org/drawingml/2006/main">
              <a:pPr>
                <a:defRPr sz="3225" b="1">
                  <a:solidFill>
                    <a:srgbClr val="F4F2EC"/>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950">
                <a:solidFill>
                  <a:srgbClr val="F4F2EC"/>
                </a:solidFill>
                <a:latin typeface="Helvetica Neue"/>
                <a:ea typeface="Helvetica Neue"/>
                <a:cs typeface="Helvetica Neue"/>
              </a:defRPr>
            </a:pPr>
          </a:p>
        </c:txPr>
        <c:crossAx val="48672768"/>
      </c:catAx>
      <c:valAx>
        <c:axId val="48672768"/>
        <c:scaling>
          <c:orientation val="minMax"/>
          <c:max val="48"/>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solidFill xmlns:a="http://schemas.openxmlformats.org/drawingml/2006/main">
          <a:srgbClr val="101820"/>
        </a:solidFill>
      </c:spPr>
    </c:plotArea>
    <c:plotVisOnly val="1"/>
  </c:chart>
  <c:spPr>
    <a:solidFill xmlns:a="http://schemas.openxmlformats.org/drawingml/2006/main">
      <a:srgbClr val="101820"/>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17" name="text-1">
            <a:extLst xmlns:a="http://schemas.openxmlformats.org/drawingml/2006/main">
              <a:ext uri="{FF2B5EF4-FFF2-40B4-BE49-F238E27FC236}">
                <a16:creationId xmlns:a16="http://schemas.microsoft.com/office/drawing/2014/main" id="{05625889-D1FB-4EE4-BF23-78F1C6BB2707}"/>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HYRJA</a:t>
            </a:r>
          </a:p>
        </p:txBody>
      </p:sp>
      <p:sp>
        <p:nvSpPr>
          <p:cNvPr id="2" name="text-2">
            <a:extLst xmlns:a="http://schemas.openxmlformats.org/drawingml/2006/main">
              <a:ext uri="{FF2B5EF4-FFF2-40B4-BE49-F238E27FC236}">
                <a16:creationId xmlns:a16="http://schemas.microsoft.com/office/drawing/2014/main" id="{B1DBAF75-B4AE-4833-A4F5-EB6712D3476A}"/>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01</a:t>
            </a:r>
          </a:p>
        </p:txBody>
      </p:sp>
      <p:sp>
        <p:nvSpPr>
          <p:cNvPr id="3" name="text-3">
            <a:extLst xmlns:a="http://schemas.openxmlformats.org/drawingml/2006/main">
              <a:ext uri="{FF2B5EF4-FFF2-40B4-BE49-F238E27FC236}">
                <a16:creationId xmlns:a16="http://schemas.microsoft.com/office/drawing/2014/main" id="{F2824636-B0C5-4BAD-A96F-C23EF12ED6B6}"/>
              </a:ext>
            </a:extLst>
          </p:cNvPr>
          <p:cNvSpPr>
            <a:spLocks xmlns:a="http://schemas.openxmlformats.org/drawingml/2006/main" noGrp="1"/>
          </p:cNvSpPr>
          <p:nvPr/>
        </p:nvSpPr>
        <p:spPr>
          <a:xfrm xmlns:a="http://schemas.openxmlformats.org/drawingml/2006/main">
            <a:off x="609600" y="1219200"/>
            <a:ext cx="7000875" cy="1847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5700" b="1">
                <a:solidFill>
                  <a:srgbClr val="F4F2EC"/>
                </a:solidFill>
                <a:latin typeface="Helvetica Neue"/>
                <a:ea typeface="Helvetica Neue"/>
                <a:cs typeface="Helvetica Neue"/>
              </a:defRPr>
            </a:pPr>
            <a:r>
              <a:rPr sz="5700" b="1">
                <a:solidFill>
                  <a:srgbClr val="F4F2EC"/>
                </a:solidFill>
                <a:latin typeface="Helvetica Neue"/>
                <a:ea typeface="Helvetica Neue"/>
                <a:cs typeface="Helvetica Neue"/>
              </a:rPr>
              <a:t>Këtë semestër,</a:t>
            </a:r>
          </a:p>
          <a:p xmlns:a="http://schemas.openxmlformats.org/drawingml/2006/main">
            <a:pPr algn="l">
              <a:buNone/>
              <a:defRPr sz="5700" b="1">
                <a:solidFill>
                  <a:srgbClr val="F4F2EC"/>
                </a:solidFill>
                <a:latin typeface="Helvetica Neue"/>
                <a:ea typeface="Helvetica Neue"/>
                <a:cs typeface="Helvetica Neue"/>
              </a:defRPr>
            </a:pPr>
            <a:r>
              <a:rPr sz="5700" b="1">
                <a:solidFill>
                  <a:srgbClr val="F4F2EC"/>
                </a:solidFill>
                <a:latin typeface="Helvetica Neue"/>
                <a:ea typeface="Helvetica Neue"/>
                <a:cs typeface="Helvetica Neue"/>
              </a:rPr>
              <a:t>ju krijoni.</a:t>
            </a:r>
          </a:p>
        </p:txBody>
      </p:sp>
      <p:sp>
        <p:nvSpPr>
          <p:cNvPr id="4" name="text-4">
            <a:extLst xmlns:a="http://schemas.openxmlformats.org/drawingml/2006/main">
              <a:ext uri="{FF2B5EF4-FFF2-40B4-BE49-F238E27FC236}">
                <a16:creationId xmlns:a16="http://schemas.microsoft.com/office/drawing/2014/main" id="{D93F3BAF-30AE-4915-BAF1-DFEB09BA3BDD}"/>
              </a:ext>
            </a:extLst>
          </p:cNvPr>
          <p:cNvSpPr>
            <a:spLocks xmlns:a="http://schemas.openxmlformats.org/drawingml/2006/main" noGrp="1"/>
          </p:cNvSpPr>
          <p:nvPr/>
        </p:nvSpPr>
        <p:spPr>
          <a:xfrm xmlns:a="http://schemas.openxmlformats.org/drawingml/2006/main">
            <a:off x="638175" y="3352800"/>
            <a:ext cx="695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625" b="0">
                <a:solidFill>
                  <a:srgbClr val="63CDF2"/>
                </a:solidFill>
                <a:latin typeface="Helvetica Neue"/>
                <a:ea typeface="Helvetica Neue"/>
                <a:cs typeface="Helvetica Neue"/>
              </a:defRPr>
            </a:pPr>
            <a:r>
              <a:rPr sz="2625" b="0">
                <a:solidFill>
                  <a:srgbClr val="63CDF2"/>
                </a:solidFill>
                <a:latin typeface="Helvetica Neue"/>
                <a:ea typeface="Helvetica Neue"/>
                <a:cs typeface="Helvetica Neue"/>
              </a:rPr>
              <a:t>Një aplikacion për një biznes real.</a:t>
            </a:r>
          </a:p>
        </p:txBody>
      </p:sp>
      <p:sp>
        <p:nvSpPr>
          <p:cNvPr id="5" name="text-5">
            <a:extLst xmlns:a="http://schemas.openxmlformats.org/drawingml/2006/main">
              <a:ext uri="{FF2B5EF4-FFF2-40B4-BE49-F238E27FC236}">
                <a16:creationId xmlns:a16="http://schemas.microsoft.com/office/drawing/2014/main" id="{D9D6B81C-3E4E-420F-8FF7-075B3D25C7EC}"/>
              </a:ext>
            </a:extLst>
          </p:cNvPr>
          <p:cNvSpPr>
            <a:spLocks xmlns:a="http://schemas.openxmlformats.org/drawingml/2006/main" noGrp="1"/>
          </p:cNvSpPr>
          <p:nvPr/>
        </p:nvSpPr>
        <p:spPr>
          <a:xfrm xmlns:a="http://schemas.openxmlformats.org/drawingml/2006/main">
            <a:off x="638175" y="4457700"/>
            <a:ext cx="6572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325" b="1">
                <a:solidFill>
                  <a:srgbClr val="F4F2EC"/>
                </a:solidFill>
                <a:latin typeface="Helvetica Neue"/>
                <a:ea typeface="Helvetica Neue"/>
                <a:cs typeface="Helvetica Neue"/>
              </a:defRPr>
            </a:pPr>
            <a:r>
              <a:rPr sz="2325" b="1">
                <a:solidFill>
                  <a:srgbClr val="F4F2EC"/>
                </a:solidFill>
                <a:latin typeface="Helvetica Neue"/>
                <a:ea typeface="Helvetica Neue"/>
                <a:cs typeface="Helvetica Neue"/>
              </a:rPr>
              <a:t>Programimi për Pajisje Mobile</a:t>
            </a:r>
          </a:p>
        </p:txBody>
      </p:sp>
      <p:sp>
        <p:nvSpPr>
          <p:cNvPr id="6" name="text-6">
            <a:extLst xmlns:a="http://schemas.openxmlformats.org/drawingml/2006/main">
              <a:ext uri="{FF2B5EF4-FFF2-40B4-BE49-F238E27FC236}">
                <a16:creationId xmlns:a16="http://schemas.microsoft.com/office/drawing/2014/main" id="{033E6927-3435-4579-9602-DA61B4D76BFD}"/>
              </a:ext>
            </a:extLst>
          </p:cNvPr>
          <p:cNvSpPr>
            <a:spLocks xmlns:a="http://schemas.openxmlformats.org/drawingml/2006/main" noGrp="1"/>
          </p:cNvSpPr>
          <p:nvPr/>
        </p:nvSpPr>
        <p:spPr>
          <a:xfrm xmlns:a="http://schemas.openxmlformats.org/drawingml/2006/main">
            <a:off x="638175" y="4953000"/>
            <a:ext cx="6810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725" b="0">
                <a:solidFill>
                  <a:srgbClr val="AEBFCB"/>
                </a:solidFill>
                <a:latin typeface="Helvetica Neue"/>
                <a:ea typeface="Helvetica Neue"/>
                <a:cs typeface="Helvetica Neue"/>
              </a:defRPr>
            </a:pPr>
            <a:r>
              <a:rPr sz="1725" b="0">
                <a:solidFill>
                  <a:srgbClr val="AEBFCB"/>
                </a:solidFill>
                <a:latin typeface="Helvetica Neue"/>
                <a:ea typeface="Helvetica Neue"/>
                <a:cs typeface="Helvetica Neue"/>
              </a:rPr>
              <a:t>Kolegji AAB, Shkenca Kompjuterike</a:t>
            </a:r>
          </a:p>
          <a:p xmlns:a="http://schemas.openxmlformats.org/drawingml/2006/main">
            <a:pPr algn="l">
              <a:buNone/>
              <a:defRPr sz="1725" b="0">
                <a:solidFill>
                  <a:srgbClr val="AEBFCB"/>
                </a:solidFill>
                <a:latin typeface="Helvetica Neue"/>
                <a:ea typeface="Helvetica Neue"/>
                <a:cs typeface="Helvetica Neue"/>
              </a:defRPr>
            </a:pPr>
            <a:r>
              <a:rPr sz="1725" b="0">
                <a:solidFill>
                  <a:srgbClr val="AEBFCB"/>
                </a:solidFill>
                <a:latin typeface="Helvetica Neue"/>
                <a:ea typeface="Helvetica Neue"/>
                <a:cs typeface="Helvetica Neue"/>
              </a:rPr>
              <a:t>6 ECTS  /  Viti III, Semestri V  /  2026–2027</a:t>
            </a:r>
          </a:p>
        </p:txBody>
      </p:sp>
      <p:sp>
        <p:nvSpPr>
          <p:cNvPr id="7" name="text-7">
            <a:extLst xmlns:a="http://schemas.openxmlformats.org/drawingml/2006/main">
              <a:ext uri="{FF2B5EF4-FFF2-40B4-BE49-F238E27FC236}">
                <a16:creationId xmlns:a16="http://schemas.microsoft.com/office/drawing/2014/main" id="{5965E4E9-F87C-4EA8-B8BC-7EAE642743C9}"/>
              </a:ext>
            </a:extLst>
          </p:cNvPr>
          <p:cNvSpPr>
            <a:spLocks xmlns:a="http://schemas.openxmlformats.org/drawingml/2006/main" noGrp="1"/>
          </p:cNvSpPr>
          <p:nvPr/>
        </p:nvSpPr>
        <p:spPr>
          <a:xfrm xmlns:a="http://schemas.openxmlformats.org/drawingml/2006/main">
            <a:off x="638175" y="6076950"/>
            <a:ext cx="723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00" b="0">
                <a:solidFill>
                  <a:srgbClr val="AEBFCB"/>
                </a:solidFill>
                <a:latin typeface="Helvetica Neue"/>
                <a:ea typeface="Helvetica Neue"/>
                <a:cs typeface="Helvetica Neue"/>
              </a:defRPr>
            </a:pPr>
            <a:r>
              <a:rPr sz="1800" b="0">
                <a:solidFill>
                  <a:srgbClr val="AEBFCB"/>
                </a:solidFill>
                <a:latin typeface="Helvetica Neue"/>
                <a:ea typeface="Helvetica Neue"/>
                <a:cs typeface="Helvetica Neue"/>
              </a:rPr>
              <a:t>Prof. Asoc. PhD. C. Arben Lila</a:t>
            </a:r>
          </a:p>
        </p:txBody>
      </p:sp>
      <p:sp>
        <p:nvSpPr>
          <p:cNvPr id="8" name="surface-8">
            <a:extLst xmlns:a="http://schemas.openxmlformats.org/drawingml/2006/main">
              <a:ext uri="{FF2B5EF4-FFF2-40B4-BE49-F238E27FC236}">
                <a16:creationId xmlns:a16="http://schemas.microsoft.com/office/drawing/2014/main" id="{37790F9F-60E1-47F2-9A47-1D0ADD0ABFD2}"/>
              </a:ext>
            </a:extLst>
          </p:cNvPr>
          <p:cNvSpPr>
            <a:spLocks xmlns:a="http://schemas.openxmlformats.org/drawingml/2006/main" noGrp="1"/>
          </p:cNvSpPr>
          <p:nvPr/>
        </p:nvSpPr>
        <p:spPr>
          <a:xfrm xmlns:a="http://schemas.openxmlformats.org/drawingml/2006/main">
            <a:off x="8496300" y="1266825"/>
            <a:ext cx="2714625" cy="4257675"/>
          </a:xfrm>
          <a:prstGeom xmlns:a="http://schemas.openxmlformats.org/drawingml/2006/main" prst="roundRect">
            <a:avLst>
              <a:gd name="adj" fmla="val 9825"/>
            </a:avLst>
          </a:prstGeom>
          <a:solidFill xmlns:a="http://schemas.openxmlformats.org/drawingml/2006/main">
            <a:srgbClr val="0A1117"/>
          </a:solidFill>
          <a:ln xmlns:a="http://schemas.openxmlformats.org/drawingml/2006/main" w="19050">
            <a:solidFill>
              <a:srgbClr val="3E5769"/>
            </a:solidFill>
          </a:ln>
        </p:spPr>
      </p:sp>
      <p:sp>
        <p:nvSpPr>
          <p:cNvPr id="9" name="surface-9">
            <a:extLst xmlns:a="http://schemas.openxmlformats.org/drawingml/2006/main">
              <a:ext uri="{FF2B5EF4-FFF2-40B4-BE49-F238E27FC236}">
                <a16:creationId xmlns:a16="http://schemas.microsoft.com/office/drawing/2014/main" id="{E9C2A6DD-3845-40DE-AE8F-A84A6AE3147B}"/>
              </a:ext>
            </a:extLst>
          </p:cNvPr>
          <p:cNvSpPr>
            <a:spLocks xmlns:a="http://schemas.openxmlformats.org/drawingml/2006/main" noGrp="1"/>
          </p:cNvSpPr>
          <p:nvPr/>
        </p:nvSpPr>
        <p:spPr>
          <a:xfrm xmlns:a="http://schemas.openxmlformats.org/drawingml/2006/main">
            <a:off x="8591550" y="1362075"/>
            <a:ext cx="2524125" cy="4067175"/>
          </a:xfrm>
          <a:prstGeom xmlns:a="http://schemas.openxmlformats.org/drawingml/2006/main" prst="roundRect">
            <a:avLst>
              <a:gd name="adj" fmla="val 8302"/>
            </a:avLst>
          </a:prstGeom>
          <a:solidFill xmlns:a="http://schemas.openxmlformats.org/drawingml/2006/main">
            <a:srgbClr val="192732"/>
          </a:solidFill>
          <a:ln xmlns:a="http://schemas.openxmlformats.org/drawingml/2006/main" w="0">
            <a:noFill/>
          </a:ln>
        </p:spPr>
      </p:sp>
      <p:sp>
        <p:nvSpPr>
          <p:cNvPr id="10" name="surface-10">
            <a:extLst xmlns:a="http://schemas.openxmlformats.org/drawingml/2006/main">
              <a:ext uri="{FF2B5EF4-FFF2-40B4-BE49-F238E27FC236}">
                <a16:creationId xmlns:a16="http://schemas.microsoft.com/office/drawing/2014/main" id="{F7FAFE79-7141-469B-9E76-D641241CA66C}"/>
              </a:ext>
            </a:extLst>
          </p:cNvPr>
          <p:cNvSpPr>
            <a:spLocks xmlns:a="http://schemas.openxmlformats.org/drawingml/2006/main" noGrp="1"/>
          </p:cNvSpPr>
          <p:nvPr/>
        </p:nvSpPr>
        <p:spPr>
          <a:xfrm xmlns:a="http://schemas.openxmlformats.org/drawingml/2006/main">
            <a:off x="9446419" y="1428750"/>
            <a:ext cx="814388" cy="57150"/>
          </a:xfrm>
          <a:prstGeom xmlns:a="http://schemas.openxmlformats.org/drawingml/2006/main" prst="roundRect">
            <a:avLst>
              <a:gd name="adj" fmla="val 50000"/>
            </a:avLst>
          </a:prstGeom>
          <a:solidFill xmlns:a="http://schemas.openxmlformats.org/drawingml/2006/main">
            <a:srgbClr val="3E5769"/>
          </a:solidFill>
          <a:ln xmlns:a="http://schemas.openxmlformats.org/drawingml/2006/main" w="0">
            <a:noFill/>
          </a:ln>
        </p:spPr>
      </p:sp>
      <p:sp>
        <p:nvSpPr>
          <p:cNvPr id="11" name="text-11">
            <a:extLst xmlns:a="http://schemas.openxmlformats.org/drawingml/2006/main">
              <a:ext uri="{FF2B5EF4-FFF2-40B4-BE49-F238E27FC236}">
                <a16:creationId xmlns:a16="http://schemas.microsoft.com/office/drawing/2014/main" id="{D476BF42-54CB-47B2-94D0-7FB276F332B8}"/>
              </a:ext>
            </a:extLst>
          </p:cNvPr>
          <p:cNvSpPr>
            <a:spLocks xmlns:a="http://schemas.openxmlformats.org/drawingml/2006/main" noGrp="1"/>
          </p:cNvSpPr>
          <p:nvPr/>
        </p:nvSpPr>
        <p:spPr>
          <a:xfrm xmlns:a="http://schemas.openxmlformats.org/drawingml/2006/main">
            <a:off x="8724900" y="1666875"/>
            <a:ext cx="2257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1">
                <a:solidFill>
                  <a:srgbClr val="63CDF2"/>
                </a:solidFill>
                <a:latin typeface="Helvetica Neue"/>
                <a:ea typeface="Helvetica Neue"/>
                <a:cs typeface="Helvetica Neue"/>
              </a:defRPr>
            </a:pPr>
            <a:r>
              <a:rPr sz="2025" b="1">
                <a:solidFill>
                  <a:srgbClr val="63CDF2"/>
                </a:solidFill>
                <a:latin typeface="Helvetica Neue"/>
                <a:ea typeface="Helvetica Neue"/>
                <a:cs typeface="Helvetica Neue"/>
              </a:rPr>
              <a:t>AAB RideShare</a:t>
            </a:r>
          </a:p>
        </p:txBody>
      </p:sp>
      <p:sp>
        <p:nvSpPr>
          <p:cNvPr id="12" name="text-12">
            <a:extLst xmlns:a="http://schemas.openxmlformats.org/drawingml/2006/main">
              <a:ext uri="{FF2B5EF4-FFF2-40B4-BE49-F238E27FC236}">
                <a16:creationId xmlns:a16="http://schemas.microsoft.com/office/drawing/2014/main" id="{930DA4C0-0127-4708-A24A-7A49FBFBFB6F}"/>
              </a:ext>
            </a:extLst>
          </p:cNvPr>
          <p:cNvSpPr>
            <a:spLocks xmlns:a="http://schemas.openxmlformats.org/drawingml/2006/main" noGrp="1"/>
          </p:cNvSpPr>
          <p:nvPr/>
        </p:nvSpPr>
        <p:spPr>
          <a:xfrm xmlns:a="http://schemas.openxmlformats.org/drawingml/2006/main">
            <a:off x="8724900" y="2219325"/>
            <a:ext cx="22574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1">
                <a:solidFill>
                  <a:srgbClr val="F4F2EC"/>
                </a:solidFill>
                <a:latin typeface="Helvetica Neue"/>
                <a:ea typeface="Helvetica Neue"/>
                <a:cs typeface="Helvetica Neue"/>
              </a:defRPr>
            </a:pPr>
            <a:r>
              <a:rPr sz="2550" b="1">
                <a:solidFill>
                  <a:srgbClr val="F4F2EC"/>
                </a:solidFill>
                <a:latin typeface="Helvetica Neue"/>
                <a:ea typeface="Helvetica Neue"/>
                <a:cs typeface="Helvetica Neue"/>
              </a:rPr>
              <a:t>Fushë Kosovë</a:t>
            </a:r>
          </a:p>
          <a:p xmlns:a="http://schemas.openxmlformats.org/drawingml/2006/main">
            <a:pPr algn="l">
              <a:buNone/>
              <a:defRPr sz="2550" b="1">
                <a:solidFill>
                  <a:srgbClr val="F4F2EC"/>
                </a:solidFill>
                <a:latin typeface="Helvetica Neue"/>
                <a:ea typeface="Helvetica Neue"/>
                <a:cs typeface="Helvetica Neue"/>
              </a:defRPr>
            </a:pPr>
            <a:r>
              <a:rPr sz="2550" b="1">
                <a:solidFill>
                  <a:srgbClr val="F4F2EC"/>
                </a:solidFill>
                <a:latin typeface="Helvetica Neue"/>
                <a:ea typeface="Helvetica Neue"/>
                <a:cs typeface="Helvetica Neue"/>
              </a:rPr>
              <a:t>Kampus</a:t>
            </a:r>
          </a:p>
        </p:txBody>
      </p:sp>
      <p:sp>
        <p:nvSpPr>
          <p:cNvPr id="13" name="text-13">
            <a:extLst xmlns:a="http://schemas.openxmlformats.org/drawingml/2006/main">
              <a:ext uri="{FF2B5EF4-FFF2-40B4-BE49-F238E27FC236}">
                <a16:creationId xmlns:a16="http://schemas.microsoft.com/office/drawing/2014/main" id="{C02188A9-FE18-46EC-A035-CCF9A82CAD8D}"/>
              </a:ext>
            </a:extLst>
          </p:cNvPr>
          <p:cNvSpPr>
            <a:spLocks xmlns:a="http://schemas.openxmlformats.org/drawingml/2006/main" noGrp="1"/>
          </p:cNvSpPr>
          <p:nvPr/>
        </p:nvSpPr>
        <p:spPr>
          <a:xfrm xmlns:a="http://schemas.openxmlformats.org/drawingml/2006/main">
            <a:off x="8724900" y="3352800"/>
            <a:ext cx="22574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450" b="1">
                <a:solidFill>
                  <a:srgbClr val="F4F2EC"/>
                </a:solidFill>
                <a:latin typeface="Helvetica Neue"/>
                <a:ea typeface="Helvetica Neue"/>
                <a:cs typeface="Helvetica Neue"/>
              </a:defRPr>
            </a:pPr>
            <a:r>
              <a:rPr sz="3450" b="1">
                <a:solidFill>
                  <a:srgbClr val="F4F2EC"/>
                </a:solidFill>
                <a:latin typeface="Helvetica Neue"/>
                <a:ea typeface="Helvetica Neue"/>
                <a:cs typeface="Helvetica Neue"/>
              </a:rPr>
              <a:t>07:30</a:t>
            </a:r>
          </a:p>
        </p:txBody>
      </p:sp>
      <p:sp>
        <p:nvSpPr>
          <p:cNvPr id="14" name="text-14">
            <a:extLst xmlns:a="http://schemas.openxmlformats.org/drawingml/2006/main">
              <a:ext uri="{FF2B5EF4-FFF2-40B4-BE49-F238E27FC236}">
                <a16:creationId xmlns:a16="http://schemas.microsoft.com/office/drawing/2014/main" id="{E0B315BD-3339-423F-8223-819B905DFDE9}"/>
              </a:ext>
            </a:extLst>
          </p:cNvPr>
          <p:cNvSpPr>
            <a:spLocks xmlns:a="http://schemas.openxmlformats.org/drawingml/2006/main" noGrp="1"/>
          </p:cNvSpPr>
          <p:nvPr/>
        </p:nvSpPr>
        <p:spPr>
          <a:xfrm xmlns:a="http://schemas.openxmlformats.org/drawingml/2006/main">
            <a:off x="8724900" y="3800475"/>
            <a:ext cx="22574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0">
                <a:solidFill>
                  <a:srgbClr val="AEBFCB"/>
                </a:solidFill>
                <a:latin typeface="Helvetica Neue"/>
                <a:ea typeface="Helvetica Neue"/>
                <a:cs typeface="Helvetica Neue"/>
              </a:defRPr>
            </a:pPr>
            <a:r>
              <a:rPr sz="1875" b="0">
                <a:solidFill>
                  <a:srgbClr val="AEBFCB"/>
                </a:solidFill>
                <a:latin typeface="Helvetica Neue"/>
                <a:ea typeface="Helvetica Neue"/>
                <a:cs typeface="Helvetica Neue"/>
              </a:rPr>
              <a:t>1 vend i lirë</a:t>
            </a:r>
          </a:p>
        </p:txBody>
      </p:sp>
      <p:sp>
        <p:nvSpPr>
          <p:cNvPr id="15" name="surface-15">
            <a:extLst xmlns:a="http://schemas.openxmlformats.org/drawingml/2006/main">
              <a:ext uri="{FF2B5EF4-FFF2-40B4-BE49-F238E27FC236}">
                <a16:creationId xmlns:a16="http://schemas.microsoft.com/office/drawing/2014/main" id="{F611DBE5-E8C7-4C99-9B70-17CB542BCDD2}"/>
              </a:ext>
            </a:extLst>
          </p:cNvPr>
          <p:cNvSpPr>
            <a:spLocks xmlns:a="http://schemas.openxmlformats.org/drawingml/2006/main" noGrp="1"/>
          </p:cNvSpPr>
          <p:nvPr/>
        </p:nvSpPr>
        <p:spPr>
          <a:xfrm xmlns:a="http://schemas.openxmlformats.org/drawingml/2006/main">
            <a:off x="8724900" y="4686300"/>
            <a:ext cx="2257425" cy="466725"/>
          </a:xfrm>
          <a:prstGeom xmlns:a="http://schemas.openxmlformats.org/drawingml/2006/main" prst="roundRect">
            <a:avLst>
              <a:gd name="adj" fmla="val 16327"/>
            </a:avLst>
          </a:prstGeom>
          <a:solidFill xmlns:a="http://schemas.openxmlformats.org/drawingml/2006/main">
            <a:srgbClr val="63CDF2"/>
          </a:solidFill>
          <a:ln xmlns:a="http://schemas.openxmlformats.org/drawingml/2006/main" w="0">
            <a:noFill/>
          </a:ln>
        </p:spPr>
      </p:sp>
      <p:sp>
        <p:nvSpPr>
          <p:cNvPr id="16" name="text-16">
            <a:extLst xmlns:a="http://schemas.openxmlformats.org/drawingml/2006/main">
              <a:ext uri="{FF2B5EF4-FFF2-40B4-BE49-F238E27FC236}">
                <a16:creationId xmlns:a16="http://schemas.microsoft.com/office/drawing/2014/main" id="{6B4BD07E-456C-46CB-B3A2-01BE5BE25871}"/>
              </a:ext>
            </a:extLst>
          </p:cNvPr>
          <p:cNvSpPr>
            <a:spLocks xmlns:a="http://schemas.openxmlformats.org/drawingml/2006/main" noGrp="1"/>
          </p:cNvSpPr>
          <p:nvPr/>
        </p:nvSpPr>
        <p:spPr>
          <a:xfrm xmlns:a="http://schemas.openxmlformats.org/drawingml/2006/main">
            <a:off x="8724900" y="4686300"/>
            <a:ext cx="22574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Kërko vend</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a243a7a739104693"/>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992107418"/>
      </p:ext>
    </p:extLst>
  </p:cSld>
</p:sld>
</file>

<file path=ppt/slides/slide2.xml><?xml version="1.0" encoding="utf-8"?>
<p:sld xmlns:p="http://schemas.openxmlformats.org/presentationml/2006/main">
  <p:cSld>
    <p:bg>
      <p:bgPr>
        <a:solidFill xmlns:a="http://schemas.openxmlformats.org/drawingml/2006/main">
          <a:srgbClr val="0E171E"/>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0CE1EF5-96EA-4DFD-9342-1673EA34C9F5}"/>
              </a:ext>
            </a:extLst>
          </p:cNvPr>
          <p:cNvSpPr>
            <a:spLocks xmlns:a="http://schemas.openxmlformats.org/drawingml/2006/main" noGrp="1"/>
          </p:cNvSpPr>
          <p:nvPr/>
        </p:nvSpPr>
        <p:spPr>
          <a:xfrm xmlns:a="http://schemas.openxmlformats.org/drawingml/2006/main">
            <a:off x="609600" y="2857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5DCEF2"/>
                </a:solidFill>
                <a:latin typeface="Helvetica Neue"/>
                <a:ea typeface="Helvetica Neue"/>
                <a:cs typeface="Helvetica Neue"/>
              </a:defRPr>
            </a:pPr>
            <a:r>
              <a:rPr sz="1350" b="1">
                <a:solidFill>
                  <a:srgbClr val="5DCEF2"/>
                </a:solidFill>
                <a:latin typeface="Helvetica Neue"/>
                <a:ea typeface="Helvetica Neue"/>
                <a:cs typeface="Helvetica Neue"/>
              </a:rPr>
              <a:t>PROJEKTI SEMESTRAL</a:t>
            </a:r>
          </a:p>
        </p:txBody>
      </p:sp>
      <p:sp>
        <p:nvSpPr>
          <p:cNvPr id="2" name="">
            <a:extLst xmlns:a="http://schemas.openxmlformats.org/drawingml/2006/main">
              <a:ext uri="{FF2B5EF4-FFF2-40B4-BE49-F238E27FC236}">
                <a16:creationId xmlns:a16="http://schemas.microsoft.com/office/drawing/2014/main" id="{90B04293-241B-4F48-8F23-B3ACC2299E9F}"/>
              </a:ext>
            </a:extLst>
          </p:cNvPr>
          <p:cNvSpPr>
            <a:spLocks xmlns:a="http://schemas.openxmlformats.org/drawingml/2006/main" noGrp="1"/>
          </p:cNvSpPr>
          <p:nvPr/>
        </p:nvSpPr>
        <p:spPr>
          <a:xfrm xmlns:a="http://schemas.openxmlformats.org/drawingml/2006/main">
            <a:off x="609600" y="90487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5F7F9"/>
                </a:solidFill>
                <a:latin typeface="Helvetica Neue"/>
                <a:ea typeface="Helvetica Neue"/>
                <a:cs typeface="Helvetica Neue"/>
              </a:defRPr>
            </a:pPr>
            <a:r>
              <a:rPr sz="3600" b="1">
                <a:solidFill>
                  <a:srgbClr val="F5F7F9"/>
                </a:solidFill>
                <a:latin typeface="Helvetica Neue"/>
                <a:ea typeface="Helvetica Neue"/>
                <a:cs typeface="Helvetica Neue"/>
              </a:rPr>
              <a:t>Një aplikacion për një biznes real</a:t>
            </a:r>
          </a:p>
        </p:txBody>
      </p:sp>
      <p:sp>
        <p:nvSpPr>
          <p:cNvPr id="3" name="">
            <a:extLst xmlns:a="http://schemas.openxmlformats.org/drawingml/2006/main">
              <a:ext uri="{FF2B5EF4-FFF2-40B4-BE49-F238E27FC236}">
                <a16:creationId xmlns:a16="http://schemas.microsoft.com/office/drawing/2014/main" id="{4D369760-728C-4E43-809D-08A8E945E97D}"/>
              </a:ext>
            </a:extLst>
          </p:cNvPr>
          <p:cNvSpPr>
            <a:spLocks xmlns:a="http://schemas.openxmlformats.org/drawingml/2006/main" noGrp="1"/>
          </p:cNvSpPr>
          <p:nvPr/>
        </p:nvSpPr>
        <p:spPr>
          <a:xfrm xmlns:a="http://schemas.openxmlformats.org/drawingml/2006/main">
            <a:off x="609600" y="2095500"/>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5DCEF2"/>
                </a:solidFill>
                <a:latin typeface="Helvetica Neue"/>
                <a:ea typeface="Helvetica Neue"/>
                <a:cs typeface="Helvetica Neue"/>
              </a:defRPr>
            </a:pPr>
            <a:r>
              <a:rPr sz="3600" b="1">
                <a:solidFill>
                  <a:srgbClr val="5DCEF2"/>
                </a:solidFill>
                <a:latin typeface="Helvetica Neue"/>
                <a:ea typeface="Helvetica Neue"/>
                <a:cs typeface="Helvetica Neue"/>
              </a:rPr>
              <a:t>Biznesi juaj</a:t>
            </a:r>
          </a:p>
        </p:txBody>
      </p:sp>
      <p:sp>
        <p:nvSpPr>
          <p:cNvPr id="4" name="">
            <a:extLst xmlns:a="http://schemas.openxmlformats.org/drawingml/2006/main">
              <a:ext uri="{FF2B5EF4-FFF2-40B4-BE49-F238E27FC236}">
                <a16:creationId xmlns:a16="http://schemas.microsoft.com/office/drawing/2014/main" id="{11D5E9C4-9C9B-41FD-9F94-E9201379EA1B}"/>
              </a:ext>
            </a:extLst>
          </p:cNvPr>
          <p:cNvSpPr>
            <a:spLocks xmlns:a="http://schemas.openxmlformats.org/drawingml/2006/main" noGrp="1"/>
          </p:cNvSpPr>
          <p:nvPr/>
        </p:nvSpPr>
        <p:spPr>
          <a:xfrm xmlns:a="http://schemas.openxmlformats.org/drawingml/2006/main">
            <a:off x="609600" y="2952750"/>
            <a:ext cx="5143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F5F7F9"/>
                </a:solidFill>
                <a:latin typeface="Helvetica Neue"/>
                <a:ea typeface="Helvetica Neue"/>
                <a:cs typeface="Helvetica Neue"/>
              </a:defRPr>
            </a:pPr>
            <a:r>
              <a:rPr sz="2550" b="0">
                <a:solidFill>
                  <a:srgbClr val="F5F7F9"/>
                </a:solidFill>
                <a:latin typeface="Helvetica Neue"/>
                <a:ea typeface="Helvetica Neue"/>
                <a:cs typeface="Helvetica Neue"/>
              </a:rPr>
              <a:t>Një person kontaktues.</a:t>
            </a:r>
          </a:p>
          <a:p xmlns:a="http://schemas.openxmlformats.org/drawingml/2006/main">
            <a:pPr>
              <a:defRPr sz="2550" b="0">
                <a:solidFill>
                  <a:srgbClr val="F5F7F9"/>
                </a:solidFill>
                <a:latin typeface="Helvetica Neue"/>
                <a:ea typeface="Helvetica Neue"/>
                <a:cs typeface="Helvetica Neue"/>
              </a:defRPr>
            </a:pPr>
            <a:r>
              <a:rPr sz="2550" b="0">
                <a:solidFill>
                  <a:srgbClr val="F5F7F9"/>
                </a:solidFill>
                <a:latin typeface="Helvetica Neue"/>
                <a:ea typeface="Helvetica Neue"/>
                <a:cs typeface="Helvetica Neue"/>
              </a:rPr>
              <a:t>Një problem që e vëreni.</a:t>
            </a:r>
          </a:p>
          <a:p xmlns:a="http://schemas.openxmlformats.org/drawingml/2006/main">
            <a:pPr>
              <a:defRPr sz="2550" b="0">
                <a:solidFill>
                  <a:srgbClr val="F5F7F9"/>
                </a:solidFill>
                <a:latin typeface="Helvetica Neue"/>
                <a:ea typeface="Helvetica Neue"/>
                <a:cs typeface="Helvetica Neue"/>
              </a:defRPr>
            </a:pPr>
            <a:r>
              <a:rPr sz="2550" b="0">
                <a:solidFill>
                  <a:srgbClr val="F5F7F9"/>
                </a:solidFill>
                <a:latin typeface="Helvetica Neue"/>
                <a:ea typeface="Helvetica Neue"/>
                <a:cs typeface="Helvetica Neue"/>
              </a:rPr>
              <a:t>Një rrjedhë që funksionon.</a:t>
            </a:r>
          </a:p>
        </p:txBody>
      </p:sp>
      <p:sp>
        <p:nvSpPr>
          <p:cNvPr id="5" name="">
            <a:extLst xmlns:a="http://schemas.openxmlformats.org/drawingml/2006/main">
              <a:ext uri="{FF2B5EF4-FFF2-40B4-BE49-F238E27FC236}">
                <a16:creationId xmlns:a16="http://schemas.microsoft.com/office/drawing/2014/main" id="{D0E2F5E3-823D-4BAE-93F5-E7AF6DFAA1F7}"/>
              </a:ext>
            </a:extLst>
          </p:cNvPr>
          <p:cNvSpPr>
            <a:spLocks xmlns:a="http://schemas.openxmlformats.org/drawingml/2006/main" noGrp="1"/>
          </p:cNvSpPr>
          <p:nvPr/>
        </p:nvSpPr>
        <p:spPr>
          <a:xfrm xmlns:a="http://schemas.openxmlformats.org/drawingml/2006/main">
            <a:off x="6667500" y="2095500"/>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5DCEF2"/>
                </a:solidFill>
                <a:latin typeface="Helvetica Neue"/>
                <a:ea typeface="Helvetica Neue"/>
                <a:cs typeface="Helvetica Neue"/>
              </a:defRPr>
            </a:pPr>
            <a:r>
              <a:rPr sz="3600" b="1">
                <a:solidFill>
                  <a:srgbClr val="5DCEF2"/>
                </a:solidFill>
                <a:latin typeface="Helvetica Neue"/>
                <a:ea typeface="Helvetica Neue"/>
                <a:cs typeface="Helvetica Neue"/>
              </a:rPr>
              <a:t>Produkti në fund</a:t>
            </a:r>
          </a:p>
        </p:txBody>
      </p:sp>
      <p:sp>
        <p:nvSpPr>
          <p:cNvPr id="6" name="">
            <a:extLst xmlns:a="http://schemas.openxmlformats.org/drawingml/2006/main">
              <a:ext uri="{FF2B5EF4-FFF2-40B4-BE49-F238E27FC236}">
                <a16:creationId xmlns:a16="http://schemas.microsoft.com/office/drawing/2014/main" id="{688874EE-05C9-4234-97F9-848E9CE25197}"/>
              </a:ext>
            </a:extLst>
          </p:cNvPr>
          <p:cNvSpPr>
            <a:spLocks xmlns:a="http://schemas.openxmlformats.org/drawingml/2006/main" noGrp="1"/>
          </p:cNvSpPr>
          <p:nvPr/>
        </p:nvSpPr>
        <p:spPr>
          <a:xfrm xmlns:a="http://schemas.openxmlformats.org/drawingml/2006/main">
            <a:off x="6667500" y="2952750"/>
            <a:ext cx="4857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F5F7F9"/>
                </a:solidFill>
                <a:latin typeface="Helvetica Neue"/>
                <a:ea typeface="Helvetica Neue"/>
                <a:cs typeface="Helvetica Neue"/>
              </a:defRPr>
            </a:pPr>
            <a:r>
              <a:rPr sz="2550" b="0">
                <a:solidFill>
                  <a:srgbClr val="F5F7F9"/>
                </a:solidFill>
                <a:latin typeface="Helvetica Neue"/>
                <a:ea typeface="Helvetica Neue"/>
                <a:cs typeface="Helvetica Neue"/>
              </a:rPr>
              <a:t>Aplikacion Next.js online.</a:t>
            </a:r>
          </a:p>
          <a:p xmlns:a="http://schemas.openxmlformats.org/drawingml/2006/main">
            <a:pPr>
              <a:defRPr sz="2550" b="0">
                <a:solidFill>
                  <a:srgbClr val="F5F7F9"/>
                </a:solidFill>
                <a:latin typeface="Helvetica Neue"/>
                <a:ea typeface="Helvetica Neue"/>
                <a:cs typeface="Helvetica Neue"/>
              </a:defRPr>
            </a:pPr>
            <a:r>
              <a:rPr sz="2550" b="0">
                <a:solidFill>
                  <a:srgbClr val="F5F7F9"/>
                </a:solidFill>
                <a:latin typeface="Helvetica Neue"/>
                <a:ea typeface="Helvetica Neue"/>
                <a:cs typeface="Helvetica Neue"/>
              </a:rPr>
              <a:t>Përdorim i qartë në telefon.</a:t>
            </a:r>
          </a:p>
          <a:p xmlns:a="http://schemas.openxmlformats.org/drawingml/2006/main">
            <a:pPr>
              <a:defRPr sz="2550" b="0">
                <a:solidFill>
                  <a:srgbClr val="F5F7F9"/>
                </a:solidFill>
                <a:latin typeface="Helvetica Neue"/>
                <a:ea typeface="Helvetica Neue"/>
                <a:cs typeface="Helvetica Neue"/>
              </a:defRPr>
            </a:pPr>
            <a:r>
              <a:rPr sz="2550" b="0">
                <a:solidFill>
                  <a:srgbClr val="F5F7F9"/>
                </a:solidFill>
                <a:latin typeface="Helvetica Neue"/>
                <a:ea typeface="Helvetica Neue"/>
                <a:cs typeface="Helvetica Neue"/>
              </a:rPr>
              <a:t>Provë me përdoruesin real.</a:t>
            </a:r>
          </a:p>
        </p:txBody>
      </p:sp>
      <p:sp>
        <p:nvSpPr>
          <p:cNvPr id="7" name="">
            <a:extLst xmlns:a="http://schemas.openxmlformats.org/drawingml/2006/main">
              <a:ext uri="{FF2B5EF4-FFF2-40B4-BE49-F238E27FC236}">
                <a16:creationId xmlns:a16="http://schemas.microsoft.com/office/drawing/2014/main" id="{B800C0C1-3614-42C6-9981-5C10FEEAEE2A}"/>
              </a:ext>
            </a:extLst>
          </p:cNvPr>
          <p:cNvSpPr>
            <a:spLocks xmlns:a="http://schemas.openxmlformats.org/drawingml/2006/main" noGrp="1"/>
          </p:cNvSpPr>
          <p:nvPr/>
        </p:nvSpPr>
        <p:spPr>
          <a:xfrm xmlns:a="http://schemas.openxmlformats.org/drawingml/2006/main">
            <a:off x="609600" y="58102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B6C5CE"/>
                </a:solidFill>
                <a:latin typeface="Helvetica Neue"/>
                <a:ea typeface="Helvetica Neue"/>
                <a:cs typeface="Helvetica Neue"/>
              </a:defRPr>
            </a:pPr>
            <a:r>
              <a:rPr sz="2100" b="0">
                <a:solidFill>
                  <a:srgbClr val="B6C5CE"/>
                </a:solidFill>
                <a:latin typeface="Helvetica Neue"/>
                <a:ea typeface="Helvetica Neue"/>
                <a:cs typeface="Helvetica Neue"/>
              </a:rPr>
              <a:t>Një student, një aplikacion, përmirësime gjatë gjithë semestrit</a:t>
            </a:r>
          </a:p>
        </p:txBody>
      </p:sp>
      <p:sp>
        <p:nvSpPr>
          <p:cNvPr id="8" name="">
            <a:extLst xmlns:a="http://schemas.openxmlformats.org/drawingml/2006/main">
              <a:ext uri="{FF2B5EF4-FFF2-40B4-BE49-F238E27FC236}">
                <a16:creationId xmlns:a16="http://schemas.microsoft.com/office/drawing/2014/main" id="{1A44A176-8206-421E-B523-1B0BBB565485}"/>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6C5CE"/>
                </a:solidFill>
                <a:latin typeface="Helvetica Neue"/>
                <a:ea typeface="Helvetica Neue"/>
                <a:cs typeface="Helvetica Neue"/>
              </a:defRPr>
            </a:pPr>
            <a:r>
              <a:rPr sz="1350" b="0">
                <a:solidFill>
                  <a:srgbClr val="B6C5CE"/>
                </a:solidFill>
                <a:latin typeface="Helvetica Neue"/>
                <a:ea typeface="Helvetica Neue"/>
                <a:cs typeface="Helvetica Neue"/>
              </a:rPr>
              <a:t>02</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1fc20b2eaa22486f"/>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743967178"/>
      </p:ext>
    </p:extLst>
  </p:cSld>
</p:sld>
</file>

<file path=ppt/slides/slide3.xml><?xml version="1.0" encoding="utf-8"?>
<p:sld xmlns:p="http://schemas.openxmlformats.org/presentationml/2006/main">
  <p:cSld>
    <p:bg>
      <p:bgPr>
        <a:solidFill xmlns:a="http://schemas.openxmlformats.org/drawingml/2006/main">
          <a:srgbClr val="0E171E"/>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F5D25F8-6E7B-4647-B442-BD7ED12F5DB5}"/>
              </a:ext>
            </a:extLst>
          </p:cNvPr>
          <p:cNvSpPr>
            <a:spLocks xmlns:a="http://schemas.openxmlformats.org/drawingml/2006/main" noGrp="1"/>
          </p:cNvSpPr>
          <p:nvPr/>
        </p:nvSpPr>
        <p:spPr>
          <a:xfrm xmlns:a="http://schemas.openxmlformats.org/drawingml/2006/main">
            <a:off x="609600" y="2857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5DCEF2"/>
                </a:solidFill>
                <a:latin typeface="Helvetica Neue"/>
                <a:ea typeface="Helvetica Neue"/>
                <a:cs typeface="Helvetica Neue"/>
              </a:defRPr>
            </a:pPr>
            <a:r>
              <a:rPr sz="1350" b="1">
                <a:solidFill>
                  <a:srgbClr val="5DCEF2"/>
                </a:solidFill>
                <a:latin typeface="Helvetica Neue"/>
                <a:ea typeface="Helvetica Neue"/>
                <a:cs typeface="Helvetica Neue"/>
              </a:rPr>
              <a:t>PROJEKTI SEMESTRAL</a:t>
            </a:r>
          </a:p>
        </p:txBody>
      </p:sp>
      <p:sp>
        <p:nvSpPr>
          <p:cNvPr id="2" name="">
            <a:extLst xmlns:a="http://schemas.openxmlformats.org/drawingml/2006/main">
              <a:ext uri="{FF2B5EF4-FFF2-40B4-BE49-F238E27FC236}">
                <a16:creationId xmlns:a16="http://schemas.microsoft.com/office/drawing/2014/main" id="{001CAEAD-C34A-4773-9990-1D4AB5725455}"/>
              </a:ext>
            </a:extLst>
          </p:cNvPr>
          <p:cNvSpPr>
            <a:spLocks xmlns:a="http://schemas.openxmlformats.org/drawingml/2006/main" noGrp="1"/>
          </p:cNvSpPr>
          <p:nvPr/>
        </p:nvSpPr>
        <p:spPr>
          <a:xfrm xmlns:a="http://schemas.openxmlformats.org/drawingml/2006/main">
            <a:off x="609600" y="90487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5F7F9"/>
                </a:solidFill>
                <a:latin typeface="Helvetica Neue"/>
                <a:ea typeface="Helvetica Neue"/>
                <a:cs typeface="Helvetica Neue"/>
              </a:defRPr>
            </a:pPr>
            <a:r>
              <a:rPr sz="3600" b="1">
                <a:solidFill>
                  <a:srgbClr val="F5F7F9"/>
                </a:solidFill>
                <a:latin typeface="Helvetica Neue"/>
                <a:ea typeface="Helvetica Neue"/>
                <a:cs typeface="Helvetica Neue"/>
              </a:rPr>
              <a:t>Probleme që mund t’i zgjidhni</a:t>
            </a:r>
          </a:p>
        </p:txBody>
      </p:sp>
      <p:sp>
        <p:nvSpPr>
          <p:cNvPr id="3" name="">
            <a:extLst xmlns:a="http://schemas.openxmlformats.org/drawingml/2006/main">
              <a:ext uri="{FF2B5EF4-FFF2-40B4-BE49-F238E27FC236}">
                <a16:creationId xmlns:a16="http://schemas.microsoft.com/office/drawing/2014/main" id="{9E5D3D7C-2F25-4227-824B-DDAF1463E074}"/>
              </a:ext>
            </a:extLst>
          </p:cNvPr>
          <p:cNvSpPr>
            <a:spLocks xmlns:a="http://schemas.openxmlformats.org/drawingml/2006/main" noGrp="1"/>
          </p:cNvSpPr>
          <p:nvPr/>
        </p:nvSpPr>
        <p:spPr>
          <a:xfrm xmlns:a="http://schemas.openxmlformats.org/drawingml/2006/main">
            <a:off x="609600" y="204787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5DCEF2"/>
                </a:solidFill>
                <a:latin typeface="Helvetica Neue"/>
                <a:ea typeface="Helvetica Neue"/>
                <a:cs typeface="Helvetica Neue"/>
              </a:defRPr>
            </a:pPr>
            <a:r>
              <a:rPr sz="2550" b="1">
                <a:solidFill>
                  <a:srgbClr val="5DCEF2"/>
                </a:solidFill>
                <a:latin typeface="Helvetica Neue"/>
                <a:ea typeface="Helvetica Neue"/>
                <a:cs typeface="Helvetica Neue"/>
              </a:rPr>
              <a:t>Sallon</a:t>
            </a:r>
          </a:p>
        </p:txBody>
      </p:sp>
      <p:sp>
        <p:nvSpPr>
          <p:cNvPr id="4" name="">
            <a:extLst xmlns:a="http://schemas.openxmlformats.org/drawingml/2006/main">
              <a:ext uri="{FF2B5EF4-FFF2-40B4-BE49-F238E27FC236}">
                <a16:creationId xmlns:a16="http://schemas.microsoft.com/office/drawing/2014/main" id="{5CEC16F0-6A83-4A5A-B310-0C5BF825FAF8}"/>
              </a:ext>
            </a:extLst>
          </p:cNvPr>
          <p:cNvSpPr>
            <a:spLocks xmlns:a="http://schemas.openxmlformats.org/drawingml/2006/main" noGrp="1"/>
          </p:cNvSpPr>
          <p:nvPr/>
        </p:nvSpPr>
        <p:spPr>
          <a:xfrm xmlns:a="http://schemas.openxmlformats.org/drawingml/2006/main">
            <a:off x="3333750" y="2047875"/>
            <a:ext cx="8096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5F7F9"/>
                </a:solidFill>
                <a:latin typeface="Helvetica Neue"/>
                <a:ea typeface="Helvetica Neue"/>
                <a:cs typeface="Helvetica Neue"/>
              </a:defRPr>
            </a:pPr>
            <a:r>
              <a:rPr sz="2400" b="0">
                <a:solidFill>
                  <a:srgbClr val="F5F7F9"/>
                </a:solidFill>
                <a:latin typeface="Helvetica Neue"/>
                <a:ea typeface="Helvetica Neue"/>
                <a:cs typeface="Helvetica Neue"/>
              </a:rPr>
              <a:t>Rezervim termini dhe konfirmim</a:t>
            </a:r>
          </a:p>
        </p:txBody>
      </p:sp>
      <p:sp>
        <p:nvSpPr>
          <p:cNvPr id="5" name="">
            <a:extLst xmlns:a="http://schemas.openxmlformats.org/drawingml/2006/main">
              <a:ext uri="{FF2B5EF4-FFF2-40B4-BE49-F238E27FC236}">
                <a16:creationId xmlns:a16="http://schemas.microsoft.com/office/drawing/2014/main" id="{A0681146-5330-4AAF-B419-C69F335B1BF5}"/>
              </a:ext>
            </a:extLst>
          </p:cNvPr>
          <p:cNvSpPr>
            <a:spLocks xmlns:a="http://schemas.openxmlformats.org/drawingml/2006/main" noGrp="1"/>
          </p:cNvSpPr>
          <p:nvPr/>
        </p:nvSpPr>
        <p:spPr>
          <a:xfrm xmlns:a="http://schemas.openxmlformats.org/drawingml/2006/main">
            <a:off x="609600" y="2933700"/>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5DCEF2"/>
                </a:solidFill>
                <a:latin typeface="Helvetica Neue"/>
                <a:ea typeface="Helvetica Neue"/>
                <a:cs typeface="Helvetica Neue"/>
              </a:defRPr>
            </a:pPr>
            <a:r>
              <a:rPr sz="2550" b="1">
                <a:solidFill>
                  <a:srgbClr val="5DCEF2"/>
                </a:solidFill>
                <a:latin typeface="Helvetica Neue"/>
                <a:ea typeface="Helvetica Neue"/>
                <a:cs typeface="Helvetica Neue"/>
              </a:rPr>
              <a:t>Servis</a:t>
            </a:r>
          </a:p>
        </p:txBody>
      </p:sp>
      <p:sp>
        <p:nvSpPr>
          <p:cNvPr id="6" name="">
            <a:extLst xmlns:a="http://schemas.openxmlformats.org/drawingml/2006/main">
              <a:ext uri="{FF2B5EF4-FFF2-40B4-BE49-F238E27FC236}">
                <a16:creationId xmlns:a16="http://schemas.microsoft.com/office/drawing/2014/main" id="{86050C7B-D92A-469C-AC65-765530D473EF}"/>
              </a:ext>
            </a:extLst>
          </p:cNvPr>
          <p:cNvSpPr>
            <a:spLocks xmlns:a="http://schemas.openxmlformats.org/drawingml/2006/main" noGrp="1"/>
          </p:cNvSpPr>
          <p:nvPr/>
        </p:nvSpPr>
        <p:spPr>
          <a:xfrm xmlns:a="http://schemas.openxmlformats.org/drawingml/2006/main">
            <a:off x="3333750" y="2933700"/>
            <a:ext cx="8096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5F7F9"/>
                </a:solidFill>
                <a:latin typeface="Helvetica Neue"/>
                <a:ea typeface="Helvetica Neue"/>
                <a:cs typeface="Helvetica Neue"/>
              </a:defRPr>
            </a:pPr>
            <a:r>
              <a:rPr sz="2400" b="0">
                <a:solidFill>
                  <a:srgbClr val="F5F7F9"/>
                </a:solidFill>
                <a:latin typeface="Helvetica Neue"/>
                <a:ea typeface="Helvetica Neue"/>
                <a:cs typeface="Helvetica Neue"/>
              </a:rPr>
              <a:t>Kërkesë shërbimi dhe status riparimi</a:t>
            </a:r>
          </a:p>
        </p:txBody>
      </p:sp>
      <p:sp>
        <p:nvSpPr>
          <p:cNvPr id="7" name="">
            <a:extLst xmlns:a="http://schemas.openxmlformats.org/drawingml/2006/main">
              <a:ext uri="{FF2B5EF4-FFF2-40B4-BE49-F238E27FC236}">
                <a16:creationId xmlns:a16="http://schemas.microsoft.com/office/drawing/2014/main" id="{5497C509-8E5C-4AB7-B27D-F392E020845F}"/>
              </a:ext>
            </a:extLst>
          </p:cNvPr>
          <p:cNvSpPr>
            <a:spLocks xmlns:a="http://schemas.openxmlformats.org/drawingml/2006/main" noGrp="1"/>
          </p:cNvSpPr>
          <p:nvPr/>
        </p:nvSpPr>
        <p:spPr>
          <a:xfrm xmlns:a="http://schemas.openxmlformats.org/drawingml/2006/main">
            <a:off x="609600" y="381952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5DCEF2"/>
                </a:solidFill>
                <a:latin typeface="Helvetica Neue"/>
                <a:ea typeface="Helvetica Neue"/>
                <a:cs typeface="Helvetica Neue"/>
              </a:defRPr>
            </a:pPr>
            <a:r>
              <a:rPr sz="2550" b="1">
                <a:solidFill>
                  <a:srgbClr val="5DCEF2"/>
                </a:solidFill>
                <a:latin typeface="Helvetica Neue"/>
                <a:ea typeface="Helvetica Neue"/>
                <a:cs typeface="Helvetica Neue"/>
              </a:rPr>
              <a:t>Dyqan</a:t>
            </a:r>
          </a:p>
        </p:txBody>
      </p:sp>
      <p:sp>
        <p:nvSpPr>
          <p:cNvPr id="8" name="">
            <a:extLst xmlns:a="http://schemas.openxmlformats.org/drawingml/2006/main">
              <a:ext uri="{FF2B5EF4-FFF2-40B4-BE49-F238E27FC236}">
                <a16:creationId xmlns:a16="http://schemas.microsoft.com/office/drawing/2014/main" id="{96251DD5-9DE3-424D-87F1-69D366BD1F39}"/>
              </a:ext>
            </a:extLst>
          </p:cNvPr>
          <p:cNvSpPr>
            <a:spLocks xmlns:a="http://schemas.openxmlformats.org/drawingml/2006/main" noGrp="1"/>
          </p:cNvSpPr>
          <p:nvPr/>
        </p:nvSpPr>
        <p:spPr>
          <a:xfrm xmlns:a="http://schemas.openxmlformats.org/drawingml/2006/main">
            <a:off x="3333750" y="3819525"/>
            <a:ext cx="8096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5F7F9"/>
                </a:solidFill>
                <a:latin typeface="Helvetica Neue"/>
                <a:ea typeface="Helvetica Neue"/>
                <a:cs typeface="Helvetica Neue"/>
              </a:defRPr>
            </a:pPr>
            <a:r>
              <a:rPr sz="2400" b="0">
                <a:solidFill>
                  <a:srgbClr val="F5F7F9"/>
                </a:solidFill>
                <a:latin typeface="Helvetica Neue"/>
                <a:ea typeface="Helvetica Neue"/>
                <a:cs typeface="Helvetica Neue"/>
              </a:rPr>
              <a:t>Katalog dhe kërkesë porosie</a:t>
            </a:r>
          </a:p>
        </p:txBody>
      </p:sp>
      <p:sp>
        <p:nvSpPr>
          <p:cNvPr id="9" name="">
            <a:extLst xmlns:a="http://schemas.openxmlformats.org/drawingml/2006/main">
              <a:ext uri="{FF2B5EF4-FFF2-40B4-BE49-F238E27FC236}">
                <a16:creationId xmlns:a16="http://schemas.microsoft.com/office/drawing/2014/main" id="{E9DADA5C-4CDB-4B9B-A974-A5434DBC73C9}"/>
              </a:ext>
            </a:extLst>
          </p:cNvPr>
          <p:cNvSpPr>
            <a:spLocks xmlns:a="http://schemas.openxmlformats.org/drawingml/2006/main" noGrp="1"/>
          </p:cNvSpPr>
          <p:nvPr/>
        </p:nvSpPr>
        <p:spPr>
          <a:xfrm xmlns:a="http://schemas.openxmlformats.org/drawingml/2006/main">
            <a:off x="609600" y="4705350"/>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5DCEF2"/>
                </a:solidFill>
                <a:latin typeface="Helvetica Neue"/>
                <a:ea typeface="Helvetica Neue"/>
                <a:cs typeface="Helvetica Neue"/>
              </a:defRPr>
            </a:pPr>
            <a:r>
              <a:rPr sz="2550" b="1">
                <a:solidFill>
                  <a:srgbClr val="5DCEF2"/>
                </a:solidFill>
                <a:latin typeface="Helvetica Neue"/>
                <a:ea typeface="Helvetica Neue"/>
                <a:cs typeface="Helvetica Neue"/>
              </a:rPr>
              <a:t>Mobileri</a:t>
            </a:r>
          </a:p>
        </p:txBody>
      </p:sp>
      <p:sp>
        <p:nvSpPr>
          <p:cNvPr id="10" name="">
            <a:extLst xmlns:a="http://schemas.openxmlformats.org/drawingml/2006/main">
              <a:ext uri="{FF2B5EF4-FFF2-40B4-BE49-F238E27FC236}">
                <a16:creationId xmlns:a16="http://schemas.microsoft.com/office/drawing/2014/main" id="{1A2D96DC-0F80-4544-912C-9A57964ECECC}"/>
              </a:ext>
            </a:extLst>
          </p:cNvPr>
          <p:cNvSpPr>
            <a:spLocks xmlns:a="http://schemas.openxmlformats.org/drawingml/2006/main" noGrp="1"/>
          </p:cNvSpPr>
          <p:nvPr/>
        </p:nvSpPr>
        <p:spPr>
          <a:xfrm xmlns:a="http://schemas.openxmlformats.org/drawingml/2006/main">
            <a:off x="3333750" y="4705350"/>
            <a:ext cx="8096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5F7F9"/>
                </a:solidFill>
                <a:latin typeface="Helvetica Neue"/>
                <a:ea typeface="Helvetica Neue"/>
                <a:cs typeface="Helvetica Neue"/>
              </a:defRPr>
            </a:pPr>
            <a:r>
              <a:rPr sz="2400" b="0">
                <a:solidFill>
                  <a:srgbClr val="F5F7F9"/>
                </a:solidFill>
                <a:latin typeface="Helvetica Neue"/>
                <a:ea typeface="Helvetica Neue"/>
                <a:cs typeface="Helvetica Neue"/>
              </a:rPr>
              <a:t>Kërkesë oferte me përmasa</a:t>
            </a:r>
          </a:p>
        </p:txBody>
      </p:sp>
      <p:sp>
        <p:nvSpPr>
          <p:cNvPr id="11" name="">
            <a:extLst xmlns:a="http://schemas.openxmlformats.org/drawingml/2006/main">
              <a:ext uri="{FF2B5EF4-FFF2-40B4-BE49-F238E27FC236}">
                <a16:creationId xmlns:a16="http://schemas.microsoft.com/office/drawing/2014/main" id="{D7C7C919-36E2-4C4B-89F5-7A89F0CC5D78}"/>
              </a:ext>
            </a:extLst>
          </p:cNvPr>
          <p:cNvSpPr>
            <a:spLocks xmlns:a="http://schemas.openxmlformats.org/drawingml/2006/main" noGrp="1"/>
          </p:cNvSpPr>
          <p:nvPr/>
        </p:nvSpPr>
        <p:spPr>
          <a:xfrm xmlns:a="http://schemas.openxmlformats.org/drawingml/2006/main">
            <a:off x="609600" y="5943600"/>
            <a:ext cx="1085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B6C5CE"/>
                </a:solidFill>
                <a:latin typeface="Helvetica Neue"/>
                <a:ea typeface="Helvetica Neue"/>
                <a:cs typeface="Helvetica Neue"/>
              </a:defRPr>
            </a:pPr>
            <a:r>
              <a:rPr sz="2100" b="0">
                <a:solidFill>
                  <a:srgbClr val="B6C5CE"/>
                </a:solidFill>
                <a:latin typeface="Helvetica Neue"/>
                <a:ea typeface="Helvetica Neue"/>
                <a:cs typeface="Helvetica Neue"/>
              </a:rPr>
              <a:t>MVP: një rrjedhë kryesore me deri në tri veçori</a:t>
            </a:r>
          </a:p>
        </p:txBody>
      </p:sp>
      <p:sp>
        <p:nvSpPr>
          <p:cNvPr id="12" name="">
            <a:extLst xmlns:a="http://schemas.openxmlformats.org/drawingml/2006/main">
              <a:ext uri="{FF2B5EF4-FFF2-40B4-BE49-F238E27FC236}">
                <a16:creationId xmlns:a16="http://schemas.microsoft.com/office/drawing/2014/main" id="{39EAF773-7DD2-45C1-844F-672D0C33F94B}"/>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6C5CE"/>
                </a:solidFill>
                <a:latin typeface="Helvetica Neue"/>
                <a:ea typeface="Helvetica Neue"/>
                <a:cs typeface="Helvetica Neue"/>
              </a:defRPr>
            </a:pPr>
            <a:r>
              <a:rPr sz="1350" b="0">
                <a:solidFill>
                  <a:srgbClr val="B6C5CE"/>
                </a:solidFill>
                <a:latin typeface="Helvetica Neue"/>
                <a:ea typeface="Helvetica Neue"/>
                <a:cs typeface="Helvetica Neue"/>
              </a:rPr>
              <a:t>03</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e1363725f64349c4"/>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210778059"/>
      </p:ext>
    </p:extLst>
  </p:cSld>
</p:sld>
</file>

<file path=ppt/slides/slide4.xml><?xml version="1.0" encoding="utf-8"?>
<p:sld xmlns:p="http://schemas.openxmlformats.org/presentationml/2006/main">
  <p:cSld>
    <p:bg>
      <p:bgPr>
        <a:solidFill xmlns:a="http://schemas.openxmlformats.org/drawingml/2006/main">
          <a:srgbClr val="0E171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C263F3E-5D85-49FD-8898-B125AA3C1E39}"/>
              </a:ext>
            </a:extLst>
          </p:cNvPr>
          <p:cNvSpPr>
            <a:spLocks xmlns:a="http://schemas.openxmlformats.org/drawingml/2006/main" noGrp="1"/>
          </p:cNvSpPr>
          <p:nvPr/>
        </p:nvSpPr>
        <p:spPr>
          <a:xfrm xmlns:a="http://schemas.openxmlformats.org/drawingml/2006/main">
            <a:off x="609600" y="2857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5DCEF2"/>
                </a:solidFill>
                <a:latin typeface="Helvetica Neue"/>
                <a:ea typeface="Helvetica Neue"/>
                <a:cs typeface="Helvetica Neue"/>
              </a:defRPr>
            </a:pPr>
            <a:r>
              <a:rPr sz="1350" b="1">
                <a:solidFill>
                  <a:srgbClr val="5DCEF2"/>
                </a:solidFill>
                <a:latin typeface="Helvetica Neue"/>
                <a:ea typeface="Helvetica Neue"/>
                <a:cs typeface="Helvetica Neue"/>
              </a:rPr>
              <a:t>PROJEKTI SEMESTRAL</a:t>
            </a:r>
          </a:p>
        </p:txBody>
      </p:sp>
      <p:sp>
        <p:nvSpPr>
          <p:cNvPr id="2" name="">
            <a:extLst xmlns:a="http://schemas.openxmlformats.org/drawingml/2006/main">
              <a:ext uri="{FF2B5EF4-FFF2-40B4-BE49-F238E27FC236}">
                <a16:creationId xmlns:a16="http://schemas.microsoft.com/office/drawing/2014/main" id="{AE63952E-D9EE-4183-8E09-E62CD3AB0A59}"/>
              </a:ext>
            </a:extLst>
          </p:cNvPr>
          <p:cNvSpPr>
            <a:spLocks xmlns:a="http://schemas.openxmlformats.org/drawingml/2006/main" noGrp="1"/>
          </p:cNvSpPr>
          <p:nvPr/>
        </p:nvSpPr>
        <p:spPr>
          <a:xfrm xmlns:a="http://schemas.openxmlformats.org/drawingml/2006/main">
            <a:off x="609600" y="90487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5F7F9"/>
                </a:solidFill>
                <a:latin typeface="Helvetica Neue"/>
                <a:ea typeface="Helvetica Neue"/>
                <a:cs typeface="Helvetica Neue"/>
              </a:defRPr>
            </a:pPr>
            <a:r>
              <a:rPr sz="3600" b="1">
                <a:solidFill>
                  <a:srgbClr val="F5F7F9"/>
                </a:solidFill>
                <a:latin typeface="Helvetica Neue"/>
                <a:ea typeface="Helvetica Neue"/>
                <a:cs typeface="Helvetica Neue"/>
              </a:rPr>
              <a:t>Çfarë do të dini të ndërtoni</a:t>
            </a:r>
          </a:p>
        </p:txBody>
      </p:sp>
      <p:sp>
        <p:nvSpPr>
          <p:cNvPr id="3" name="">
            <a:extLst xmlns:a="http://schemas.openxmlformats.org/drawingml/2006/main">
              <a:ext uri="{FF2B5EF4-FFF2-40B4-BE49-F238E27FC236}">
                <a16:creationId xmlns:a16="http://schemas.microsoft.com/office/drawing/2014/main" id="{839939E0-A4AC-4DF2-9A72-D7A81FBAED77}"/>
              </a:ext>
            </a:extLst>
          </p:cNvPr>
          <p:cNvSpPr>
            <a:spLocks xmlns:a="http://schemas.openxmlformats.org/drawingml/2006/main" noGrp="1"/>
          </p:cNvSpPr>
          <p:nvPr/>
        </p:nvSpPr>
        <p:spPr>
          <a:xfrm xmlns:a="http://schemas.openxmlformats.org/drawingml/2006/main">
            <a:off x="609600" y="209550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5DCEF2"/>
                </a:solidFill>
                <a:latin typeface="Helvetica Neue"/>
                <a:ea typeface="Helvetica Neue"/>
                <a:cs typeface="Helvetica Neue"/>
              </a:defRPr>
            </a:pPr>
            <a:r>
              <a:rPr sz="2400" b="1">
                <a:solidFill>
                  <a:srgbClr val="5DCEF2"/>
                </a:solidFill>
                <a:latin typeface="Helvetica Neue"/>
                <a:ea typeface="Helvetica Neue"/>
                <a:cs typeface="Helvetica Neue"/>
              </a:rPr>
              <a:t>Ndërfaqja</a:t>
            </a:r>
          </a:p>
        </p:txBody>
      </p:sp>
      <p:sp>
        <p:nvSpPr>
          <p:cNvPr id="4" name="">
            <a:extLst xmlns:a="http://schemas.openxmlformats.org/drawingml/2006/main">
              <a:ext uri="{FF2B5EF4-FFF2-40B4-BE49-F238E27FC236}">
                <a16:creationId xmlns:a16="http://schemas.microsoft.com/office/drawing/2014/main" id="{CF26969E-164C-4C0D-BBD4-6D703E62564C}"/>
              </a:ext>
            </a:extLst>
          </p:cNvPr>
          <p:cNvSpPr>
            <a:spLocks xmlns:a="http://schemas.openxmlformats.org/drawingml/2006/main" noGrp="1"/>
          </p:cNvSpPr>
          <p:nvPr/>
        </p:nvSpPr>
        <p:spPr>
          <a:xfrm xmlns:a="http://schemas.openxmlformats.org/drawingml/2006/main">
            <a:off x="3714750" y="2095500"/>
            <a:ext cx="7858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5F7F9"/>
                </a:solidFill>
                <a:latin typeface="Helvetica Neue"/>
                <a:ea typeface="Helvetica Neue"/>
                <a:cs typeface="Helvetica Neue"/>
              </a:defRPr>
            </a:pPr>
            <a:r>
              <a:rPr sz="2250" b="0">
                <a:solidFill>
                  <a:srgbClr val="F5F7F9"/>
                </a:solidFill>
                <a:latin typeface="Helvetica Neue"/>
                <a:ea typeface="Helvetica Neue"/>
                <a:cs typeface="Helvetica Neue"/>
              </a:rPr>
              <a:t>React, TypeScript, Next.js App Router</a:t>
            </a:r>
          </a:p>
        </p:txBody>
      </p:sp>
      <p:sp>
        <p:nvSpPr>
          <p:cNvPr id="5" name="">
            <a:extLst xmlns:a="http://schemas.openxmlformats.org/drawingml/2006/main">
              <a:ext uri="{FF2B5EF4-FFF2-40B4-BE49-F238E27FC236}">
                <a16:creationId xmlns:a16="http://schemas.microsoft.com/office/drawing/2014/main" id="{33CFECE8-E79E-4999-9DED-BDB8B31B0EB8}"/>
              </a:ext>
            </a:extLst>
          </p:cNvPr>
          <p:cNvSpPr>
            <a:spLocks xmlns:a="http://schemas.openxmlformats.org/drawingml/2006/main" noGrp="1"/>
          </p:cNvSpPr>
          <p:nvPr/>
        </p:nvSpPr>
        <p:spPr>
          <a:xfrm xmlns:a="http://schemas.openxmlformats.org/drawingml/2006/main">
            <a:off x="609600" y="3000375"/>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5DCEF2"/>
                </a:solidFill>
                <a:latin typeface="Helvetica Neue"/>
                <a:ea typeface="Helvetica Neue"/>
                <a:cs typeface="Helvetica Neue"/>
              </a:defRPr>
            </a:pPr>
            <a:r>
              <a:rPr sz="2400" b="1">
                <a:solidFill>
                  <a:srgbClr val="5DCEF2"/>
                </a:solidFill>
                <a:latin typeface="Helvetica Neue"/>
                <a:ea typeface="Helvetica Neue"/>
                <a:cs typeface="Helvetica Neue"/>
              </a:rPr>
              <a:t>Të dhënat</a:t>
            </a:r>
          </a:p>
        </p:txBody>
      </p:sp>
      <p:sp>
        <p:nvSpPr>
          <p:cNvPr id="6" name="">
            <a:extLst xmlns:a="http://schemas.openxmlformats.org/drawingml/2006/main">
              <a:ext uri="{FF2B5EF4-FFF2-40B4-BE49-F238E27FC236}">
                <a16:creationId xmlns:a16="http://schemas.microsoft.com/office/drawing/2014/main" id="{14313F22-C942-429D-8EB2-DF489EB657AB}"/>
              </a:ext>
            </a:extLst>
          </p:cNvPr>
          <p:cNvSpPr>
            <a:spLocks xmlns:a="http://schemas.openxmlformats.org/drawingml/2006/main" noGrp="1"/>
          </p:cNvSpPr>
          <p:nvPr/>
        </p:nvSpPr>
        <p:spPr>
          <a:xfrm xmlns:a="http://schemas.openxmlformats.org/drawingml/2006/main">
            <a:off x="3714750" y="3000375"/>
            <a:ext cx="7858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5F7F9"/>
                </a:solidFill>
                <a:latin typeface="Helvetica Neue"/>
                <a:ea typeface="Helvetica Neue"/>
                <a:cs typeface="Helvetica Neue"/>
              </a:defRPr>
            </a:pPr>
            <a:r>
              <a:rPr sz="2250" b="0">
                <a:solidFill>
                  <a:srgbClr val="F5F7F9"/>
                </a:solidFill>
                <a:latin typeface="Helvetica Neue"/>
                <a:ea typeface="Helvetica Neue"/>
                <a:cs typeface="Helvetica Neue"/>
              </a:rPr>
              <a:t>PostgreSQL, Supabase Auth dhe RLS</a:t>
            </a:r>
          </a:p>
        </p:txBody>
      </p:sp>
      <p:sp>
        <p:nvSpPr>
          <p:cNvPr id="7" name="">
            <a:extLst xmlns:a="http://schemas.openxmlformats.org/drawingml/2006/main">
              <a:ext uri="{FF2B5EF4-FFF2-40B4-BE49-F238E27FC236}">
                <a16:creationId xmlns:a16="http://schemas.microsoft.com/office/drawing/2014/main" id="{E9930019-635D-41A5-85DC-1F2C0AC591A6}"/>
              </a:ext>
            </a:extLst>
          </p:cNvPr>
          <p:cNvSpPr>
            <a:spLocks xmlns:a="http://schemas.openxmlformats.org/drawingml/2006/main" noGrp="1"/>
          </p:cNvSpPr>
          <p:nvPr/>
        </p:nvSpPr>
        <p:spPr>
          <a:xfrm xmlns:a="http://schemas.openxmlformats.org/drawingml/2006/main">
            <a:off x="609600" y="3905250"/>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5DCEF2"/>
                </a:solidFill>
                <a:latin typeface="Helvetica Neue"/>
                <a:ea typeface="Helvetica Neue"/>
                <a:cs typeface="Helvetica Neue"/>
              </a:defRPr>
            </a:pPr>
            <a:r>
              <a:rPr sz="2400" b="1">
                <a:solidFill>
                  <a:srgbClr val="5DCEF2"/>
                </a:solidFill>
                <a:latin typeface="Helvetica Neue"/>
                <a:ea typeface="Helvetica Neue"/>
                <a:cs typeface="Helvetica Neue"/>
              </a:rPr>
              <a:t>Përvoja mobile</a:t>
            </a:r>
          </a:p>
        </p:txBody>
      </p:sp>
      <p:sp>
        <p:nvSpPr>
          <p:cNvPr id="8" name="">
            <a:extLst xmlns:a="http://schemas.openxmlformats.org/drawingml/2006/main">
              <a:ext uri="{FF2B5EF4-FFF2-40B4-BE49-F238E27FC236}">
                <a16:creationId xmlns:a16="http://schemas.microsoft.com/office/drawing/2014/main" id="{218084AB-6FA9-4842-907C-DA5C9D2E8AB8}"/>
              </a:ext>
            </a:extLst>
          </p:cNvPr>
          <p:cNvSpPr>
            <a:spLocks xmlns:a="http://schemas.openxmlformats.org/drawingml/2006/main" noGrp="1"/>
          </p:cNvSpPr>
          <p:nvPr/>
        </p:nvSpPr>
        <p:spPr>
          <a:xfrm xmlns:a="http://schemas.openxmlformats.org/drawingml/2006/main">
            <a:off x="3714750" y="3905250"/>
            <a:ext cx="7858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5F7F9"/>
                </a:solidFill>
                <a:latin typeface="Helvetica Neue"/>
                <a:ea typeface="Helvetica Neue"/>
                <a:cs typeface="Helvetica Neue"/>
              </a:defRPr>
            </a:pPr>
            <a:r>
              <a:rPr sz="2250" b="0">
                <a:solidFill>
                  <a:srgbClr val="F5F7F9"/>
                </a:solidFill>
                <a:latin typeface="Helvetica Neue"/>
                <a:ea typeface="Helvetica Neue"/>
                <a:cs typeface="Helvetica Neue"/>
              </a:rPr>
              <a:t>Dizajn responsive, PWA dhe offline</a:t>
            </a:r>
          </a:p>
        </p:txBody>
      </p:sp>
      <p:sp>
        <p:nvSpPr>
          <p:cNvPr id="9" name="">
            <a:extLst xmlns:a="http://schemas.openxmlformats.org/drawingml/2006/main">
              <a:ext uri="{FF2B5EF4-FFF2-40B4-BE49-F238E27FC236}">
                <a16:creationId xmlns:a16="http://schemas.microsoft.com/office/drawing/2014/main" id="{DADEE357-0592-4AE6-965D-3E299FA5DDC1}"/>
              </a:ext>
            </a:extLst>
          </p:cNvPr>
          <p:cNvSpPr>
            <a:spLocks xmlns:a="http://schemas.openxmlformats.org/drawingml/2006/main" noGrp="1"/>
          </p:cNvSpPr>
          <p:nvPr/>
        </p:nvSpPr>
        <p:spPr>
          <a:xfrm xmlns:a="http://schemas.openxmlformats.org/drawingml/2006/main">
            <a:off x="609600" y="4810125"/>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5DCEF2"/>
                </a:solidFill>
                <a:latin typeface="Helvetica Neue"/>
                <a:ea typeface="Helvetica Neue"/>
                <a:cs typeface="Helvetica Neue"/>
              </a:defRPr>
            </a:pPr>
            <a:r>
              <a:rPr sz="2400" b="1">
                <a:solidFill>
                  <a:srgbClr val="5DCEF2"/>
                </a:solidFill>
                <a:latin typeface="Helvetica Neue"/>
                <a:ea typeface="Helvetica Neue"/>
                <a:cs typeface="Helvetica Neue"/>
              </a:rPr>
              <a:t>Cilësia</a:t>
            </a:r>
          </a:p>
        </p:txBody>
      </p:sp>
      <p:sp>
        <p:nvSpPr>
          <p:cNvPr id="10" name="">
            <a:extLst xmlns:a="http://schemas.openxmlformats.org/drawingml/2006/main">
              <a:ext uri="{FF2B5EF4-FFF2-40B4-BE49-F238E27FC236}">
                <a16:creationId xmlns:a16="http://schemas.microsoft.com/office/drawing/2014/main" id="{AE7DE897-AE5A-4A32-AD36-9B018F7D8487}"/>
              </a:ext>
            </a:extLst>
          </p:cNvPr>
          <p:cNvSpPr>
            <a:spLocks xmlns:a="http://schemas.openxmlformats.org/drawingml/2006/main" noGrp="1"/>
          </p:cNvSpPr>
          <p:nvPr/>
        </p:nvSpPr>
        <p:spPr>
          <a:xfrm xmlns:a="http://schemas.openxmlformats.org/drawingml/2006/main">
            <a:off x="3714750" y="4810125"/>
            <a:ext cx="7858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5F7F9"/>
                </a:solidFill>
                <a:latin typeface="Helvetica Neue"/>
                <a:ea typeface="Helvetica Neue"/>
                <a:cs typeface="Helvetica Neue"/>
              </a:defRPr>
            </a:pPr>
            <a:r>
              <a:rPr sz="2250" b="0">
                <a:solidFill>
                  <a:srgbClr val="F5F7F9"/>
                </a:solidFill>
                <a:latin typeface="Helvetica Neue"/>
                <a:ea typeface="Helvetica Neue"/>
                <a:cs typeface="Helvetica Neue"/>
              </a:rPr>
              <a:t>Teste, GitHub, publikim dhe verifikim i AI</a:t>
            </a:r>
          </a:p>
        </p:txBody>
      </p:sp>
      <p:sp>
        <p:nvSpPr>
          <p:cNvPr id="11" name="">
            <a:extLst xmlns:a="http://schemas.openxmlformats.org/drawingml/2006/main">
              <a:ext uri="{FF2B5EF4-FFF2-40B4-BE49-F238E27FC236}">
                <a16:creationId xmlns:a16="http://schemas.microsoft.com/office/drawing/2014/main" id="{104E6F0A-6588-4063-A0FA-05B6711E7286}"/>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6C5CE"/>
                </a:solidFill>
                <a:latin typeface="Helvetica Neue"/>
                <a:ea typeface="Helvetica Neue"/>
                <a:cs typeface="Helvetica Neue"/>
              </a:defRPr>
            </a:pPr>
            <a:r>
              <a:rPr sz="1350" b="0">
                <a:solidFill>
                  <a:srgbClr val="B6C5CE"/>
                </a:solidFill>
                <a:latin typeface="Helvetica Neue"/>
                <a:ea typeface="Helvetica Neue"/>
                <a:cs typeface="Helvetica Neue"/>
              </a:rPr>
              <a:t>04</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6ce272619b1429a"/>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99403082"/>
      </p:ext>
    </p:extLst>
  </p:cSld>
</p:sld>
</file>

<file path=ppt/slides/slide5.xml><?xml version="1.0" encoding="utf-8"?>
<p:sld xmlns:p="http://schemas.openxmlformats.org/presentationml/2006/main">
  <p:cSld>
    <p:bg>
      <p:bgPr>
        <a:solidFill xmlns:a="http://schemas.openxmlformats.org/drawingml/2006/main">
          <a:srgbClr val="0E171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6DF1E72-BC44-4CE1-A124-406A80079DED}"/>
              </a:ext>
            </a:extLst>
          </p:cNvPr>
          <p:cNvSpPr>
            <a:spLocks xmlns:a="http://schemas.openxmlformats.org/drawingml/2006/main" noGrp="1"/>
          </p:cNvSpPr>
          <p:nvPr/>
        </p:nvSpPr>
        <p:spPr>
          <a:xfrm xmlns:a="http://schemas.openxmlformats.org/drawingml/2006/main">
            <a:off x="609600" y="2857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5DCEF2"/>
                </a:solidFill>
                <a:latin typeface="Helvetica Neue"/>
                <a:ea typeface="Helvetica Neue"/>
                <a:cs typeface="Helvetica Neue"/>
              </a:defRPr>
            </a:pPr>
            <a:r>
              <a:rPr sz="1350" b="1">
                <a:solidFill>
                  <a:srgbClr val="5DCEF2"/>
                </a:solidFill>
                <a:latin typeface="Helvetica Neue"/>
                <a:ea typeface="Helvetica Neue"/>
                <a:cs typeface="Helvetica Neue"/>
              </a:rPr>
              <a:t>PROJEKTI SEMESTRAL</a:t>
            </a:r>
          </a:p>
        </p:txBody>
      </p:sp>
      <p:sp>
        <p:nvSpPr>
          <p:cNvPr id="2" name="">
            <a:extLst xmlns:a="http://schemas.openxmlformats.org/drawingml/2006/main">
              <a:ext uri="{FF2B5EF4-FFF2-40B4-BE49-F238E27FC236}">
                <a16:creationId xmlns:a16="http://schemas.microsoft.com/office/drawing/2014/main" id="{7319227B-1846-4A83-94AC-00BF20BB8AE6}"/>
              </a:ext>
            </a:extLst>
          </p:cNvPr>
          <p:cNvSpPr>
            <a:spLocks xmlns:a="http://schemas.openxmlformats.org/drawingml/2006/main" noGrp="1"/>
          </p:cNvSpPr>
          <p:nvPr/>
        </p:nvSpPr>
        <p:spPr>
          <a:xfrm xmlns:a="http://schemas.openxmlformats.org/drawingml/2006/main">
            <a:off x="609600" y="90487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5F7F9"/>
                </a:solidFill>
                <a:latin typeface="Helvetica Neue"/>
                <a:ea typeface="Helvetica Neue"/>
                <a:cs typeface="Helvetica Neue"/>
              </a:defRPr>
            </a:pPr>
            <a:r>
              <a:rPr sz="3600" b="1">
                <a:solidFill>
                  <a:srgbClr val="F5F7F9"/>
                </a:solidFill>
                <a:latin typeface="Helvetica Neue"/>
                <a:ea typeface="Helvetica Neue"/>
                <a:cs typeface="Helvetica Neue"/>
              </a:rPr>
              <a:t>Rruga e projektit: javët 1–7</a:t>
            </a:r>
          </a:p>
        </p:txBody>
      </p:sp>
      <p:sp>
        <p:nvSpPr>
          <p:cNvPr id="3" name="">
            <a:extLst xmlns:a="http://schemas.openxmlformats.org/drawingml/2006/main">
              <a:ext uri="{FF2B5EF4-FFF2-40B4-BE49-F238E27FC236}">
                <a16:creationId xmlns:a16="http://schemas.microsoft.com/office/drawing/2014/main" id="{9F55FF6D-C8B3-4EDE-AFB2-2502FC86D26D}"/>
              </a:ext>
            </a:extLst>
          </p:cNvPr>
          <p:cNvSpPr>
            <a:spLocks xmlns:a="http://schemas.openxmlformats.org/drawingml/2006/main" noGrp="1"/>
          </p:cNvSpPr>
          <p:nvPr/>
        </p:nvSpPr>
        <p:spPr>
          <a:xfrm xmlns:a="http://schemas.openxmlformats.org/drawingml/2006/main">
            <a:off x="609600" y="2095500"/>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DCEF2"/>
                </a:solidFill>
                <a:latin typeface="Helvetica Neue"/>
                <a:ea typeface="Helvetica Neue"/>
                <a:cs typeface="Helvetica Neue"/>
              </a:defRPr>
            </a:pPr>
            <a:r>
              <a:rPr sz="3000" b="1">
                <a:solidFill>
                  <a:srgbClr val="5DCEF2"/>
                </a:solidFill>
                <a:latin typeface="Helvetica Neue"/>
                <a:ea typeface="Helvetica Neue"/>
                <a:cs typeface="Helvetica Neue"/>
              </a:rPr>
              <a:t>1–2</a:t>
            </a:r>
          </a:p>
        </p:txBody>
      </p:sp>
      <p:sp>
        <p:nvSpPr>
          <p:cNvPr id="4" name="">
            <a:extLst xmlns:a="http://schemas.openxmlformats.org/drawingml/2006/main">
              <a:ext uri="{FF2B5EF4-FFF2-40B4-BE49-F238E27FC236}">
                <a16:creationId xmlns:a16="http://schemas.microsoft.com/office/drawing/2014/main" id="{F8FD3701-19D9-4541-950D-1D0305DD9DC9}"/>
              </a:ext>
            </a:extLst>
          </p:cNvPr>
          <p:cNvSpPr>
            <a:spLocks xmlns:a="http://schemas.openxmlformats.org/drawingml/2006/main" noGrp="1"/>
          </p:cNvSpPr>
          <p:nvPr/>
        </p:nvSpPr>
        <p:spPr>
          <a:xfrm xmlns:a="http://schemas.openxmlformats.org/drawingml/2006/main">
            <a:off x="2524125" y="2095500"/>
            <a:ext cx="9001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5F7F9"/>
                </a:solidFill>
                <a:latin typeface="Helvetica Neue"/>
                <a:ea typeface="Helvetica Neue"/>
                <a:cs typeface="Helvetica Neue"/>
              </a:defRPr>
            </a:pPr>
            <a:r>
              <a:rPr sz="2325" b="0">
                <a:solidFill>
                  <a:srgbClr val="F5F7F9"/>
                </a:solidFill>
                <a:latin typeface="Helvetica Neue"/>
                <a:ea typeface="Helvetica Neue"/>
                <a:cs typeface="Helvetica Neue"/>
              </a:rPr>
              <a:t>Biznesi, intervistat, PRD dhe publikimi i parë</a:t>
            </a:r>
          </a:p>
        </p:txBody>
      </p:sp>
      <p:sp>
        <p:nvSpPr>
          <p:cNvPr id="5" name="">
            <a:extLst xmlns:a="http://schemas.openxmlformats.org/drawingml/2006/main">
              <a:ext uri="{FF2B5EF4-FFF2-40B4-BE49-F238E27FC236}">
                <a16:creationId xmlns:a16="http://schemas.microsoft.com/office/drawing/2014/main" id="{3B22113D-C3B7-48AB-A4C2-1D27D45D442E}"/>
              </a:ext>
            </a:extLst>
          </p:cNvPr>
          <p:cNvSpPr>
            <a:spLocks xmlns:a="http://schemas.openxmlformats.org/drawingml/2006/main" noGrp="1"/>
          </p:cNvSpPr>
          <p:nvPr/>
        </p:nvSpPr>
        <p:spPr>
          <a:xfrm xmlns:a="http://schemas.openxmlformats.org/drawingml/2006/main">
            <a:off x="609600" y="3000375"/>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DCEF2"/>
                </a:solidFill>
                <a:latin typeface="Helvetica Neue"/>
                <a:ea typeface="Helvetica Neue"/>
                <a:cs typeface="Helvetica Neue"/>
              </a:defRPr>
            </a:pPr>
            <a:r>
              <a:rPr sz="3000" b="1">
                <a:solidFill>
                  <a:srgbClr val="5DCEF2"/>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EEB8C9D0-3271-480F-A0D9-265E82407E70}"/>
              </a:ext>
            </a:extLst>
          </p:cNvPr>
          <p:cNvSpPr>
            <a:spLocks xmlns:a="http://schemas.openxmlformats.org/drawingml/2006/main" noGrp="1"/>
          </p:cNvSpPr>
          <p:nvPr/>
        </p:nvSpPr>
        <p:spPr>
          <a:xfrm xmlns:a="http://schemas.openxmlformats.org/drawingml/2006/main">
            <a:off x="2524125" y="3000375"/>
            <a:ext cx="9001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5F7F9"/>
                </a:solidFill>
                <a:latin typeface="Helvetica Neue"/>
                <a:ea typeface="Helvetica Neue"/>
                <a:cs typeface="Helvetica Neue"/>
              </a:defRPr>
            </a:pPr>
            <a:r>
              <a:rPr sz="2325" b="0">
                <a:solidFill>
                  <a:srgbClr val="F5F7F9"/>
                </a:solidFill>
                <a:latin typeface="Helvetica Neue"/>
                <a:ea typeface="Helvetica Neue"/>
                <a:cs typeface="Helvetica Neue"/>
              </a:rPr>
              <a:t>Faqet dhe komponentët e aplikacionit</a:t>
            </a:r>
          </a:p>
        </p:txBody>
      </p:sp>
      <p:sp>
        <p:nvSpPr>
          <p:cNvPr id="7" name="">
            <a:extLst xmlns:a="http://schemas.openxmlformats.org/drawingml/2006/main">
              <a:ext uri="{FF2B5EF4-FFF2-40B4-BE49-F238E27FC236}">
                <a16:creationId xmlns:a16="http://schemas.microsoft.com/office/drawing/2014/main" id="{22223E44-AE3B-45CA-902F-5FDD62EA1A5D}"/>
              </a:ext>
            </a:extLst>
          </p:cNvPr>
          <p:cNvSpPr>
            <a:spLocks xmlns:a="http://schemas.openxmlformats.org/drawingml/2006/main" noGrp="1"/>
          </p:cNvSpPr>
          <p:nvPr/>
        </p:nvSpPr>
        <p:spPr>
          <a:xfrm xmlns:a="http://schemas.openxmlformats.org/drawingml/2006/main">
            <a:off x="609600" y="3905250"/>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DCEF2"/>
                </a:solidFill>
                <a:latin typeface="Helvetica Neue"/>
                <a:ea typeface="Helvetica Neue"/>
                <a:cs typeface="Helvetica Neue"/>
              </a:defRPr>
            </a:pPr>
            <a:r>
              <a:rPr sz="3000" b="1">
                <a:solidFill>
                  <a:srgbClr val="5DCEF2"/>
                </a:solidFill>
                <a:latin typeface="Helvetica Neue"/>
                <a:ea typeface="Helvetica Neue"/>
                <a:cs typeface="Helvetica Neue"/>
              </a:rPr>
              <a:t>4–5</a:t>
            </a:r>
          </a:p>
        </p:txBody>
      </p:sp>
      <p:sp>
        <p:nvSpPr>
          <p:cNvPr id="8" name="">
            <a:extLst xmlns:a="http://schemas.openxmlformats.org/drawingml/2006/main">
              <a:ext uri="{FF2B5EF4-FFF2-40B4-BE49-F238E27FC236}">
                <a16:creationId xmlns:a16="http://schemas.microsoft.com/office/drawing/2014/main" id="{084B1FF8-615E-49DB-857C-E9A5A35DD323}"/>
              </a:ext>
            </a:extLst>
          </p:cNvPr>
          <p:cNvSpPr>
            <a:spLocks xmlns:a="http://schemas.openxmlformats.org/drawingml/2006/main" noGrp="1"/>
          </p:cNvSpPr>
          <p:nvPr/>
        </p:nvSpPr>
        <p:spPr>
          <a:xfrm xmlns:a="http://schemas.openxmlformats.org/drawingml/2006/main">
            <a:off x="2524125" y="3905250"/>
            <a:ext cx="9001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5F7F9"/>
                </a:solidFill>
                <a:latin typeface="Helvetica Neue"/>
                <a:ea typeface="Helvetica Neue"/>
                <a:cs typeface="Helvetica Neue"/>
              </a:defRPr>
            </a:pPr>
            <a:r>
              <a:rPr sz="2325" b="0">
                <a:solidFill>
                  <a:srgbClr val="F5F7F9"/>
                </a:solidFill>
                <a:latin typeface="Helvetica Neue"/>
                <a:ea typeface="Helvetica Neue"/>
                <a:cs typeface="Helvetica Neue"/>
              </a:rPr>
              <a:t>Databaza, identiteti dhe lejet e qasjes</a:t>
            </a:r>
          </a:p>
        </p:txBody>
      </p:sp>
      <p:sp>
        <p:nvSpPr>
          <p:cNvPr id="9" name="">
            <a:extLst xmlns:a="http://schemas.openxmlformats.org/drawingml/2006/main">
              <a:ext uri="{FF2B5EF4-FFF2-40B4-BE49-F238E27FC236}">
                <a16:creationId xmlns:a16="http://schemas.microsoft.com/office/drawing/2014/main" id="{C43F2E8D-A3FA-48E1-93E0-6F87D04BF735}"/>
              </a:ext>
            </a:extLst>
          </p:cNvPr>
          <p:cNvSpPr>
            <a:spLocks xmlns:a="http://schemas.openxmlformats.org/drawingml/2006/main" noGrp="1"/>
          </p:cNvSpPr>
          <p:nvPr/>
        </p:nvSpPr>
        <p:spPr>
          <a:xfrm xmlns:a="http://schemas.openxmlformats.org/drawingml/2006/main">
            <a:off x="609600" y="4810125"/>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DCEF2"/>
                </a:solidFill>
                <a:latin typeface="Helvetica Neue"/>
                <a:ea typeface="Helvetica Neue"/>
                <a:cs typeface="Helvetica Neue"/>
              </a:defRPr>
            </a:pPr>
            <a:r>
              <a:rPr sz="3000" b="1">
                <a:solidFill>
                  <a:srgbClr val="5DCEF2"/>
                </a:solidFill>
                <a:latin typeface="Helvetica Neue"/>
                <a:ea typeface="Helvetica Neue"/>
                <a:cs typeface="Helvetica Neue"/>
              </a:rPr>
              <a:t>6–7</a:t>
            </a:r>
          </a:p>
        </p:txBody>
      </p:sp>
      <p:sp>
        <p:nvSpPr>
          <p:cNvPr id="10" name="">
            <a:extLst xmlns:a="http://schemas.openxmlformats.org/drawingml/2006/main">
              <a:ext uri="{FF2B5EF4-FFF2-40B4-BE49-F238E27FC236}">
                <a16:creationId xmlns:a16="http://schemas.microsoft.com/office/drawing/2014/main" id="{FD8A3006-B1F4-434E-BFEC-BD95F8B10206}"/>
              </a:ext>
            </a:extLst>
          </p:cNvPr>
          <p:cNvSpPr>
            <a:spLocks xmlns:a="http://schemas.openxmlformats.org/drawingml/2006/main" noGrp="1"/>
          </p:cNvSpPr>
          <p:nvPr/>
        </p:nvSpPr>
        <p:spPr>
          <a:xfrm xmlns:a="http://schemas.openxmlformats.org/drawingml/2006/main">
            <a:off x="2524125" y="4810125"/>
            <a:ext cx="9001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5F7F9"/>
                </a:solidFill>
                <a:latin typeface="Helvetica Neue"/>
                <a:ea typeface="Helvetica Neue"/>
                <a:cs typeface="Helvetica Neue"/>
              </a:defRPr>
            </a:pPr>
            <a:r>
              <a:rPr sz="2325" b="0">
                <a:solidFill>
                  <a:srgbClr val="F5F7F9"/>
                </a:solidFill>
                <a:latin typeface="Helvetica Neue"/>
                <a:ea typeface="Helvetica Neue"/>
                <a:cs typeface="Helvetica Neue"/>
              </a:rPr>
              <a:t>PWA, offline dhe demonstrimi i MVP-së</a:t>
            </a:r>
          </a:p>
        </p:txBody>
      </p:sp>
      <p:sp>
        <p:nvSpPr>
          <p:cNvPr id="11" name="">
            <a:extLst xmlns:a="http://schemas.openxmlformats.org/drawingml/2006/main">
              <a:ext uri="{FF2B5EF4-FFF2-40B4-BE49-F238E27FC236}">
                <a16:creationId xmlns:a16="http://schemas.microsoft.com/office/drawing/2014/main" id="{292D306A-383D-4A63-BF46-1120FD6B2F23}"/>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6C5CE"/>
                </a:solidFill>
                <a:latin typeface="Helvetica Neue"/>
                <a:ea typeface="Helvetica Neue"/>
                <a:cs typeface="Helvetica Neue"/>
              </a:defRPr>
            </a:pPr>
            <a:r>
              <a:rPr sz="1350" b="0">
                <a:solidFill>
                  <a:srgbClr val="B6C5CE"/>
                </a:solidFill>
                <a:latin typeface="Helvetica Neue"/>
                <a:ea typeface="Helvetica Neue"/>
                <a:cs typeface="Helvetica Neue"/>
              </a:rPr>
              <a:t>05</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62afa0df71354993"/>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725254468"/>
      </p:ext>
    </p:extLst>
  </p:cSld>
</p:sld>
</file>

<file path=ppt/slides/slide6.xml><?xml version="1.0" encoding="utf-8"?>
<p:sld xmlns:p="http://schemas.openxmlformats.org/presentationml/2006/main">
  <p:cSld>
    <p:bg>
      <p:bgPr>
        <a:solidFill xmlns:a="http://schemas.openxmlformats.org/drawingml/2006/main">
          <a:srgbClr val="0E171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74630AB-7FAD-4877-A742-D9C9C1D7BE97}"/>
              </a:ext>
            </a:extLst>
          </p:cNvPr>
          <p:cNvSpPr>
            <a:spLocks xmlns:a="http://schemas.openxmlformats.org/drawingml/2006/main" noGrp="1"/>
          </p:cNvSpPr>
          <p:nvPr/>
        </p:nvSpPr>
        <p:spPr>
          <a:xfrm xmlns:a="http://schemas.openxmlformats.org/drawingml/2006/main">
            <a:off x="609600" y="2857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5DCEF2"/>
                </a:solidFill>
                <a:latin typeface="Helvetica Neue"/>
                <a:ea typeface="Helvetica Neue"/>
                <a:cs typeface="Helvetica Neue"/>
              </a:defRPr>
            </a:pPr>
            <a:r>
              <a:rPr sz="1350" b="1">
                <a:solidFill>
                  <a:srgbClr val="5DCEF2"/>
                </a:solidFill>
                <a:latin typeface="Helvetica Neue"/>
                <a:ea typeface="Helvetica Neue"/>
                <a:cs typeface="Helvetica Neue"/>
              </a:rPr>
              <a:t>PROJEKTI SEMESTRAL</a:t>
            </a:r>
          </a:p>
        </p:txBody>
      </p:sp>
      <p:sp>
        <p:nvSpPr>
          <p:cNvPr id="2" name="">
            <a:extLst xmlns:a="http://schemas.openxmlformats.org/drawingml/2006/main">
              <a:ext uri="{FF2B5EF4-FFF2-40B4-BE49-F238E27FC236}">
                <a16:creationId xmlns:a16="http://schemas.microsoft.com/office/drawing/2014/main" id="{58AB357B-9F8C-4B66-AF79-0043658C0F29}"/>
              </a:ext>
            </a:extLst>
          </p:cNvPr>
          <p:cNvSpPr>
            <a:spLocks xmlns:a="http://schemas.openxmlformats.org/drawingml/2006/main" noGrp="1"/>
          </p:cNvSpPr>
          <p:nvPr/>
        </p:nvSpPr>
        <p:spPr>
          <a:xfrm xmlns:a="http://schemas.openxmlformats.org/drawingml/2006/main">
            <a:off x="609600" y="90487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5F7F9"/>
                </a:solidFill>
                <a:latin typeface="Helvetica Neue"/>
                <a:ea typeface="Helvetica Neue"/>
                <a:cs typeface="Helvetica Neue"/>
              </a:defRPr>
            </a:pPr>
            <a:r>
              <a:rPr sz="3600" b="1">
                <a:solidFill>
                  <a:srgbClr val="F5F7F9"/>
                </a:solidFill>
                <a:latin typeface="Helvetica Neue"/>
                <a:ea typeface="Helvetica Neue"/>
                <a:cs typeface="Helvetica Neue"/>
              </a:rPr>
              <a:t>Rruga e projektit: javët 8–15</a:t>
            </a:r>
          </a:p>
        </p:txBody>
      </p:sp>
      <p:sp>
        <p:nvSpPr>
          <p:cNvPr id="3" name="">
            <a:extLst xmlns:a="http://schemas.openxmlformats.org/drawingml/2006/main">
              <a:ext uri="{FF2B5EF4-FFF2-40B4-BE49-F238E27FC236}">
                <a16:creationId xmlns:a16="http://schemas.microsoft.com/office/drawing/2014/main" id="{069E1527-CA1A-43CD-B73E-52662B1308DF}"/>
              </a:ext>
            </a:extLst>
          </p:cNvPr>
          <p:cNvSpPr>
            <a:spLocks xmlns:a="http://schemas.openxmlformats.org/drawingml/2006/main" noGrp="1"/>
          </p:cNvSpPr>
          <p:nvPr/>
        </p:nvSpPr>
        <p:spPr>
          <a:xfrm xmlns:a="http://schemas.openxmlformats.org/drawingml/2006/main">
            <a:off x="609600" y="2095500"/>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DCEF2"/>
                </a:solidFill>
                <a:latin typeface="Helvetica Neue"/>
                <a:ea typeface="Helvetica Neue"/>
                <a:cs typeface="Helvetica Neue"/>
              </a:defRPr>
            </a:pPr>
            <a:r>
              <a:rPr sz="3000" b="1">
                <a:solidFill>
                  <a:srgbClr val="5DCEF2"/>
                </a:solidFill>
                <a:latin typeface="Helvetica Neue"/>
                <a:ea typeface="Helvetica Neue"/>
                <a:cs typeface="Helvetica Neue"/>
              </a:rPr>
              <a:t>8–9</a:t>
            </a:r>
          </a:p>
        </p:txBody>
      </p:sp>
      <p:sp>
        <p:nvSpPr>
          <p:cNvPr id="4" name="">
            <a:extLst xmlns:a="http://schemas.openxmlformats.org/drawingml/2006/main">
              <a:ext uri="{FF2B5EF4-FFF2-40B4-BE49-F238E27FC236}">
                <a16:creationId xmlns:a16="http://schemas.microsoft.com/office/drawing/2014/main" id="{28B768F6-1892-47EB-AD0A-E0D51086768B}"/>
              </a:ext>
            </a:extLst>
          </p:cNvPr>
          <p:cNvSpPr>
            <a:spLocks xmlns:a="http://schemas.openxmlformats.org/drawingml/2006/main" noGrp="1"/>
          </p:cNvSpPr>
          <p:nvPr/>
        </p:nvSpPr>
        <p:spPr>
          <a:xfrm xmlns:a="http://schemas.openxmlformats.org/drawingml/2006/main">
            <a:off x="2524125" y="2095500"/>
            <a:ext cx="9001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5F7F9"/>
                </a:solidFill>
                <a:latin typeface="Helvetica Neue"/>
                <a:ea typeface="Helvetica Neue"/>
                <a:cs typeface="Helvetica Neue"/>
              </a:defRPr>
            </a:pPr>
            <a:r>
              <a:rPr sz="2325" b="0">
                <a:solidFill>
                  <a:srgbClr val="F5F7F9"/>
                </a:solidFill>
                <a:latin typeface="Helvetica Neue"/>
                <a:ea typeface="Helvetica Neue"/>
                <a:cs typeface="Helvetica Neue"/>
              </a:rPr>
              <a:t>Device APIs dhe ndërfaqe që përgjigjet qartë</a:t>
            </a:r>
          </a:p>
        </p:txBody>
      </p:sp>
      <p:sp>
        <p:nvSpPr>
          <p:cNvPr id="5" name="">
            <a:extLst xmlns:a="http://schemas.openxmlformats.org/drawingml/2006/main">
              <a:ext uri="{FF2B5EF4-FFF2-40B4-BE49-F238E27FC236}">
                <a16:creationId xmlns:a16="http://schemas.microsoft.com/office/drawing/2014/main" id="{798C713F-78A1-4229-AB24-0666269465D8}"/>
              </a:ext>
            </a:extLst>
          </p:cNvPr>
          <p:cNvSpPr>
            <a:spLocks xmlns:a="http://schemas.openxmlformats.org/drawingml/2006/main" noGrp="1"/>
          </p:cNvSpPr>
          <p:nvPr/>
        </p:nvSpPr>
        <p:spPr>
          <a:xfrm xmlns:a="http://schemas.openxmlformats.org/drawingml/2006/main">
            <a:off x="609600" y="3000375"/>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DCEF2"/>
                </a:solidFill>
                <a:latin typeface="Helvetica Neue"/>
                <a:ea typeface="Helvetica Neue"/>
                <a:cs typeface="Helvetica Neue"/>
              </a:defRPr>
            </a:pPr>
            <a:r>
              <a:rPr sz="3000" b="1">
                <a:solidFill>
                  <a:srgbClr val="5DCEF2"/>
                </a:solidFill>
                <a:latin typeface="Helvetica Neue"/>
                <a:ea typeface="Helvetica Neue"/>
                <a:cs typeface="Helvetica Neue"/>
              </a:rPr>
              <a:t>10–11</a:t>
            </a:r>
          </a:p>
        </p:txBody>
      </p:sp>
      <p:sp>
        <p:nvSpPr>
          <p:cNvPr id="6" name="">
            <a:extLst xmlns:a="http://schemas.openxmlformats.org/drawingml/2006/main">
              <a:ext uri="{FF2B5EF4-FFF2-40B4-BE49-F238E27FC236}">
                <a16:creationId xmlns:a16="http://schemas.microsoft.com/office/drawing/2014/main" id="{8D6309A1-33FE-4B78-A667-642C09FDC95B}"/>
              </a:ext>
            </a:extLst>
          </p:cNvPr>
          <p:cNvSpPr>
            <a:spLocks xmlns:a="http://schemas.openxmlformats.org/drawingml/2006/main" noGrp="1"/>
          </p:cNvSpPr>
          <p:nvPr/>
        </p:nvSpPr>
        <p:spPr>
          <a:xfrm xmlns:a="http://schemas.openxmlformats.org/drawingml/2006/main">
            <a:off x="2524125" y="3000375"/>
            <a:ext cx="9001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5F7F9"/>
                </a:solidFill>
                <a:latin typeface="Helvetica Neue"/>
                <a:ea typeface="Helvetica Neue"/>
                <a:cs typeface="Helvetica Neue"/>
              </a:defRPr>
            </a:pPr>
            <a:r>
              <a:rPr sz="2325" b="0">
                <a:solidFill>
                  <a:srgbClr val="F5F7F9"/>
                </a:solidFill>
                <a:latin typeface="Helvetica Neue"/>
                <a:ea typeface="Helvetica Neue"/>
                <a:cs typeface="Helvetica Neue"/>
              </a:rPr>
              <a:t>Sinkronizim dhe njoftime kur kanë vlerë</a:t>
            </a:r>
          </a:p>
        </p:txBody>
      </p:sp>
      <p:sp>
        <p:nvSpPr>
          <p:cNvPr id="7" name="">
            <a:extLst xmlns:a="http://schemas.openxmlformats.org/drawingml/2006/main">
              <a:ext uri="{FF2B5EF4-FFF2-40B4-BE49-F238E27FC236}">
                <a16:creationId xmlns:a16="http://schemas.microsoft.com/office/drawing/2014/main" id="{CCBB7F06-FEE7-4A41-ADA0-EDD6127E72D9}"/>
              </a:ext>
            </a:extLst>
          </p:cNvPr>
          <p:cNvSpPr>
            <a:spLocks xmlns:a="http://schemas.openxmlformats.org/drawingml/2006/main" noGrp="1"/>
          </p:cNvSpPr>
          <p:nvPr/>
        </p:nvSpPr>
        <p:spPr>
          <a:xfrm xmlns:a="http://schemas.openxmlformats.org/drawingml/2006/main">
            <a:off x="609600" y="3905250"/>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DCEF2"/>
                </a:solidFill>
                <a:latin typeface="Helvetica Neue"/>
                <a:ea typeface="Helvetica Neue"/>
                <a:cs typeface="Helvetica Neue"/>
              </a:defRPr>
            </a:pPr>
            <a:r>
              <a:rPr sz="3000" b="1">
                <a:solidFill>
                  <a:srgbClr val="5DCEF2"/>
                </a:solidFill>
                <a:latin typeface="Helvetica Neue"/>
                <a:ea typeface="Helvetica Neue"/>
                <a:cs typeface="Helvetica Neue"/>
              </a:rPr>
              <a:t>12–14</a:t>
            </a:r>
          </a:p>
        </p:txBody>
      </p:sp>
      <p:sp>
        <p:nvSpPr>
          <p:cNvPr id="8" name="">
            <a:extLst xmlns:a="http://schemas.openxmlformats.org/drawingml/2006/main">
              <a:ext uri="{FF2B5EF4-FFF2-40B4-BE49-F238E27FC236}">
                <a16:creationId xmlns:a16="http://schemas.microsoft.com/office/drawing/2014/main" id="{18A1D75C-A618-440B-A757-8BBA533F370E}"/>
              </a:ext>
            </a:extLst>
          </p:cNvPr>
          <p:cNvSpPr>
            <a:spLocks xmlns:a="http://schemas.openxmlformats.org/drawingml/2006/main" noGrp="1"/>
          </p:cNvSpPr>
          <p:nvPr/>
        </p:nvSpPr>
        <p:spPr>
          <a:xfrm xmlns:a="http://schemas.openxmlformats.org/drawingml/2006/main">
            <a:off x="2524125" y="3905250"/>
            <a:ext cx="9001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5F7F9"/>
                </a:solidFill>
                <a:latin typeface="Helvetica Neue"/>
                <a:ea typeface="Helvetica Neue"/>
                <a:cs typeface="Helvetica Neue"/>
              </a:defRPr>
            </a:pPr>
            <a:r>
              <a:rPr sz="2325" b="0">
                <a:solidFill>
                  <a:srgbClr val="F5F7F9"/>
                </a:solidFill>
                <a:latin typeface="Helvetica Neue"/>
                <a:ea typeface="Helvetica Neue"/>
                <a:cs typeface="Helvetica Neue"/>
              </a:rPr>
              <a:t>Validim, siguri, performancë dhe teste</a:t>
            </a:r>
          </a:p>
        </p:txBody>
      </p:sp>
      <p:sp>
        <p:nvSpPr>
          <p:cNvPr id="9" name="">
            <a:extLst xmlns:a="http://schemas.openxmlformats.org/drawingml/2006/main">
              <a:ext uri="{FF2B5EF4-FFF2-40B4-BE49-F238E27FC236}">
                <a16:creationId xmlns:a16="http://schemas.microsoft.com/office/drawing/2014/main" id="{D6997E8E-A93D-431E-B594-3133CFDB0867}"/>
              </a:ext>
            </a:extLst>
          </p:cNvPr>
          <p:cNvSpPr>
            <a:spLocks xmlns:a="http://schemas.openxmlformats.org/drawingml/2006/main" noGrp="1"/>
          </p:cNvSpPr>
          <p:nvPr/>
        </p:nvSpPr>
        <p:spPr>
          <a:xfrm xmlns:a="http://schemas.openxmlformats.org/drawingml/2006/main">
            <a:off x="609600" y="4810125"/>
            <a:ext cx="171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DCEF2"/>
                </a:solidFill>
                <a:latin typeface="Helvetica Neue"/>
                <a:ea typeface="Helvetica Neue"/>
                <a:cs typeface="Helvetica Neue"/>
              </a:defRPr>
            </a:pPr>
            <a:r>
              <a:rPr sz="3000" b="1">
                <a:solidFill>
                  <a:srgbClr val="5DCEF2"/>
                </a:solidFill>
                <a:latin typeface="Helvetica Neue"/>
                <a:ea typeface="Helvetica Neue"/>
                <a:cs typeface="Helvetica Neue"/>
              </a:rPr>
              <a:t>15</a:t>
            </a:r>
          </a:p>
        </p:txBody>
      </p:sp>
      <p:sp>
        <p:nvSpPr>
          <p:cNvPr id="10" name="">
            <a:extLst xmlns:a="http://schemas.openxmlformats.org/drawingml/2006/main">
              <a:ext uri="{FF2B5EF4-FFF2-40B4-BE49-F238E27FC236}">
                <a16:creationId xmlns:a16="http://schemas.microsoft.com/office/drawing/2014/main" id="{689B757E-8A97-4B51-BCF9-518A53EFF1F2}"/>
              </a:ext>
            </a:extLst>
          </p:cNvPr>
          <p:cNvSpPr>
            <a:spLocks xmlns:a="http://schemas.openxmlformats.org/drawingml/2006/main" noGrp="1"/>
          </p:cNvSpPr>
          <p:nvPr/>
        </p:nvSpPr>
        <p:spPr>
          <a:xfrm xmlns:a="http://schemas.openxmlformats.org/drawingml/2006/main">
            <a:off x="2524125" y="4810125"/>
            <a:ext cx="9001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5F7F9"/>
                </a:solidFill>
                <a:latin typeface="Helvetica Neue"/>
                <a:ea typeface="Helvetica Neue"/>
                <a:cs typeface="Helvetica Neue"/>
              </a:defRPr>
            </a:pPr>
            <a:r>
              <a:rPr sz="2325" b="0">
                <a:solidFill>
                  <a:srgbClr val="F5F7F9"/>
                </a:solidFill>
                <a:latin typeface="Helvetica Neue"/>
                <a:ea typeface="Helvetica Neue"/>
                <a:cs typeface="Helvetica Neue"/>
              </a:rPr>
              <a:t>Demo në telefon dhe dorëzim te biznesi</a:t>
            </a:r>
          </a:p>
        </p:txBody>
      </p:sp>
      <p:sp>
        <p:nvSpPr>
          <p:cNvPr id="11" name="">
            <a:extLst xmlns:a="http://schemas.openxmlformats.org/drawingml/2006/main">
              <a:ext uri="{FF2B5EF4-FFF2-40B4-BE49-F238E27FC236}">
                <a16:creationId xmlns:a16="http://schemas.microsoft.com/office/drawing/2014/main" id="{2A498045-E2A6-4F98-B545-4DD7BBE4A551}"/>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6C5CE"/>
                </a:solidFill>
                <a:latin typeface="Helvetica Neue"/>
                <a:ea typeface="Helvetica Neue"/>
                <a:cs typeface="Helvetica Neue"/>
              </a:defRPr>
            </a:pPr>
            <a:r>
              <a:rPr sz="1350" b="0">
                <a:solidFill>
                  <a:srgbClr val="B6C5CE"/>
                </a:solidFill>
                <a:latin typeface="Helvetica Neue"/>
                <a:ea typeface="Helvetica Neue"/>
                <a:cs typeface="Helvetica Neue"/>
              </a:rPr>
              <a:t>06</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c65f15f84fce44f1"/>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113285848"/>
      </p:ext>
    </p:extLst>
  </p:cSld>
</p:sld>
</file>

<file path=ppt/slides/slide7.xml><?xml version="1.0" encoding="utf-8"?>
<p:sld xmlns:p="http://schemas.openxmlformats.org/presentationml/2006/main">
  <p:cSld>
    <p:bg>
      <p:bgPr>
        <a:solidFill xmlns:a="http://schemas.openxmlformats.org/drawingml/2006/main">
          <a:srgbClr val="0E171E"/>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0A61311-A079-4F47-B7C0-3B10409425F0}"/>
              </a:ext>
            </a:extLst>
          </p:cNvPr>
          <p:cNvSpPr>
            <a:spLocks xmlns:a="http://schemas.openxmlformats.org/drawingml/2006/main" noGrp="1"/>
          </p:cNvSpPr>
          <p:nvPr/>
        </p:nvSpPr>
        <p:spPr>
          <a:xfrm xmlns:a="http://schemas.openxmlformats.org/drawingml/2006/main">
            <a:off x="609600" y="2857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5DCEF2"/>
                </a:solidFill>
                <a:latin typeface="Helvetica Neue"/>
                <a:ea typeface="Helvetica Neue"/>
                <a:cs typeface="Helvetica Neue"/>
              </a:defRPr>
            </a:pPr>
            <a:r>
              <a:rPr sz="1350" b="1">
                <a:solidFill>
                  <a:srgbClr val="5DCEF2"/>
                </a:solidFill>
                <a:latin typeface="Helvetica Neue"/>
                <a:ea typeface="Helvetica Neue"/>
                <a:cs typeface="Helvetica Neue"/>
              </a:rPr>
              <a:t>PROJEKTI SEMESTRAL</a:t>
            </a:r>
          </a:p>
        </p:txBody>
      </p:sp>
      <p:sp>
        <p:nvSpPr>
          <p:cNvPr id="2" name="">
            <a:extLst xmlns:a="http://schemas.openxmlformats.org/drawingml/2006/main">
              <a:ext uri="{FF2B5EF4-FFF2-40B4-BE49-F238E27FC236}">
                <a16:creationId xmlns:a16="http://schemas.microsoft.com/office/drawing/2014/main" id="{1456E643-3BD6-498A-905D-53B350B89C03}"/>
              </a:ext>
            </a:extLst>
          </p:cNvPr>
          <p:cNvSpPr>
            <a:spLocks xmlns:a="http://schemas.openxmlformats.org/drawingml/2006/main" noGrp="1"/>
          </p:cNvSpPr>
          <p:nvPr/>
        </p:nvSpPr>
        <p:spPr>
          <a:xfrm xmlns:a="http://schemas.openxmlformats.org/drawingml/2006/main">
            <a:off x="609600" y="90487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5F7F9"/>
                </a:solidFill>
                <a:latin typeface="Helvetica Neue"/>
                <a:ea typeface="Helvetica Neue"/>
                <a:cs typeface="Helvetica Neue"/>
              </a:defRPr>
            </a:pPr>
            <a:r>
              <a:rPr sz="3600" b="1">
                <a:solidFill>
                  <a:srgbClr val="F5F7F9"/>
                </a:solidFill>
                <a:latin typeface="Helvetica Neue"/>
                <a:ea typeface="Helvetica Neue"/>
                <a:cs typeface="Helvetica Neue"/>
              </a:rPr>
              <a:t>Si zhvillohen ushtrimet</a:t>
            </a:r>
          </a:p>
        </p:txBody>
      </p:sp>
      <p:sp>
        <p:nvSpPr>
          <p:cNvPr id="3" name="">
            <a:extLst xmlns:a="http://schemas.openxmlformats.org/drawingml/2006/main">
              <a:ext uri="{FF2B5EF4-FFF2-40B4-BE49-F238E27FC236}">
                <a16:creationId xmlns:a16="http://schemas.microsoft.com/office/drawing/2014/main" id="{1080EEEB-0F80-4B01-BAD8-96839660ED89}"/>
              </a:ext>
            </a:extLst>
          </p:cNvPr>
          <p:cNvSpPr>
            <a:spLocks xmlns:a="http://schemas.openxmlformats.org/drawingml/2006/main" noGrp="1"/>
          </p:cNvSpPr>
          <p:nvPr/>
        </p:nvSpPr>
        <p:spPr>
          <a:xfrm xmlns:a="http://schemas.openxmlformats.org/drawingml/2006/main">
            <a:off x="609600" y="2000250"/>
            <a:ext cx="1809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DCEF2"/>
                </a:solidFill>
                <a:latin typeface="Helvetica Neue"/>
                <a:ea typeface="Helvetica Neue"/>
                <a:cs typeface="Helvetica Neue"/>
              </a:defRPr>
            </a:pPr>
            <a:r>
              <a:rPr sz="3000" b="1">
                <a:solidFill>
                  <a:srgbClr val="5DCEF2"/>
                </a:solidFill>
                <a:latin typeface="Helvetica Neue"/>
                <a:ea typeface="Helvetica Neue"/>
                <a:cs typeface="Helvetica Neue"/>
              </a:rPr>
              <a:t>15%</a:t>
            </a:r>
          </a:p>
        </p:txBody>
      </p:sp>
      <p:sp>
        <p:nvSpPr>
          <p:cNvPr id="4" name="">
            <a:extLst xmlns:a="http://schemas.openxmlformats.org/drawingml/2006/main">
              <a:ext uri="{FF2B5EF4-FFF2-40B4-BE49-F238E27FC236}">
                <a16:creationId xmlns:a16="http://schemas.microsoft.com/office/drawing/2014/main" id="{6DEA3012-05C0-4222-8E59-F6F48AB41187}"/>
              </a:ext>
            </a:extLst>
          </p:cNvPr>
          <p:cNvSpPr>
            <a:spLocks xmlns:a="http://schemas.openxmlformats.org/drawingml/2006/main" noGrp="1"/>
          </p:cNvSpPr>
          <p:nvPr/>
        </p:nvSpPr>
        <p:spPr>
          <a:xfrm xmlns:a="http://schemas.openxmlformats.org/drawingml/2006/main">
            <a:off x="2762250" y="2000250"/>
            <a:ext cx="8667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5F7F9"/>
                </a:solidFill>
                <a:latin typeface="Helvetica Neue"/>
                <a:ea typeface="Helvetica Neue"/>
                <a:cs typeface="Helvetica Neue"/>
              </a:defRPr>
            </a:pPr>
            <a:r>
              <a:rPr sz="2400" b="0">
                <a:solidFill>
                  <a:srgbClr val="F5F7F9"/>
                </a:solidFill>
                <a:latin typeface="Helvetica Neue"/>
                <a:ea typeface="Helvetica Neue"/>
                <a:cs typeface="Helvetica Neue"/>
              </a:rPr>
              <a:t>Demonstrim dhe kriteret e ushtrimit</a:t>
            </a:r>
          </a:p>
        </p:txBody>
      </p:sp>
      <p:sp>
        <p:nvSpPr>
          <p:cNvPr id="5" name="">
            <a:extLst xmlns:a="http://schemas.openxmlformats.org/drawingml/2006/main">
              <a:ext uri="{FF2B5EF4-FFF2-40B4-BE49-F238E27FC236}">
                <a16:creationId xmlns:a16="http://schemas.microsoft.com/office/drawing/2014/main" id="{90C66954-F563-44D4-B2A3-2B2634418A37}"/>
              </a:ext>
            </a:extLst>
          </p:cNvPr>
          <p:cNvSpPr>
            <a:spLocks xmlns:a="http://schemas.openxmlformats.org/drawingml/2006/main" noGrp="1"/>
          </p:cNvSpPr>
          <p:nvPr/>
        </p:nvSpPr>
        <p:spPr>
          <a:xfrm xmlns:a="http://schemas.openxmlformats.org/drawingml/2006/main">
            <a:off x="609600" y="2857500"/>
            <a:ext cx="1809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DCEF2"/>
                </a:solidFill>
                <a:latin typeface="Helvetica Neue"/>
                <a:ea typeface="Helvetica Neue"/>
                <a:cs typeface="Helvetica Neue"/>
              </a:defRPr>
            </a:pPr>
            <a:r>
              <a:rPr sz="3000" b="1">
                <a:solidFill>
                  <a:srgbClr val="5DCEF2"/>
                </a:solidFill>
                <a:latin typeface="Helvetica Neue"/>
                <a:ea typeface="Helvetica Neue"/>
                <a:cs typeface="Helvetica Neue"/>
              </a:rPr>
              <a:t>55%</a:t>
            </a:r>
          </a:p>
        </p:txBody>
      </p:sp>
      <p:sp>
        <p:nvSpPr>
          <p:cNvPr id="6" name="">
            <a:extLst xmlns:a="http://schemas.openxmlformats.org/drawingml/2006/main">
              <a:ext uri="{FF2B5EF4-FFF2-40B4-BE49-F238E27FC236}">
                <a16:creationId xmlns:a16="http://schemas.microsoft.com/office/drawing/2014/main" id="{804DE99C-E753-435B-B7FC-5B49632AB39D}"/>
              </a:ext>
            </a:extLst>
          </p:cNvPr>
          <p:cNvSpPr>
            <a:spLocks xmlns:a="http://schemas.openxmlformats.org/drawingml/2006/main" noGrp="1"/>
          </p:cNvSpPr>
          <p:nvPr/>
        </p:nvSpPr>
        <p:spPr>
          <a:xfrm xmlns:a="http://schemas.openxmlformats.org/drawingml/2006/main">
            <a:off x="2762250" y="2857500"/>
            <a:ext cx="8667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5F7F9"/>
                </a:solidFill>
                <a:latin typeface="Helvetica Neue"/>
                <a:ea typeface="Helvetica Neue"/>
                <a:cs typeface="Helvetica Neue"/>
              </a:defRPr>
            </a:pPr>
            <a:r>
              <a:rPr sz="2400" b="0">
                <a:solidFill>
                  <a:srgbClr val="F5F7F9"/>
                </a:solidFill>
                <a:latin typeface="Helvetica Neue"/>
                <a:ea typeface="Helvetica Neue"/>
                <a:cs typeface="Helvetica Neue"/>
              </a:rPr>
              <a:t>Zbatim në aplikacionin tuaj</a:t>
            </a:r>
          </a:p>
        </p:txBody>
      </p:sp>
      <p:sp>
        <p:nvSpPr>
          <p:cNvPr id="7" name="">
            <a:extLst xmlns:a="http://schemas.openxmlformats.org/drawingml/2006/main">
              <a:ext uri="{FF2B5EF4-FFF2-40B4-BE49-F238E27FC236}">
                <a16:creationId xmlns:a16="http://schemas.microsoft.com/office/drawing/2014/main" id="{6C8A2504-023A-4371-9AD2-2B52F2AD930C}"/>
              </a:ext>
            </a:extLst>
          </p:cNvPr>
          <p:cNvSpPr>
            <a:spLocks xmlns:a="http://schemas.openxmlformats.org/drawingml/2006/main" noGrp="1"/>
          </p:cNvSpPr>
          <p:nvPr/>
        </p:nvSpPr>
        <p:spPr>
          <a:xfrm xmlns:a="http://schemas.openxmlformats.org/drawingml/2006/main">
            <a:off x="609600" y="3714750"/>
            <a:ext cx="1809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DCEF2"/>
                </a:solidFill>
                <a:latin typeface="Helvetica Neue"/>
                <a:ea typeface="Helvetica Neue"/>
                <a:cs typeface="Helvetica Neue"/>
              </a:defRPr>
            </a:pPr>
            <a:r>
              <a:rPr sz="3000" b="1">
                <a:solidFill>
                  <a:srgbClr val="5DCEF2"/>
                </a:solidFill>
                <a:latin typeface="Helvetica Neue"/>
                <a:ea typeface="Helvetica Neue"/>
                <a:cs typeface="Helvetica Neue"/>
              </a:rPr>
              <a:t>20%</a:t>
            </a:r>
          </a:p>
        </p:txBody>
      </p:sp>
      <p:sp>
        <p:nvSpPr>
          <p:cNvPr id="8" name="">
            <a:extLst xmlns:a="http://schemas.openxmlformats.org/drawingml/2006/main">
              <a:ext uri="{FF2B5EF4-FFF2-40B4-BE49-F238E27FC236}">
                <a16:creationId xmlns:a16="http://schemas.microsoft.com/office/drawing/2014/main" id="{DE31801D-2555-4BA7-BCCF-137269250CC7}"/>
              </a:ext>
            </a:extLst>
          </p:cNvPr>
          <p:cNvSpPr>
            <a:spLocks xmlns:a="http://schemas.openxmlformats.org/drawingml/2006/main" noGrp="1"/>
          </p:cNvSpPr>
          <p:nvPr/>
        </p:nvSpPr>
        <p:spPr>
          <a:xfrm xmlns:a="http://schemas.openxmlformats.org/drawingml/2006/main">
            <a:off x="2762250" y="3714750"/>
            <a:ext cx="8667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5F7F9"/>
                </a:solidFill>
                <a:latin typeface="Helvetica Neue"/>
                <a:ea typeface="Helvetica Neue"/>
                <a:cs typeface="Helvetica Neue"/>
              </a:defRPr>
            </a:pPr>
            <a:r>
              <a:rPr sz="2400" b="0">
                <a:solidFill>
                  <a:srgbClr val="F5F7F9"/>
                </a:solidFill>
                <a:latin typeface="Helvetica Neue"/>
                <a:ea typeface="Helvetica Neue"/>
                <a:cs typeface="Helvetica Neue"/>
              </a:rPr>
              <a:t>Teste dhe provë në telefon</a:t>
            </a:r>
          </a:p>
        </p:txBody>
      </p:sp>
      <p:sp>
        <p:nvSpPr>
          <p:cNvPr id="9" name="">
            <a:extLst xmlns:a="http://schemas.openxmlformats.org/drawingml/2006/main">
              <a:ext uri="{FF2B5EF4-FFF2-40B4-BE49-F238E27FC236}">
                <a16:creationId xmlns:a16="http://schemas.microsoft.com/office/drawing/2014/main" id="{34C5C3A1-2A05-4191-9074-5246B42702F5}"/>
              </a:ext>
            </a:extLst>
          </p:cNvPr>
          <p:cNvSpPr>
            <a:spLocks xmlns:a="http://schemas.openxmlformats.org/drawingml/2006/main" noGrp="1"/>
          </p:cNvSpPr>
          <p:nvPr/>
        </p:nvSpPr>
        <p:spPr>
          <a:xfrm xmlns:a="http://schemas.openxmlformats.org/drawingml/2006/main">
            <a:off x="609600" y="4572000"/>
            <a:ext cx="1809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5DCEF2"/>
                </a:solidFill>
                <a:latin typeface="Helvetica Neue"/>
                <a:ea typeface="Helvetica Neue"/>
                <a:cs typeface="Helvetica Neue"/>
              </a:defRPr>
            </a:pPr>
            <a:r>
              <a:rPr sz="3000" b="1">
                <a:solidFill>
                  <a:srgbClr val="5DCEF2"/>
                </a:solidFill>
                <a:latin typeface="Helvetica Neue"/>
                <a:ea typeface="Helvetica Neue"/>
                <a:cs typeface="Helvetica Neue"/>
              </a:rPr>
              <a:t>10%</a:t>
            </a:r>
          </a:p>
        </p:txBody>
      </p:sp>
      <p:sp>
        <p:nvSpPr>
          <p:cNvPr id="10" name="">
            <a:extLst xmlns:a="http://schemas.openxmlformats.org/drawingml/2006/main">
              <a:ext uri="{FF2B5EF4-FFF2-40B4-BE49-F238E27FC236}">
                <a16:creationId xmlns:a16="http://schemas.microsoft.com/office/drawing/2014/main" id="{C2A9D3C6-53D0-4B02-926F-5852D9098B86}"/>
              </a:ext>
            </a:extLst>
          </p:cNvPr>
          <p:cNvSpPr>
            <a:spLocks xmlns:a="http://schemas.openxmlformats.org/drawingml/2006/main" noGrp="1"/>
          </p:cNvSpPr>
          <p:nvPr/>
        </p:nvSpPr>
        <p:spPr>
          <a:xfrm xmlns:a="http://schemas.openxmlformats.org/drawingml/2006/main">
            <a:off x="2762250" y="4572000"/>
            <a:ext cx="8667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5F7F9"/>
                </a:solidFill>
                <a:latin typeface="Helvetica Neue"/>
                <a:ea typeface="Helvetica Neue"/>
                <a:cs typeface="Helvetica Neue"/>
              </a:defRPr>
            </a:pPr>
            <a:r>
              <a:rPr sz="2400" b="0">
                <a:solidFill>
                  <a:srgbClr val="F5F7F9"/>
                </a:solidFill>
                <a:latin typeface="Helvetica Neue"/>
                <a:ea typeface="Helvetica Neue"/>
                <a:cs typeface="Helvetica Neue"/>
              </a:rPr>
              <a:t>Commit, dorëzim dhe reflektim</a:t>
            </a:r>
          </a:p>
        </p:txBody>
      </p:sp>
      <p:sp>
        <p:nvSpPr>
          <p:cNvPr id="11" name="">
            <a:extLst xmlns:a="http://schemas.openxmlformats.org/drawingml/2006/main">
              <a:ext uri="{FF2B5EF4-FFF2-40B4-BE49-F238E27FC236}">
                <a16:creationId xmlns:a16="http://schemas.microsoft.com/office/drawing/2014/main" id="{5F8D63DA-554E-4557-A1B6-DD0993850FD6}"/>
              </a:ext>
            </a:extLst>
          </p:cNvPr>
          <p:cNvSpPr>
            <a:spLocks xmlns:a="http://schemas.openxmlformats.org/drawingml/2006/main" noGrp="1"/>
          </p:cNvSpPr>
          <p:nvPr/>
        </p:nvSpPr>
        <p:spPr>
          <a:xfrm xmlns:a="http://schemas.openxmlformats.org/drawingml/2006/main">
            <a:off x="609600" y="59531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B6C5CE"/>
                </a:solidFill>
                <a:latin typeface="Helvetica Neue"/>
                <a:ea typeface="Helvetica Neue"/>
                <a:cs typeface="Helvetica Neue"/>
              </a:defRPr>
            </a:pPr>
            <a:r>
              <a:rPr sz="2100" b="0">
                <a:solidFill>
                  <a:srgbClr val="B6C5CE"/>
                </a:solidFill>
                <a:latin typeface="Helvetica Neue"/>
                <a:ea typeface="Helvetica Neue"/>
                <a:cs typeface="Helvetica Neue"/>
              </a:rPr>
              <a:t>I njëjti repository gjatë gjithë semestrit</a:t>
            </a:r>
          </a:p>
        </p:txBody>
      </p:sp>
      <p:sp>
        <p:nvSpPr>
          <p:cNvPr id="12" name="">
            <a:extLst xmlns:a="http://schemas.openxmlformats.org/drawingml/2006/main">
              <a:ext uri="{FF2B5EF4-FFF2-40B4-BE49-F238E27FC236}">
                <a16:creationId xmlns:a16="http://schemas.microsoft.com/office/drawing/2014/main" id="{4E49FF68-9F8D-4F75-86BA-486AE0F2605B}"/>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6C5CE"/>
                </a:solidFill>
                <a:latin typeface="Helvetica Neue"/>
                <a:ea typeface="Helvetica Neue"/>
                <a:cs typeface="Helvetica Neue"/>
              </a:defRPr>
            </a:pPr>
            <a:r>
              <a:rPr sz="1350" b="0">
                <a:solidFill>
                  <a:srgbClr val="B6C5CE"/>
                </a:solidFill>
                <a:latin typeface="Helvetica Neue"/>
                <a:ea typeface="Helvetica Neue"/>
                <a:cs typeface="Helvetica Neue"/>
              </a:rPr>
              <a:t>07</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8d13fb93b974a77"/>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633636879"/>
      </p:ext>
    </p:extLst>
  </p:cSld>
</p:sld>
</file>

<file path=ppt/slides/slide8.xml><?xml version="1.0" encoding="utf-8"?>
<p:sld xmlns:p="http://schemas.openxmlformats.org/presentationml/2006/main">
  <p:cSld>
    <p:bg>
      <p:bgPr>
        <a:solidFill xmlns:a="http://schemas.openxmlformats.org/drawingml/2006/main">
          <a:srgbClr val="0E171E"/>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0B61B5F-E914-4B34-AF5A-CEDA49D13169}"/>
              </a:ext>
            </a:extLst>
          </p:cNvPr>
          <p:cNvSpPr>
            <a:spLocks xmlns:a="http://schemas.openxmlformats.org/drawingml/2006/main" noGrp="1"/>
          </p:cNvSpPr>
          <p:nvPr/>
        </p:nvSpPr>
        <p:spPr>
          <a:xfrm xmlns:a="http://schemas.openxmlformats.org/drawingml/2006/main">
            <a:off x="609600" y="2857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5DCEF2"/>
                </a:solidFill>
                <a:latin typeface="Helvetica Neue"/>
                <a:ea typeface="Helvetica Neue"/>
                <a:cs typeface="Helvetica Neue"/>
              </a:defRPr>
            </a:pPr>
            <a:r>
              <a:rPr sz="1350" b="1">
                <a:solidFill>
                  <a:srgbClr val="5DCEF2"/>
                </a:solidFill>
                <a:latin typeface="Helvetica Neue"/>
                <a:ea typeface="Helvetica Neue"/>
                <a:cs typeface="Helvetica Neue"/>
              </a:rPr>
              <a:t>PROJEKTI SEMESTRAL</a:t>
            </a:r>
          </a:p>
        </p:txBody>
      </p:sp>
      <p:sp>
        <p:nvSpPr>
          <p:cNvPr id="2" name="">
            <a:extLst xmlns:a="http://schemas.openxmlformats.org/drawingml/2006/main">
              <a:ext uri="{FF2B5EF4-FFF2-40B4-BE49-F238E27FC236}">
                <a16:creationId xmlns:a16="http://schemas.microsoft.com/office/drawing/2014/main" id="{44331614-7995-4A4B-A537-A4EBFADBCF7F}"/>
              </a:ext>
            </a:extLst>
          </p:cNvPr>
          <p:cNvSpPr>
            <a:spLocks xmlns:a="http://schemas.openxmlformats.org/drawingml/2006/main" noGrp="1"/>
          </p:cNvSpPr>
          <p:nvPr/>
        </p:nvSpPr>
        <p:spPr>
          <a:xfrm xmlns:a="http://schemas.openxmlformats.org/drawingml/2006/main">
            <a:off x="609600" y="90487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5F7F9"/>
                </a:solidFill>
                <a:latin typeface="Helvetica Neue"/>
                <a:ea typeface="Helvetica Neue"/>
                <a:cs typeface="Helvetica Neue"/>
              </a:defRPr>
            </a:pPr>
            <a:r>
              <a:rPr sz="3600" b="1">
                <a:solidFill>
                  <a:srgbClr val="F5F7F9"/>
                </a:solidFill>
                <a:latin typeface="Helvetica Neue"/>
                <a:ea typeface="Helvetica Neue"/>
                <a:cs typeface="Helvetica Neue"/>
              </a:rPr>
              <a:t>Dorëzimi javor dhe pikët</a:t>
            </a:r>
          </a:p>
        </p:txBody>
      </p:sp>
      <p:sp>
        <p:nvSpPr>
          <p:cNvPr id="3" name="">
            <a:extLst xmlns:a="http://schemas.openxmlformats.org/drawingml/2006/main">
              <a:ext uri="{FF2B5EF4-FFF2-40B4-BE49-F238E27FC236}">
                <a16:creationId xmlns:a16="http://schemas.microsoft.com/office/drawing/2014/main" id="{AA235A78-D968-46F1-BA01-783996D35A9C}"/>
              </a:ext>
            </a:extLst>
          </p:cNvPr>
          <p:cNvSpPr>
            <a:spLocks xmlns:a="http://schemas.openxmlformats.org/drawingml/2006/main" noGrp="1"/>
          </p:cNvSpPr>
          <p:nvPr/>
        </p:nvSpPr>
        <p:spPr>
          <a:xfrm xmlns:a="http://schemas.openxmlformats.org/drawingml/2006/main">
            <a:off x="609600" y="21145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1">
                <a:solidFill>
                  <a:srgbClr val="5DCEF2"/>
                </a:solidFill>
                <a:latin typeface="Helvetica Neue"/>
                <a:ea typeface="Helvetica Neue"/>
                <a:cs typeface="Helvetica Neue"/>
              </a:defRPr>
            </a:pPr>
            <a:r>
              <a:rPr sz="4800" b="1">
                <a:solidFill>
                  <a:srgbClr val="5DCEF2"/>
                </a:solidFill>
                <a:latin typeface="Helvetica Neue"/>
                <a:ea typeface="Helvetica Neue"/>
                <a:cs typeface="Helvetica Neue"/>
              </a:rPr>
              <a:t>10 × 3 = 30 pikë</a:t>
            </a:r>
          </a:p>
        </p:txBody>
      </p:sp>
      <p:sp>
        <p:nvSpPr>
          <p:cNvPr id="4" name="">
            <a:extLst xmlns:a="http://schemas.openxmlformats.org/drawingml/2006/main">
              <a:ext uri="{FF2B5EF4-FFF2-40B4-BE49-F238E27FC236}">
                <a16:creationId xmlns:a16="http://schemas.microsoft.com/office/drawing/2014/main" id="{6AF34341-8383-4A01-B54D-4741F2DAC046}"/>
              </a:ext>
            </a:extLst>
          </p:cNvPr>
          <p:cNvSpPr>
            <a:spLocks xmlns:a="http://schemas.openxmlformats.org/drawingml/2006/main" noGrp="1"/>
          </p:cNvSpPr>
          <p:nvPr/>
        </p:nvSpPr>
        <p:spPr>
          <a:xfrm xmlns:a="http://schemas.openxmlformats.org/drawingml/2006/main">
            <a:off x="609600" y="3333750"/>
            <a:ext cx="108585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5F7F9"/>
                </a:solidFill>
                <a:latin typeface="Helvetica Neue"/>
                <a:ea typeface="Helvetica Neue"/>
                <a:cs typeface="Helvetica Neue"/>
              </a:defRPr>
            </a:pPr>
            <a:r>
              <a:rPr sz="2325" b="0">
                <a:solidFill>
                  <a:srgbClr val="F5F7F9"/>
                </a:solidFill>
                <a:latin typeface="Helvetica Neue"/>
                <a:ea typeface="Helvetica Neue"/>
                <a:cs typeface="Helvetica Neue"/>
              </a:rPr>
              <a:t>Çdo dorëzim: commit i saktë dhe prova testimi.</a:t>
            </a:r>
          </a:p>
          <a:p xmlns:a="http://schemas.openxmlformats.org/drawingml/2006/main">
            <a:pPr>
              <a:defRPr sz="2325" b="0">
                <a:solidFill>
                  <a:srgbClr val="F5F7F9"/>
                </a:solidFill>
                <a:latin typeface="Helvetica Neue"/>
                <a:ea typeface="Helvetica Neue"/>
                <a:cs typeface="Helvetica Neue"/>
              </a:defRPr>
            </a:pPr>
            <a:r>
              <a:rPr sz="2325" b="0">
                <a:solidFill>
                  <a:srgbClr val="F5F7F9"/>
                </a:solidFill>
                <a:latin typeface="Helvetica Neue"/>
                <a:ea typeface="Helvetica Neue"/>
                <a:cs typeface="Helvetica Neue"/>
              </a:rPr>
              <a:t>Çdo javë: rezultatet e publikuara dhe totali personal.</a:t>
            </a:r>
          </a:p>
          <a:p xmlns:a="http://schemas.openxmlformats.org/drawingml/2006/main">
            <a:pPr>
              <a:defRPr sz="2325" b="0">
                <a:solidFill>
                  <a:srgbClr val="F5F7F9"/>
                </a:solidFill>
                <a:latin typeface="Helvetica Neue"/>
                <a:ea typeface="Helvetica Neue"/>
                <a:cs typeface="Helvetica Neue"/>
              </a:defRPr>
            </a:pPr>
            <a:r>
              <a:rPr sz="2325" b="0">
                <a:solidFill>
                  <a:srgbClr val="F5F7F9"/>
                </a:solidFill>
                <a:latin typeface="Helvetica Neue"/>
                <a:ea typeface="Helvetica Neue"/>
                <a:cs typeface="Helvetica Neue"/>
              </a:rPr>
              <a:t>Gabim teknik i shërbimit: rezultat në pritje.</a:t>
            </a:r>
          </a:p>
        </p:txBody>
      </p:sp>
      <p:sp>
        <p:nvSpPr>
          <p:cNvPr id="5" name="">
            <a:extLst xmlns:a="http://schemas.openxmlformats.org/drawingml/2006/main">
              <a:ext uri="{FF2B5EF4-FFF2-40B4-BE49-F238E27FC236}">
                <a16:creationId xmlns:a16="http://schemas.microsoft.com/office/drawing/2014/main" id="{6A2D7C64-AD4B-4DAC-8774-15195D71E44E}"/>
              </a:ext>
            </a:extLst>
          </p:cNvPr>
          <p:cNvSpPr>
            <a:spLocks xmlns:a="http://schemas.openxmlformats.org/drawingml/2006/main" noGrp="1"/>
          </p:cNvSpPr>
          <p:nvPr/>
        </p:nvSpPr>
        <p:spPr>
          <a:xfrm xmlns:a="http://schemas.openxmlformats.org/drawingml/2006/main">
            <a:off x="609600" y="5953125"/>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B6C5CE"/>
                </a:solidFill>
                <a:latin typeface="Helvetica Neue"/>
                <a:ea typeface="Helvetica Neue"/>
                <a:cs typeface="Helvetica Neue"/>
              </a:defRPr>
            </a:pPr>
            <a:r>
              <a:rPr sz="2100" b="0">
                <a:solidFill>
                  <a:srgbClr val="B6C5CE"/>
                </a:solidFill>
                <a:latin typeface="Helvetica Neue"/>
                <a:ea typeface="Helvetica Neue"/>
                <a:cs typeface="Helvetica Neue"/>
              </a:rPr>
              <a:t>Rubrika paraprake. Mundësi për korrigjim dhe sqarim.</a:t>
            </a:r>
          </a:p>
        </p:txBody>
      </p:sp>
      <p:sp>
        <p:nvSpPr>
          <p:cNvPr id="6" name="">
            <a:extLst xmlns:a="http://schemas.openxmlformats.org/drawingml/2006/main">
              <a:ext uri="{FF2B5EF4-FFF2-40B4-BE49-F238E27FC236}">
                <a16:creationId xmlns:a16="http://schemas.microsoft.com/office/drawing/2014/main" id="{1BB582B8-23E9-47E2-8B28-5CBFC7F8B243}"/>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6C5CE"/>
                </a:solidFill>
                <a:latin typeface="Helvetica Neue"/>
                <a:ea typeface="Helvetica Neue"/>
                <a:cs typeface="Helvetica Neue"/>
              </a:defRPr>
            </a:pPr>
            <a:r>
              <a:rPr sz="1350" b="0">
                <a:solidFill>
                  <a:srgbClr val="B6C5CE"/>
                </a:solidFill>
                <a:latin typeface="Helvetica Neue"/>
                <a:ea typeface="Helvetica Neue"/>
                <a:cs typeface="Helvetica Neue"/>
              </a:rPr>
              <a:t>08</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13cc01891e84e22"/>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36056386"/>
      </p:ext>
    </p:extLst>
  </p:cSld>
</p:sld>
</file>

<file path=ppt/slides/slide9.xml><?xml version="1.0" encoding="utf-8"?>
<p:sld xmlns:p="http://schemas.openxmlformats.org/presentationml/2006/main">
  <p:cSld>
    <p:bg>
      <p:bgPr>
        <a:solidFill xmlns:a="http://schemas.openxmlformats.org/drawingml/2006/main">
          <a:srgbClr val="0E171E"/>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7E96E8-80EE-4664-AAEC-0F988DF294E5}"/>
              </a:ext>
            </a:extLst>
          </p:cNvPr>
          <p:cNvSpPr>
            <a:spLocks xmlns:a="http://schemas.openxmlformats.org/drawingml/2006/main" noGrp="1"/>
          </p:cNvSpPr>
          <p:nvPr/>
        </p:nvSpPr>
        <p:spPr>
          <a:xfrm xmlns:a="http://schemas.openxmlformats.org/drawingml/2006/main">
            <a:off x="609600" y="2857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5DCEF2"/>
                </a:solidFill>
                <a:latin typeface="Helvetica Neue"/>
                <a:ea typeface="Helvetica Neue"/>
                <a:cs typeface="Helvetica Neue"/>
              </a:defRPr>
            </a:pPr>
            <a:r>
              <a:rPr sz="1350" b="1">
                <a:solidFill>
                  <a:srgbClr val="5DCEF2"/>
                </a:solidFill>
                <a:latin typeface="Helvetica Neue"/>
                <a:ea typeface="Helvetica Neue"/>
                <a:cs typeface="Helvetica Neue"/>
              </a:rPr>
              <a:t>PROJEKTI SEMESTRAL</a:t>
            </a:r>
          </a:p>
        </p:txBody>
      </p:sp>
      <p:sp>
        <p:nvSpPr>
          <p:cNvPr id="2" name="">
            <a:extLst xmlns:a="http://schemas.openxmlformats.org/drawingml/2006/main">
              <a:ext uri="{FF2B5EF4-FFF2-40B4-BE49-F238E27FC236}">
                <a16:creationId xmlns:a16="http://schemas.microsoft.com/office/drawing/2014/main" id="{5EC6E4B6-D2B6-417E-9C6A-FB23A2CCC92F}"/>
              </a:ext>
            </a:extLst>
          </p:cNvPr>
          <p:cNvSpPr>
            <a:spLocks xmlns:a="http://schemas.openxmlformats.org/drawingml/2006/main" noGrp="1"/>
          </p:cNvSpPr>
          <p:nvPr/>
        </p:nvSpPr>
        <p:spPr>
          <a:xfrm xmlns:a="http://schemas.openxmlformats.org/drawingml/2006/main">
            <a:off x="609600" y="90487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5F7F9"/>
                </a:solidFill>
                <a:latin typeface="Helvetica Neue"/>
                <a:ea typeface="Helvetica Neue"/>
                <a:cs typeface="Helvetica Neue"/>
              </a:defRPr>
            </a:pPr>
            <a:r>
              <a:rPr sz="3600" b="1">
                <a:solidFill>
                  <a:srgbClr val="F5F7F9"/>
                </a:solidFill>
                <a:latin typeface="Helvetica Neue"/>
                <a:ea typeface="Helvetica Neue"/>
                <a:cs typeface="Helvetica Neue"/>
              </a:rPr>
              <a:t>Takimet e semestrit</a:t>
            </a:r>
          </a:p>
        </p:txBody>
      </p:sp>
      <p:sp>
        <p:nvSpPr>
          <p:cNvPr id="3" name="">
            <a:extLst xmlns:a="http://schemas.openxmlformats.org/drawingml/2006/main">
              <a:ext uri="{FF2B5EF4-FFF2-40B4-BE49-F238E27FC236}">
                <a16:creationId xmlns:a16="http://schemas.microsoft.com/office/drawing/2014/main" id="{9761E2C1-10B1-4D0C-9987-C4624CAD5B0B}"/>
              </a:ext>
            </a:extLst>
          </p:cNvPr>
          <p:cNvSpPr>
            <a:spLocks xmlns:a="http://schemas.openxmlformats.org/drawingml/2006/main" noGrp="1"/>
          </p:cNvSpPr>
          <p:nvPr/>
        </p:nvSpPr>
        <p:spPr>
          <a:xfrm xmlns:a="http://schemas.openxmlformats.org/drawingml/2006/main">
            <a:off x="609600" y="204787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5DCEF2"/>
                </a:solidFill>
                <a:latin typeface="Helvetica Neue"/>
                <a:ea typeface="Helvetica Neue"/>
                <a:cs typeface="Helvetica Neue"/>
              </a:defRPr>
            </a:pPr>
            <a:r>
              <a:rPr sz="3900" b="1">
                <a:solidFill>
                  <a:srgbClr val="5DCEF2"/>
                </a:solidFill>
                <a:latin typeface="Helvetica Neue"/>
                <a:ea typeface="Helvetica Neue"/>
                <a:cs typeface="Helvetica Neue"/>
              </a:rPr>
              <a:t>17 shtator – 24 dhjetor 2026</a:t>
            </a:r>
          </a:p>
        </p:txBody>
      </p:sp>
      <p:sp>
        <p:nvSpPr>
          <p:cNvPr id="4" name="">
            <a:extLst xmlns:a="http://schemas.openxmlformats.org/drawingml/2006/main">
              <a:ext uri="{FF2B5EF4-FFF2-40B4-BE49-F238E27FC236}">
                <a16:creationId xmlns:a16="http://schemas.microsoft.com/office/drawing/2014/main" id="{217EC86D-45A2-46B5-BDB4-3E1201865B25}"/>
              </a:ext>
            </a:extLst>
          </p:cNvPr>
          <p:cNvSpPr>
            <a:spLocks xmlns:a="http://schemas.openxmlformats.org/drawingml/2006/main" noGrp="1"/>
          </p:cNvSpPr>
          <p:nvPr/>
        </p:nvSpPr>
        <p:spPr>
          <a:xfrm xmlns:a="http://schemas.openxmlformats.org/drawingml/2006/main">
            <a:off x="609600" y="3238500"/>
            <a:ext cx="238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5DCEF2"/>
                </a:solidFill>
                <a:latin typeface="Helvetica Neue"/>
                <a:ea typeface="Helvetica Neue"/>
                <a:cs typeface="Helvetica Neue"/>
              </a:defRPr>
            </a:pPr>
            <a:r>
              <a:rPr sz="2400" b="1">
                <a:solidFill>
                  <a:srgbClr val="5DCEF2"/>
                </a:solidFill>
                <a:latin typeface="Helvetica Neue"/>
                <a:ea typeface="Helvetica Neue"/>
                <a:cs typeface="Helvetica Neue"/>
              </a:rPr>
              <a:t>Java 1</a:t>
            </a:r>
          </a:p>
        </p:txBody>
      </p:sp>
      <p:sp>
        <p:nvSpPr>
          <p:cNvPr id="5" name="">
            <a:extLst xmlns:a="http://schemas.openxmlformats.org/drawingml/2006/main">
              <a:ext uri="{FF2B5EF4-FFF2-40B4-BE49-F238E27FC236}">
                <a16:creationId xmlns:a16="http://schemas.microsoft.com/office/drawing/2014/main" id="{0535CB1D-22C2-42BE-8CE9-FE8DB9CE6B00}"/>
              </a:ext>
            </a:extLst>
          </p:cNvPr>
          <p:cNvSpPr>
            <a:spLocks xmlns:a="http://schemas.openxmlformats.org/drawingml/2006/main" noGrp="1"/>
          </p:cNvSpPr>
          <p:nvPr/>
        </p:nvSpPr>
        <p:spPr>
          <a:xfrm xmlns:a="http://schemas.openxmlformats.org/drawingml/2006/main">
            <a:off x="3238500" y="3238500"/>
            <a:ext cx="781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F5F7F9"/>
                </a:solidFill>
                <a:latin typeface="Helvetica Neue"/>
                <a:ea typeface="Helvetica Neue"/>
                <a:cs typeface="Helvetica Neue"/>
              </a:defRPr>
            </a:pPr>
            <a:r>
              <a:rPr sz="2550" b="0">
                <a:solidFill>
                  <a:srgbClr val="F5F7F9"/>
                </a:solidFill>
                <a:latin typeface="Helvetica Neue"/>
                <a:ea typeface="Helvetica Neue"/>
                <a:cs typeface="Helvetica Neue"/>
              </a:rPr>
              <a:t>2 orë ligjëratë</a:t>
            </a:r>
          </a:p>
        </p:txBody>
      </p:sp>
      <p:sp>
        <p:nvSpPr>
          <p:cNvPr id="6" name="">
            <a:extLst xmlns:a="http://schemas.openxmlformats.org/drawingml/2006/main">
              <a:ext uri="{FF2B5EF4-FFF2-40B4-BE49-F238E27FC236}">
                <a16:creationId xmlns:a16="http://schemas.microsoft.com/office/drawing/2014/main" id="{3E2A5ADE-9917-46A8-A4E7-BCE769CDF0F9}"/>
              </a:ext>
            </a:extLst>
          </p:cNvPr>
          <p:cNvSpPr>
            <a:spLocks xmlns:a="http://schemas.openxmlformats.org/drawingml/2006/main" noGrp="1"/>
          </p:cNvSpPr>
          <p:nvPr/>
        </p:nvSpPr>
        <p:spPr>
          <a:xfrm xmlns:a="http://schemas.openxmlformats.org/drawingml/2006/main">
            <a:off x="609600" y="404812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5DCEF2"/>
                </a:solidFill>
                <a:latin typeface="Helvetica Neue"/>
                <a:ea typeface="Helvetica Neue"/>
                <a:cs typeface="Helvetica Neue"/>
              </a:defRPr>
            </a:pPr>
            <a:r>
              <a:rPr sz="2400" b="1">
                <a:solidFill>
                  <a:srgbClr val="5DCEF2"/>
                </a:solidFill>
                <a:latin typeface="Helvetica Neue"/>
                <a:ea typeface="Helvetica Neue"/>
                <a:cs typeface="Helvetica Neue"/>
              </a:rPr>
              <a:t>Javët 2–15</a:t>
            </a:r>
          </a:p>
        </p:txBody>
      </p:sp>
      <p:sp>
        <p:nvSpPr>
          <p:cNvPr id="7" name="">
            <a:extLst xmlns:a="http://schemas.openxmlformats.org/drawingml/2006/main">
              <a:ext uri="{FF2B5EF4-FFF2-40B4-BE49-F238E27FC236}">
                <a16:creationId xmlns:a16="http://schemas.microsoft.com/office/drawing/2014/main" id="{9CE35D7E-9B14-480D-8408-367A7FC94AF8}"/>
              </a:ext>
            </a:extLst>
          </p:cNvPr>
          <p:cNvSpPr>
            <a:spLocks xmlns:a="http://schemas.openxmlformats.org/drawingml/2006/main" noGrp="1"/>
          </p:cNvSpPr>
          <p:nvPr/>
        </p:nvSpPr>
        <p:spPr>
          <a:xfrm xmlns:a="http://schemas.openxmlformats.org/drawingml/2006/main">
            <a:off x="3238500" y="4048125"/>
            <a:ext cx="8096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F5F7F9"/>
                </a:solidFill>
                <a:latin typeface="Helvetica Neue"/>
                <a:ea typeface="Helvetica Neue"/>
                <a:cs typeface="Helvetica Neue"/>
              </a:defRPr>
            </a:pPr>
            <a:r>
              <a:rPr sz="2550" b="0">
                <a:solidFill>
                  <a:srgbClr val="F5F7F9"/>
                </a:solidFill>
                <a:latin typeface="Helvetica Neue"/>
                <a:ea typeface="Helvetica Neue"/>
                <a:cs typeface="Helvetica Neue"/>
              </a:rPr>
              <a:t>2 orë ligjëratë + 2 orë ushtrime</a:t>
            </a:r>
          </a:p>
        </p:txBody>
      </p:sp>
      <p:sp>
        <p:nvSpPr>
          <p:cNvPr id="8" name="">
            <a:extLst xmlns:a="http://schemas.openxmlformats.org/drawingml/2006/main">
              <a:ext uri="{FF2B5EF4-FFF2-40B4-BE49-F238E27FC236}">
                <a16:creationId xmlns:a16="http://schemas.microsoft.com/office/drawing/2014/main" id="{6F0DFEEC-176D-4FC7-9BE2-0A04C879AF08}"/>
              </a:ext>
            </a:extLst>
          </p:cNvPr>
          <p:cNvSpPr>
            <a:spLocks xmlns:a="http://schemas.openxmlformats.org/drawingml/2006/main" noGrp="1"/>
          </p:cNvSpPr>
          <p:nvPr/>
        </p:nvSpPr>
        <p:spPr>
          <a:xfrm xmlns:a="http://schemas.openxmlformats.org/drawingml/2006/main">
            <a:off x="609600" y="58102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B6C5CE"/>
                </a:solidFill>
                <a:latin typeface="Helvetica Neue"/>
                <a:ea typeface="Helvetica Neue"/>
                <a:cs typeface="Helvetica Neue"/>
              </a:defRPr>
            </a:pPr>
            <a:r>
              <a:rPr sz="1950" b="0">
                <a:solidFill>
                  <a:srgbClr val="B6C5CE"/>
                </a:solidFill>
                <a:latin typeface="Helvetica Neue"/>
                <a:ea typeface="Helvetica Neue"/>
                <a:cs typeface="Helvetica Neue"/>
              </a:rPr>
              <a:t>Çdo të enjte. Data 24 dhjetor varet nga pushimet e AAB-së.</a:t>
            </a:r>
          </a:p>
        </p:txBody>
      </p:sp>
      <p:sp>
        <p:nvSpPr>
          <p:cNvPr id="9" name="">
            <a:extLst xmlns:a="http://schemas.openxmlformats.org/drawingml/2006/main">
              <a:ext uri="{FF2B5EF4-FFF2-40B4-BE49-F238E27FC236}">
                <a16:creationId xmlns:a16="http://schemas.microsoft.com/office/drawing/2014/main" id="{2564575C-AC87-4327-9AB4-683588BD4FD8}"/>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6C5CE"/>
                </a:solidFill>
                <a:latin typeface="Helvetica Neue"/>
                <a:ea typeface="Helvetica Neue"/>
                <a:cs typeface="Helvetica Neue"/>
              </a:defRPr>
            </a:pPr>
            <a:r>
              <a:rPr sz="1350" b="0">
                <a:solidFill>
                  <a:srgbClr val="B6C5CE"/>
                </a:solidFill>
                <a:latin typeface="Helvetica Neue"/>
                <a:ea typeface="Helvetica Neue"/>
                <a:cs typeface="Helvetica Neue"/>
              </a:rPr>
              <a:t>09</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acc376dffb34012"/>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483547647"/>
      </p:ext>
    </p:extLst>
  </p:cSld>
</p:sld>
</file>

<file path=ppt/slides/slide10.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text-17">
            <a:extLst xmlns:a="http://schemas.openxmlformats.org/drawingml/2006/main">
              <a:ext uri="{FF2B5EF4-FFF2-40B4-BE49-F238E27FC236}">
                <a16:creationId xmlns:a16="http://schemas.microsoft.com/office/drawing/2014/main" id="{35AE86BD-CC82-4E84-A890-28A377E0EF8F}"/>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HYRJA</a:t>
            </a:r>
          </a:p>
        </p:txBody>
      </p:sp>
      <p:sp>
        <p:nvSpPr>
          <p:cNvPr id="2" name="text-18">
            <a:extLst xmlns:a="http://schemas.openxmlformats.org/drawingml/2006/main">
              <a:ext uri="{FF2B5EF4-FFF2-40B4-BE49-F238E27FC236}">
                <a16:creationId xmlns:a16="http://schemas.microsoft.com/office/drawing/2014/main" id="{641DB28A-0E2C-4D89-929C-57639F38225A}"/>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10</a:t>
            </a:r>
          </a:p>
        </p:txBody>
      </p:sp>
      <p:sp>
        <p:nvSpPr>
          <p:cNvPr id="3" name="text-19">
            <a:extLst xmlns:a="http://schemas.openxmlformats.org/drawingml/2006/main">
              <a:ext uri="{FF2B5EF4-FFF2-40B4-BE49-F238E27FC236}">
                <a16:creationId xmlns:a16="http://schemas.microsoft.com/office/drawing/2014/main" id="{6509BF1A-D9D5-4089-9034-FFBA1C4EE457}"/>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Para prerjes, vizatimi</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9774eb9d87664a5a"/>
          <a:stretch xmlns:a="http://schemas.openxmlformats.org/drawingml/2006/main"/>
        </p:blipFill>
        <p:spPr>
          <a:xfrm xmlns:a="http://schemas.openxmlformats.org/drawingml/2006/main">
            <a:off x="952500" y="1704975"/>
            <a:ext cx="4000500" cy="4000500"/>
          </a:xfrm>
          <a:prstGeom xmlns:a="http://schemas.openxmlformats.org/drawingml/2006/main" prst="rect">
            <a:avLst/>
          </a:prstGeom>
        </p:spPr>
      </p:pic>
      <p:sp>
        <p:nvSpPr>
          <p:cNvPr id="5" name="text-20">
            <a:extLst xmlns:a="http://schemas.openxmlformats.org/drawingml/2006/main">
              <a:ext uri="{FF2B5EF4-FFF2-40B4-BE49-F238E27FC236}">
                <a16:creationId xmlns:a16="http://schemas.microsoft.com/office/drawing/2014/main" id="{13D2C051-C086-435E-9031-157AAE7C8D05}"/>
              </a:ext>
            </a:extLst>
          </p:cNvPr>
          <p:cNvSpPr>
            <a:spLocks xmlns:a="http://schemas.openxmlformats.org/drawingml/2006/main" noGrp="1"/>
          </p:cNvSpPr>
          <p:nvPr/>
        </p:nvSpPr>
        <p:spPr>
          <a:xfrm xmlns:a="http://schemas.openxmlformats.org/drawingml/2006/main">
            <a:off x="5905500" y="2000250"/>
            <a:ext cx="533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650" b="1">
                <a:solidFill>
                  <a:srgbClr val="63CDF2"/>
                </a:solidFill>
                <a:latin typeface="Helvetica Neue"/>
                <a:ea typeface="Helvetica Neue"/>
                <a:cs typeface="Helvetica Neue"/>
              </a:defRPr>
            </a:pPr>
            <a:r>
              <a:rPr sz="1650" b="1">
                <a:solidFill>
                  <a:srgbClr val="63CDF2"/>
                </a:solidFill>
                <a:latin typeface="Helvetica Neue"/>
                <a:ea typeface="Helvetica Neue"/>
                <a:cs typeface="Helvetica Neue"/>
              </a:rPr>
              <a:t>WOODCRAFT KOSOVA</a:t>
            </a:r>
          </a:p>
        </p:txBody>
      </p:sp>
      <p:sp>
        <p:nvSpPr>
          <p:cNvPr id="6" name="text-21">
            <a:extLst xmlns:a="http://schemas.openxmlformats.org/drawingml/2006/main">
              <a:ext uri="{FF2B5EF4-FFF2-40B4-BE49-F238E27FC236}">
                <a16:creationId xmlns:a16="http://schemas.microsoft.com/office/drawing/2014/main" id="{75025066-D17D-4DF9-8895-1F91892FDFC1}"/>
              </a:ext>
            </a:extLst>
          </p:cNvPr>
          <p:cNvSpPr>
            <a:spLocks xmlns:a="http://schemas.openxmlformats.org/drawingml/2006/main" noGrp="1"/>
          </p:cNvSpPr>
          <p:nvPr/>
        </p:nvSpPr>
        <p:spPr>
          <a:xfrm xmlns:a="http://schemas.openxmlformats.org/drawingml/2006/main">
            <a:off x="5905500" y="2514600"/>
            <a:ext cx="5334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225" b="1">
                <a:solidFill>
                  <a:srgbClr val="F4F2EC"/>
                </a:solidFill>
                <a:latin typeface="Helvetica Neue"/>
                <a:ea typeface="Helvetica Neue"/>
                <a:cs typeface="Helvetica Neue"/>
              </a:defRPr>
            </a:pPr>
            <a:r>
              <a:rPr sz="3225" b="1">
                <a:solidFill>
                  <a:srgbClr val="F4F2EC"/>
                </a:solidFill>
                <a:latin typeface="Helvetica Neue"/>
                <a:ea typeface="Helvetica Neue"/>
                <a:cs typeface="Helvetica Neue"/>
              </a:rPr>
              <a:t>Përdoruesi</a:t>
            </a:r>
          </a:p>
          <a:p xmlns:a="http://schemas.openxmlformats.org/drawingml/2006/main">
            <a:pPr algn="l">
              <a:buNone/>
              <a:defRPr sz="3225" b="1">
                <a:solidFill>
                  <a:srgbClr val="F4F2EC"/>
                </a:solidFill>
                <a:latin typeface="Helvetica Neue"/>
                <a:ea typeface="Helvetica Neue"/>
                <a:cs typeface="Helvetica Neue"/>
              </a:defRPr>
            </a:pPr>
            <a:r>
              <a:rPr sz="3225" b="1">
                <a:solidFill>
                  <a:srgbClr val="F4F2EC"/>
                </a:solidFill>
                <a:latin typeface="Helvetica Neue"/>
                <a:ea typeface="Helvetica Neue"/>
                <a:cs typeface="Helvetica Neue"/>
              </a:rPr>
              <a:t>Ngarkesa</a:t>
            </a:r>
          </a:p>
          <a:p xmlns:a="http://schemas.openxmlformats.org/drawingml/2006/main">
            <a:pPr algn="l">
              <a:buNone/>
              <a:defRPr sz="3225" b="1">
                <a:solidFill>
                  <a:srgbClr val="F4F2EC"/>
                </a:solidFill>
                <a:latin typeface="Helvetica Neue"/>
                <a:ea typeface="Helvetica Neue"/>
                <a:cs typeface="Helvetica Neue"/>
              </a:defRPr>
            </a:pPr>
            <a:r>
              <a:rPr sz="3225" b="1">
                <a:solidFill>
                  <a:srgbClr val="F4F2EC"/>
                </a:solidFill>
                <a:latin typeface="Helvetica Neue"/>
                <a:ea typeface="Helvetica Neue"/>
                <a:cs typeface="Helvetica Neue"/>
              </a:rPr>
              <a:t>Kufizimet</a:t>
            </a:r>
          </a:p>
        </p:txBody>
      </p:sp>
      <p:sp>
        <p:nvSpPr>
          <p:cNvPr id="7" name="text-22">
            <a:extLst xmlns:a="http://schemas.openxmlformats.org/drawingml/2006/main">
              <a:ext uri="{FF2B5EF4-FFF2-40B4-BE49-F238E27FC236}">
                <a16:creationId xmlns:a16="http://schemas.microsoft.com/office/drawing/2014/main" id="{5192F513-3F70-4537-B019-09EEDE2F3F2A}"/>
              </a:ext>
            </a:extLst>
          </p:cNvPr>
          <p:cNvSpPr>
            <a:spLocks xmlns:a="http://schemas.openxmlformats.org/drawingml/2006/main" noGrp="1"/>
          </p:cNvSpPr>
          <p:nvPr/>
        </p:nvSpPr>
        <p:spPr>
          <a:xfrm xmlns:a="http://schemas.openxmlformats.org/drawingml/2006/main">
            <a:off x="5905500" y="4381500"/>
            <a:ext cx="5381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325" b="0">
                <a:solidFill>
                  <a:srgbClr val="AEBFCB"/>
                </a:solidFill>
                <a:latin typeface="Helvetica Neue"/>
                <a:ea typeface="Helvetica Neue"/>
                <a:cs typeface="Helvetica Neue"/>
              </a:defRPr>
            </a:pPr>
            <a:r>
              <a:rPr sz="2325" b="0">
                <a:solidFill>
                  <a:srgbClr val="AEBFCB"/>
                </a:solidFill>
                <a:latin typeface="Helvetica Neue"/>
                <a:ea typeface="Helvetica Neue"/>
                <a:cs typeface="Helvetica Neue"/>
              </a:rPr>
              <a:t>Në softuer: PRD + kufijtë e besimit</a:t>
            </a:r>
          </a:p>
        </p:txBody>
      </p:sp>
      <p:sp>
        <p:nvSpPr>
          <p:cNvPr id="8" name="text-23">
            <a:extLst xmlns:a="http://schemas.openxmlformats.org/drawingml/2006/main">
              <a:ext uri="{FF2B5EF4-FFF2-40B4-BE49-F238E27FC236}">
                <a16:creationId xmlns:a16="http://schemas.microsoft.com/office/drawing/2014/main" id="{ADC1A495-850C-482A-8369-583D72875574}"/>
              </a:ext>
            </a:extLst>
          </p:cNvPr>
          <p:cNvSpPr>
            <a:spLocks xmlns:a="http://schemas.openxmlformats.org/drawingml/2006/main" noGrp="1"/>
          </p:cNvSpPr>
          <p:nvPr/>
        </p:nvSpPr>
        <p:spPr>
          <a:xfrm xmlns:a="http://schemas.openxmlformats.org/drawingml/2006/main">
            <a:off x="609600" y="596265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950" b="0">
                <a:solidFill>
                  <a:srgbClr val="AEBFCB"/>
                </a:solidFill>
                <a:latin typeface="Helvetica Neue"/>
                <a:ea typeface="Helvetica Neue"/>
                <a:cs typeface="Helvetica Neue"/>
              </a:defRPr>
            </a:pPr>
            <a:r>
              <a:rPr sz="1950" b="0">
                <a:solidFill>
                  <a:srgbClr val="AEBFCB"/>
                </a:solidFill>
                <a:latin typeface="Helvetica Neue"/>
                <a:ea typeface="Helvetica Neue"/>
                <a:cs typeface="Helvetica Neue"/>
              </a:rPr>
              <a:t>Skicë konceptuale për analogjinë. Nuk është vizatim prodhimi.</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a131908bd9f48cd"/>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855858376"/>
      </p:ext>
    </p:extLst>
  </p:cSld>
</p:sld>
</file>

<file path=ppt/slides/slide1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6" name="text-24">
            <a:extLst xmlns:a="http://schemas.openxmlformats.org/drawingml/2006/main">
              <a:ext uri="{FF2B5EF4-FFF2-40B4-BE49-F238E27FC236}">
                <a16:creationId xmlns:a16="http://schemas.microsoft.com/office/drawing/2014/main" id="{8142D043-FF24-49DB-87A7-29070FD133C0}"/>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HYRJA</a:t>
            </a:r>
          </a:p>
        </p:txBody>
      </p:sp>
      <p:sp>
        <p:nvSpPr>
          <p:cNvPr id="2" name="text-25">
            <a:extLst xmlns:a="http://schemas.openxmlformats.org/drawingml/2006/main">
              <a:ext uri="{FF2B5EF4-FFF2-40B4-BE49-F238E27FC236}">
                <a16:creationId xmlns:a16="http://schemas.microsoft.com/office/drawing/2014/main" id="{44A190CC-D32F-4A10-BB0C-30C709AD0D23}"/>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11</a:t>
            </a:r>
          </a:p>
        </p:txBody>
      </p:sp>
      <p:sp>
        <p:nvSpPr>
          <p:cNvPr id="3" name="text-26">
            <a:extLst xmlns:a="http://schemas.openxmlformats.org/drawingml/2006/main">
              <a:ext uri="{FF2B5EF4-FFF2-40B4-BE49-F238E27FC236}">
                <a16:creationId xmlns:a16="http://schemas.microsoft.com/office/drawing/2014/main" id="{A94FA564-DBC2-4ADD-987F-EBE4A4796D5A}"/>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Çdo vendim kërkon provë</a:t>
            </a:r>
          </a:p>
        </p:txBody>
      </p:sp>
      <p:sp>
        <p:nvSpPr>
          <p:cNvPr id="4" name="text-27">
            <a:extLst xmlns:a="http://schemas.openxmlformats.org/drawingml/2006/main">
              <a:ext uri="{FF2B5EF4-FFF2-40B4-BE49-F238E27FC236}">
                <a16:creationId xmlns:a16="http://schemas.microsoft.com/office/drawing/2014/main" id="{C5105756-47B1-4080-A0AE-A8693D9C0843}"/>
              </a:ext>
            </a:extLst>
          </p:cNvPr>
          <p:cNvSpPr>
            <a:spLocks xmlns:a="http://schemas.openxmlformats.org/drawingml/2006/main" noGrp="1"/>
          </p:cNvSpPr>
          <p:nvPr/>
        </p:nvSpPr>
        <p:spPr>
          <a:xfrm xmlns:a="http://schemas.openxmlformats.org/drawingml/2006/main">
            <a:off x="609600" y="22288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650" b="1">
                <a:solidFill>
                  <a:srgbClr val="63CDF2"/>
                </a:solidFill>
                <a:latin typeface="Helvetica Neue"/>
                <a:ea typeface="Helvetica Neue"/>
                <a:cs typeface="Helvetica Neue"/>
              </a:defRPr>
            </a:pPr>
            <a:r>
              <a:rPr sz="4650" b="1">
                <a:solidFill>
                  <a:srgbClr val="63CDF2"/>
                </a:solidFill>
                <a:latin typeface="Helvetica Neue"/>
                <a:ea typeface="Helvetica Neue"/>
                <a:cs typeface="Helvetica Neue"/>
              </a:rPr>
              <a:t>01</a:t>
            </a:r>
          </a:p>
        </p:txBody>
      </p:sp>
      <p:sp>
        <p:nvSpPr>
          <p:cNvPr id="5" name="text-28">
            <a:extLst xmlns:a="http://schemas.openxmlformats.org/drawingml/2006/main">
              <a:ext uri="{FF2B5EF4-FFF2-40B4-BE49-F238E27FC236}">
                <a16:creationId xmlns:a16="http://schemas.microsoft.com/office/drawing/2014/main" id="{F87F8A37-41A4-4ECB-943E-C524E6401937}"/>
              </a:ext>
            </a:extLst>
          </p:cNvPr>
          <p:cNvSpPr>
            <a:spLocks xmlns:a="http://schemas.openxmlformats.org/drawingml/2006/main" noGrp="1"/>
          </p:cNvSpPr>
          <p:nvPr/>
        </p:nvSpPr>
        <p:spPr>
          <a:xfrm xmlns:a="http://schemas.openxmlformats.org/drawingml/2006/main">
            <a:off x="609600" y="3133725"/>
            <a:ext cx="20288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475" b="1">
                <a:solidFill>
                  <a:srgbClr val="F4F2EC"/>
                </a:solidFill>
                <a:latin typeface="Helvetica Neue"/>
                <a:ea typeface="Helvetica Neue"/>
                <a:cs typeface="Helvetica Neue"/>
              </a:defRPr>
            </a:pPr>
            <a:r>
              <a:rPr sz="2475" b="1">
                <a:solidFill>
                  <a:srgbClr val="F4F2EC"/>
                </a:solidFill>
                <a:latin typeface="Helvetica Neue"/>
                <a:ea typeface="Helvetica Neue"/>
                <a:cs typeface="Helvetica Neue"/>
              </a:rPr>
              <a:t>Problem</a:t>
            </a:r>
          </a:p>
        </p:txBody>
      </p:sp>
      <p:sp>
        <p:nvSpPr>
          <p:cNvPr id="6" name="text-29">
            <a:extLst xmlns:a="http://schemas.openxmlformats.org/drawingml/2006/main">
              <a:ext uri="{FF2B5EF4-FFF2-40B4-BE49-F238E27FC236}">
                <a16:creationId xmlns:a16="http://schemas.microsoft.com/office/drawing/2014/main" id="{E4F85E75-0685-490C-B356-5658D1999409}"/>
              </a:ext>
            </a:extLst>
          </p:cNvPr>
          <p:cNvSpPr>
            <a:spLocks xmlns:a="http://schemas.openxmlformats.org/drawingml/2006/main" noGrp="1"/>
          </p:cNvSpPr>
          <p:nvPr/>
        </p:nvSpPr>
        <p:spPr>
          <a:xfrm xmlns:a="http://schemas.openxmlformats.org/drawingml/2006/main">
            <a:off x="609600" y="3829050"/>
            <a:ext cx="2000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0">
                <a:solidFill>
                  <a:srgbClr val="AEBFCB"/>
                </a:solidFill>
                <a:latin typeface="Helvetica Neue"/>
                <a:ea typeface="Helvetica Neue"/>
                <a:cs typeface="Helvetica Neue"/>
              </a:defRPr>
            </a:pPr>
            <a:r>
              <a:rPr sz="2025" b="0">
                <a:solidFill>
                  <a:srgbClr val="AEBFCB"/>
                </a:solidFill>
                <a:latin typeface="Helvetica Neue"/>
                <a:ea typeface="Helvetica Neue"/>
                <a:cs typeface="Helvetica Neue"/>
              </a:rPr>
              <a:t>Vëzhgim</a:t>
            </a:r>
          </a:p>
        </p:txBody>
      </p:sp>
      <p:sp>
        <p:nvSpPr>
          <p:cNvPr id="7" name="flow-30">
            <a:extLst xmlns:a="http://schemas.openxmlformats.org/drawingml/2006/main">
              <a:ext uri="{FF2B5EF4-FFF2-40B4-BE49-F238E27FC236}">
                <a16:creationId xmlns:a16="http://schemas.microsoft.com/office/drawing/2014/main" id="{23F8CBFB-3623-45C0-A7C6-67D928BC68E9}"/>
              </a:ext>
            </a:extLst>
          </p:cNvPr>
          <p:cNvSpPr>
            <a:spLocks xmlns:a="http://schemas.openxmlformats.org/drawingml/2006/main" noGrp="1"/>
          </p:cNvSpPr>
          <p:nvPr/>
        </p:nvSpPr>
        <p:spPr>
          <a:xfrm xmlns:a="http://schemas.openxmlformats.org/drawingml/2006/main">
            <a:off x="2362200" y="2476500"/>
            <a:ext cx="30480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8" name="text-31">
            <a:extLst xmlns:a="http://schemas.openxmlformats.org/drawingml/2006/main">
              <a:ext uri="{FF2B5EF4-FFF2-40B4-BE49-F238E27FC236}">
                <a16:creationId xmlns:a16="http://schemas.microsoft.com/office/drawing/2014/main" id="{91D5B57A-2AB2-4D98-AF63-384A8945B176}"/>
              </a:ext>
            </a:extLst>
          </p:cNvPr>
          <p:cNvSpPr>
            <a:spLocks xmlns:a="http://schemas.openxmlformats.org/drawingml/2006/main" noGrp="1"/>
          </p:cNvSpPr>
          <p:nvPr/>
        </p:nvSpPr>
        <p:spPr>
          <a:xfrm xmlns:a="http://schemas.openxmlformats.org/drawingml/2006/main">
            <a:off x="2857500" y="22288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650" b="1">
                <a:solidFill>
                  <a:srgbClr val="63CDF2"/>
                </a:solidFill>
                <a:latin typeface="Helvetica Neue"/>
                <a:ea typeface="Helvetica Neue"/>
                <a:cs typeface="Helvetica Neue"/>
              </a:defRPr>
            </a:pPr>
            <a:r>
              <a:rPr sz="4650" b="1">
                <a:solidFill>
                  <a:srgbClr val="63CDF2"/>
                </a:solidFill>
                <a:latin typeface="Helvetica Neue"/>
                <a:ea typeface="Helvetica Neue"/>
                <a:cs typeface="Helvetica Neue"/>
              </a:rPr>
              <a:t>02</a:t>
            </a:r>
          </a:p>
        </p:txBody>
      </p:sp>
      <p:sp>
        <p:nvSpPr>
          <p:cNvPr id="9" name="text-32">
            <a:extLst xmlns:a="http://schemas.openxmlformats.org/drawingml/2006/main">
              <a:ext uri="{FF2B5EF4-FFF2-40B4-BE49-F238E27FC236}">
                <a16:creationId xmlns:a16="http://schemas.microsoft.com/office/drawing/2014/main" id="{249FF2BF-9CC5-47FA-9AC3-9DAFE4996C40}"/>
              </a:ext>
            </a:extLst>
          </p:cNvPr>
          <p:cNvSpPr>
            <a:spLocks xmlns:a="http://schemas.openxmlformats.org/drawingml/2006/main" noGrp="1"/>
          </p:cNvSpPr>
          <p:nvPr/>
        </p:nvSpPr>
        <p:spPr>
          <a:xfrm xmlns:a="http://schemas.openxmlformats.org/drawingml/2006/main">
            <a:off x="2857500" y="3133725"/>
            <a:ext cx="20288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475" b="1">
                <a:solidFill>
                  <a:srgbClr val="F4F2EC"/>
                </a:solidFill>
                <a:latin typeface="Helvetica Neue"/>
                <a:ea typeface="Helvetica Neue"/>
                <a:cs typeface="Helvetica Neue"/>
              </a:defRPr>
            </a:pPr>
            <a:r>
              <a:rPr sz="2475" b="1">
                <a:solidFill>
                  <a:srgbClr val="F4F2EC"/>
                </a:solidFill>
                <a:latin typeface="Helvetica Neue"/>
                <a:ea typeface="Helvetica Neue"/>
                <a:cs typeface="Helvetica Neue"/>
              </a:rPr>
              <a:t>Hipotezë</a:t>
            </a:r>
          </a:p>
        </p:txBody>
      </p:sp>
      <p:sp>
        <p:nvSpPr>
          <p:cNvPr id="10" name="text-33">
            <a:extLst xmlns:a="http://schemas.openxmlformats.org/drawingml/2006/main">
              <a:ext uri="{FF2B5EF4-FFF2-40B4-BE49-F238E27FC236}">
                <a16:creationId xmlns:a16="http://schemas.microsoft.com/office/drawing/2014/main" id="{2A9FA0D4-55D1-4127-8842-A2B69F70E29C}"/>
              </a:ext>
            </a:extLst>
          </p:cNvPr>
          <p:cNvSpPr>
            <a:spLocks xmlns:a="http://schemas.openxmlformats.org/drawingml/2006/main" noGrp="1"/>
          </p:cNvSpPr>
          <p:nvPr/>
        </p:nvSpPr>
        <p:spPr>
          <a:xfrm xmlns:a="http://schemas.openxmlformats.org/drawingml/2006/main">
            <a:off x="2857500" y="3829050"/>
            <a:ext cx="2000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0">
                <a:solidFill>
                  <a:srgbClr val="AEBFCB"/>
                </a:solidFill>
                <a:latin typeface="Helvetica Neue"/>
                <a:ea typeface="Helvetica Neue"/>
                <a:cs typeface="Helvetica Neue"/>
              </a:defRPr>
            </a:pPr>
            <a:r>
              <a:rPr sz="2025" b="0">
                <a:solidFill>
                  <a:srgbClr val="AEBFCB"/>
                </a:solidFill>
                <a:latin typeface="Helvetica Neue"/>
                <a:ea typeface="Helvetica Neue"/>
                <a:cs typeface="Helvetica Neue"/>
              </a:rPr>
              <a:t>Parashikim</a:t>
            </a:r>
          </a:p>
        </p:txBody>
      </p:sp>
      <p:sp>
        <p:nvSpPr>
          <p:cNvPr id="11" name="flow-34">
            <a:extLst xmlns:a="http://schemas.openxmlformats.org/drawingml/2006/main">
              <a:ext uri="{FF2B5EF4-FFF2-40B4-BE49-F238E27FC236}">
                <a16:creationId xmlns:a16="http://schemas.microsoft.com/office/drawing/2014/main" id="{E8C094D6-6DF2-4F11-8035-09E22344E374}"/>
              </a:ext>
            </a:extLst>
          </p:cNvPr>
          <p:cNvSpPr>
            <a:spLocks xmlns:a="http://schemas.openxmlformats.org/drawingml/2006/main" noGrp="1"/>
          </p:cNvSpPr>
          <p:nvPr/>
        </p:nvSpPr>
        <p:spPr>
          <a:xfrm xmlns:a="http://schemas.openxmlformats.org/drawingml/2006/main">
            <a:off x="4610100" y="2476500"/>
            <a:ext cx="30480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2" name="text-35">
            <a:extLst xmlns:a="http://schemas.openxmlformats.org/drawingml/2006/main">
              <a:ext uri="{FF2B5EF4-FFF2-40B4-BE49-F238E27FC236}">
                <a16:creationId xmlns:a16="http://schemas.microsoft.com/office/drawing/2014/main" id="{9A2552BA-EACB-4EB4-A0C6-187F7F6D928F}"/>
              </a:ext>
            </a:extLst>
          </p:cNvPr>
          <p:cNvSpPr>
            <a:spLocks xmlns:a="http://schemas.openxmlformats.org/drawingml/2006/main" noGrp="1"/>
          </p:cNvSpPr>
          <p:nvPr/>
        </p:nvSpPr>
        <p:spPr>
          <a:xfrm xmlns:a="http://schemas.openxmlformats.org/drawingml/2006/main">
            <a:off x="5105400" y="22288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650" b="1">
                <a:solidFill>
                  <a:srgbClr val="63CDF2"/>
                </a:solidFill>
                <a:latin typeface="Helvetica Neue"/>
                <a:ea typeface="Helvetica Neue"/>
                <a:cs typeface="Helvetica Neue"/>
              </a:defRPr>
            </a:pPr>
            <a:r>
              <a:rPr sz="4650" b="1">
                <a:solidFill>
                  <a:srgbClr val="63CDF2"/>
                </a:solidFill>
                <a:latin typeface="Helvetica Neue"/>
                <a:ea typeface="Helvetica Neue"/>
                <a:cs typeface="Helvetica Neue"/>
              </a:rPr>
              <a:t>03</a:t>
            </a:r>
          </a:p>
        </p:txBody>
      </p:sp>
      <p:sp>
        <p:nvSpPr>
          <p:cNvPr id="13" name="text-36">
            <a:extLst xmlns:a="http://schemas.openxmlformats.org/drawingml/2006/main">
              <a:ext uri="{FF2B5EF4-FFF2-40B4-BE49-F238E27FC236}">
                <a16:creationId xmlns:a16="http://schemas.microsoft.com/office/drawing/2014/main" id="{7827EE5E-AE5E-44B3-967C-2DF3E8CAB2CC}"/>
              </a:ext>
            </a:extLst>
          </p:cNvPr>
          <p:cNvSpPr>
            <a:spLocks xmlns:a="http://schemas.openxmlformats.org/drawingml/2006/main" noGrp="1"/>
          </p:cNvSpPr>
          <p:nvPr/>
        </p:nvSpPr>
        <p:spPr>
          <a:xfrm xmlns:a="http://schemas.openxmlformats.org/drawingml/2006/main">
            <a:off x="5105400" y="3133725"/>
            <a:ext cx="20288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475" b="1">
                <a:solidFill>
                  <a:srgbClr val="F4F2EC"/>
                </a:solidFill>
                <a:latin typeface="Helvetica Neue"/>
                <a:ea typeface="Helvetica Neue"/>
                <a:cs typeface="Helvetica Neue"/>
              </a:defRPr>
            </a:pPr>
            <a:r>
              <a:rPr sz="2475" b="1">
                <a:solidFill>
                  <a:srgbClr val="F4F2EC"/>
                </a:solidFill>
                <a:latin typeface="Helvetica Neue"/>
                <a:ea typeface="Helvetica Neue"/>
                <a:cs typeface="Helvetica Neue"/>
              </a:rPr>
              <a:t>Specifikim</a:t>
            </a:r>
          </a:p>
        </p:txBody>
      </p:sp>
      <p:sp>
        <p:nvSpPr>
          <p:cNvPr id="14" name="text-37">
            <a:extLst xmlns:a="http://schemas.openxmlformats.org/drawingml/2006/main">
              <a:ext uri="{FF2B5EF4-FFF2-40B4-BE49-F238E27FC236}">
                <a16:creationId xmlns:a16="http://schemas.microsoft.com/office/drawing/2014/main" id="{E69BBEAF-A820-45CF-9F4B-E9B8593B0478}"/>
              </a:ext>
            </a:extLst>
          </p:cNvPr>
          <p:cNvSpPr>
            <a:spLocks xmlns:a="http://schemas.openxmlformats.org/drawingml/2006/main" noGrp="1"/>
          </p:cNvSpPr>
          <p:nvPr/>
        </p:nvSpPr>
        <p:spPr>
          <a:xfrm xmlns:a="http://schemas.openxmlformats.org/drawingml/2006/main">
            <a:off x="5105400" y="3829050"/>
            <a:ext cx="2000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0">
                <a:solidFill>
                  <a:srgbClr val="AEBFCB"/>
                </a:solidFill>
                <a:latin typeface="Helvetica Neue"/>
                <a:ea typeface="Helvetica Neue"/>
                <a:cs typeface="Helvetica Neue"/>
              </a:defRPr>
            </a:pPr>
            <a:r>
              <a:rPr sz="2025" b="0">
                <a:solidFill>
                  <a:srgbClr val="AEBFCB"/>
                </a:solidFill>
                <a:latin typeface="Helvetica Neue"/>
                <a:ea typeface="Helvetica Neue"/>
                <a:cs typeface="Helvetica Neue"/>
              </a:rPr>
              <a:t>PRD</a:t>
            </a:r>
          </a:p>
        </p:txBody>
      </p:sp>
      <p:sp>
        <p:nvSpPr>
          <p:cNvPr id="15" name="flow-38">
            <a:extLst xmlns:a="http://schemas.openxmlformats.org/drawingml/2006/main">
              <a:ext uri="{FF2B5EF4-FFF2-40B4-BE49-F238E27FC236}">
                <a16:creationId xmlns:a16="http://schemas.microsoft.com/office/drawing/2014/main" id="{8A815931-6291-4AC4-851D-758E4D8C5C8F}"/>
              </a:ext>
            </a:extLst>
          </p:cNvPr>
          <p:cNvSpPr>
            <a:spLocks xmlns:a="http://schemas.openxmlformats.org/drawingml/2006/main" noGrp="1"/>
          </p:cNvSpPr>
          <p:nvPr/>
        </p:nvSpPr>
        <p:spPr>
          <a:xfrm xmlns:a="http://schemas.openxmlformats.org/drawingml/2006/main">
            <a:off x="6858000" y="2476500"/>
            <a:ext cx="30480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6" name="text-39">
            <a:extLst xmlns:a="http://schemas.openxmlformats.org/drawingml/2006/main">
              <a:ext uri="{FF2B5EF4-FFF2-40B4-BE49-F238E27FC236}">
                <a16:creationId xmlns:a16="http://schemas.microsoft.com/office/drawing/2014/main" id="{82197E9D-B68E-44A0-A9B6-771D92CDE243}"/>
              </a:ext>
            </a:extLst>
          </p:cNvPr>
          <p:cNvSpPr>
            <a:spLocks xmlns:a="http://schemas.openxmlformats.org/drawingml/2006/main" noGrp="1"/>
          </p:cNvSpPr>
          <p:nvPr/>
        </p:nvSpPr>
        <p:spPr>
          <a:xfrm xmlns:a="http://schemas.openxmlformats.org/drawingml/2006/main">
            <a:off x="7353300" y="22288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650" b="1">
                <a:solidFill>
                  <a:srgbClr val="63CDF2"/>
                </a:solidFill>
                <a:latin typeface="Helvetica Neue"/>
                <a:ea typeface="Helvetica Neue"/>
                <a:cs typeface="Helvetica Neue"/>
              </a:defRPr>
            </a:pPr>
            <a:r>
              <a:rPr sz="4650" b="1">
                <a:solidFill>
                  <a:srgbClr val="63CDF2"/>
                </a:solidFill>
                <a:latin typeface="Helvetica Neue"/>
                <a:ea typeface="Helvetica Neue"/>
                <a:cs typeface="Helvetica Neue"/>
              </a:rPr>
              <a:t>04</a:t>
            </a:r>
          </a:p>
        </p:txBody>
      </p:sp>
      <p:sp>
        <p:nvSpPr>
          <p:cNvPr id="17" name="text-40">
            <a:extLst xmlns:a="http://schemas.openxmlformats.org/drawingml/2006/main">
              <a:ext uri="{FF2B5EF4-FFF2-40B4-BE49-F238E27FC236}">
                <a16:creationId xmlns:a16="http://schemas.microsoft.com/office/drawing/2014/main" id="{D9D4EB92-6045-472C-8215-CC069D393EEE}"/>
              </a:ext>
            </a:extLst>
          </p:cNvPr>
          <p:cNvSpPr>
            <a:spLocks xmlns:a="http://schemas.openxmlformats.org/drawingml/2006/main" noGrp="1"/>
          </p:cNvSpPr>
          <p:nvPr/>
        </p:nvSpPr>
        <p:spPr>
          <a:xfrm xmlns:a="http://schemas.openxmlformats.org/drawingml/2006/main">
            <a:off x="7353300" y="3133725"/>
            <a:ext cx="20288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475" b="1">
                <a:solidFill>
                  <a:srgbClr val="F4F2EC"/>
                </a:solidFill>
                <a:latin typeface="Helvetica Neue"/>
                <a:ea typeface="Helvetica Neue"/>
                <a:cs typeface="Helvetica Neue"/>
              </a:defRPr>
            </a:pPr>
            <a:r>
              <a:rPr sz="2475" b="1">
                <a:solidFill>
                  <a:srgbClr val="F4F2EC"/>
                </a:solidFill>
                <a:latin typeface="Helvetica Neue"/>
                <a:ea typeface="Helvetica Neue"/>
                <a:cs typeface="Helvetica Neue"/>
              </a:rPr>
              <a:t>Produkt</a:t>
            </a:r>
          </a:p>
        </p:txBody>
      </p:sp>
      <p:sp>
        <p:nvSpPr>
          <p:cNvPr id="18" name="text-41">
            <a:extLst xmlns:a="http://schemas.openxmlformats.org/drawingml/2006/main">
              <a:ext uri="{FF2B5EF4-FFF2-40B4-BE49-F238E27FC236}">
                <a16:creationId xmlns:a16="http://schemas.microsoft.com/office/drawing/2014/main" id="{DCF71D80-E96B-47CE-A0F3-845EF06640E9}"/>
              </a:ext>
            </a:extLst>
          </p:cNvPr>
          <p:cNvSpPr>
            <a:spLocks xmlns:a="http://schemas.openxmlformats.org/drawingml/2006/main" noGrp="1"/>
          </p:cNvSpPr>
          <p:nvPr/>
        </p:nvSpPr>
        <p:spPr>
          <a:xfrm xmlns:a="http://schemas.openxmlformats.org/drawingml/2006/main">
            <a:off x="7353300" y="3829050"/>
            <a:ext cx="2000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0">
                <a:solidFill>
                  <a:srgbClr val="AEBFCB"/>
                </a:solidFill>
                <a:latin typeface="Helvetica Neue"/>
                <a:ea typeface="Helvetica Neue"/>
                <a:cs typeface="Helvetica Neue"/>
              </a:defRPr>
            </a:pPr>
            <a:r>
              <a:rPr sz="2025" b="0">
                <a:solidFill>
                  <a:srgbClr val="AEBFCB"/>
                </a:solidFill>
                <a:latin typeface="Helvetica Neue"/>
                <a:ea typeface="Helvetica Neue"/>
                <a:cs typeface="Helvetica Neue"/>
              </a:rPr>
              <a:t>PWA</a:t>
            </a:r>
          </a:p>
        </p:txBody>
      </p:sp>
      <p:sp>
        <p:nvSpPr>
          <p:cNvPr id="19" name="flow-42">
            <a:extLst xmlns:a="http://schemas.openxmlformats.org/drawingml/2006/main">
              <a:ext uri="{FF2B5EF4-FFF2-40B4-BE49-F238E27FC236}">
                <a16:creationId xmlns:a16="http://schemas.microsoft.com/office/drawing/2014/main" id="{3914368A-7418-49E8-814F-345EA5167464}"/>
              </a:ext>
            </a:extLst>
          </p:cNvPr>
          <p:cNvSpPr>
            <a:spLocks xmlns:a="http://schemas.openxmlformats.org/drawingml/2006/main" noGrp="1"/>
          </p:cNvSpPr>
          <p:nvPr/>
        </p:nvSpPr>
        <p:spPr>
          <a:xfrm xmlns:a="http://schemas.openxmlformats.org/drawingml/2006/main">
            <a:off x="9105900" y="2476500"/>
            <a:ext cx="30480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20" name="text-43">
            <a:extLst xmlns:a="http://schemas.openxmlformats.org/drawingml/2006/main">
              <a:ext uri="{FF2B5EF4-FFF2-40B4-BE49-F238E27FC236}">
                <a16:creationId xmlns:a16="http://schemas.microsoft.com/office/drawing/2014/main" id="{2FE91614-6E04-43F9-87F8-4A039903FD4C}"/>
              </a:ext>
            </a:extLst>
          </p:cNvPr>
          <p:cNvSpPr>
            <a:spLocks xmlns:a="http://schemas.openxmlformats.org/drawingml/2006/main" noGrp="1"/>
          </p:cNvSpPr>
          <p:nvPr/>
        </p:nvSpPr>
        <p:spPr>
          <a:xfrm xmlns:a="http://schemas.openxmlformats.org/drawingml/2006/main">
            <a:off x="9601200" y="2228850"/>
            <a:ext cx="171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650" b="1">
                <a:solidFill>
                  <a:srgbClr val="63CDF2"/>
                </a:solidFill>
                <a:latin typeface="Helvetica Neue"/>
                <a:ea typeface="Helvetica Neue"/>
                <a:cs typeface="Helvetica Neue"/>
              </a:defRPr>
            </a:pPr>
            <a:r>
              <a:rPr sz="4650" b="1">
                <a:solidFill>
                  <a:srgbClr val="63CDF2"/>
                </a:solidFill>
                <a:latin typeface="Helvetica Neue"/>
                <a:ea typeface="Helvetica Neue"/>
                <a:cs typeface="Helvetica Neue"/>
              </a:rPr>
              <a:t>05</a:t>
            </a:r>
          </a:p>
        </p:txBody>
      </p:sp>
      <p:sp>
        <p:nvSpPr>
          <p:cNvPr id="21" name="text-44">
            <a:extLst xmlns:a="http://schemas.openxmlformats.org/drawingml/2006/main">
              <a:ext uri="{FF2B5EF4-FFF2-40B4-BE49-F238E27FC236}">
                <a16:creationId xmlns:a16="http://schemas.microsoft.com/office/drawing/2014/main" id="{6170B71C-4118-42C4-ABD7-A4644C71D174}"/>
              </a:ext>
            </a:extLst>
          </p:cNvPr>
          <p:cNvSpPr>
            <a:spLocks xmlns:a="http://schemas.openxmlformats.org/drawingml/2006/main" noGrp="1"/>
          </p:cNvSpPr>
          <p:nvPr/>
        </p:nvSpPr>
        <p:spPr>
          <a:xfrm xmlns:a="http://schemas.openxmlformats.org/drawingml/2006/main">
            <a:off x="9601200" y="3133725"/>
            <a:ext cx="20288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475" b="1">
                <a:solidFill>
                  <a:srgbClr val="F4F2EC"/>
                </a:solidFill>
                <a:latin typeface="Helvetica Neue"/>
                <a:ea typeface="Helvetica Neue"/>
                <a:cs typeface="Helvetica Neue"/>
              </a:defRPr>
            </a:pPr>
            <a:r>
              <a:rPr sz="2475" b="1">
                <a:solidFill>
                  <a:srgbClr val="F4F2EC"/>
                </a:solidFill>
                <a:latin typeface="Helvetica Neue"/>
                <a:ea typeface="Helvetica Neue"/>
                <a:cs typeface="Helvetica Neue"/>
              </a:rPr>
              <a:t>Reflektim</a:t>
            </a:r>
          </a:p>
        </p:txBody>
      </p:sp>
      <p:sp>
        <p:nvSpPr>
          <p:cNvPr id="22" name="text-45">
            <a:extLst xmlns:a="http://schemas.openxmlformats.org/drawingml/2006/main">
              <a:ext uri="{FF2B5EF4-FFF2-40B4-BE49-F238E27FC236}">
                <a16:creationId xmlns:a16="http://schemas.microsoft.com/office/drawing/2014/main" id="{080660BE-5C23-40D4-9301-7B72C794D120}"/>
              </a:ext>
            </a:extLst>
          </p:cNvPr>
          <p:cNvSpPr>
            <a:spLocks xmlns:a="http://schemas.openxmlformats.org/drawingml/2006/main" noGrp="1"/>
          </p:cNvSpPr>
          <p:nvPr/>
        </p:nvSpPr>
        <p:spPr>
          <a:xfrm xmlns:a="http://schemas.openxmlformats.org/drawingml/2006/main">
            <a:off x="9601200" y="3829050"/>
            <a:ext cx="2000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0">
                <a:solidFill>
                  <a:srgbClr val="AEBFCB"/>
                </a:solidFill>
                <a:latin typeface="Helvetica Neue"/>
                <a:ea typeface="Helvetica Neue"/>
                <a:cs typeface="Helvetica Neue"/>
              </a:defRPr>
            </a:pPr>
            <a:r>
              <a:rPr sz="2025" b="0">
                <a:solidFill>
                  <a:srgbClr val="AEBFCB"/>
                </a:solidFill>
                <a:latin typeface="Helvetica Neue"/>
                <a:ea typeface="Helvetica Neue"/>
                <a:cs typeface="Helvetica Neue"/>
              </a:rPr>
              <a:t>Rezultat testi</a:t>
            </a:r>
          </a:p>
        </p:txBody>
      </p:sp>
      <p:sp>
        <p:nvSpPr>
          <p:cNvPr id="23" name="line-46">
            <a:extLst xmlns:a="http://schemas.openxmlformats.org/drawingml/2006/main">
              <a:ext uri="{FF2B5EF4-FFF2-40B4-BE49-F238E27FC236}">
                <a16:creationId xmlns:a16="http://schemas.microsoft.com/office/drawing/2014/main" id="{0B84E914-3D92-4FDB-A844-5068D86AF8DE}"/>
              </a:ext>
            </a:extLst>
          </p:cNvPr>
          <p:cNvSpPr>
            <a:spLocks xmlns:a="http://schemas.openxmlformats.org/drawingml/2006/main" noGrp="1"/>
          </p:cNvSpPr>
          <p:nvPr/>
        </p:nvSpPr>
        <p:spPr>
          <a:xfrm xmlns:a="http://schemas.openxmlformats.org/drawingml/2006/main">
            <a:off x="1047750" y="4991100"/>
            <a:ext cx="9715500" cy="0"/>
          </a:xfrm>
          <a:prstGeom xmlns:a="http://schemas.openxmlformats.org/drawingml/2006/main" prst="line">
            <a:avLst/>
          </a:prstGeom>
          <a:noFill xmlns:a="http://schemas.openxmlformats.org/drawingml/2006/main"/>
          <a:ln xmlns:a="http://schemas.openxmlformats.org/drawingml/2006/main" w="19050">
            <a:solidFill>
              <a:srgbClr val="3E5769"/>
            </a:solidFill>
          </a:ln>
        </p:spPr>
      </p:sp>
      <p:sp>
        <p:nvSpPr>
          <p:cNvPr id="24" name="text-47">
            <a:extLst xmlns:a="http://schemas.openxmlformats.org/drawingml/2006/main">
              <a:ext uri="{FF2B5EF4-FFF2-40B4-BE49-F238E27FC236}">
                <a16:creationId xmlns:a16="http://schemas.microsoft.com/office/drawing/2014/main" id="{94C0D4B0-0141-4BDC-B11E-BC2E9766AC56}"/>
              </a:ext>
            </a:extLst>
          </p:cNvPr>
          <p:cNvSpPr>
            <a:spLocks xmlns:a="http://schemas.openxmlformats.org/drawingml/2006/main" noGrp="1"/>
          </p:cNvSpPr>
          <p:nvPr/>
        </p:nvSpPr>
        <p:spPr>
          <a:xfrm xmlns:a="http://schemas.openxmlformats.org/drawingml/2006/main">
            <a:off x="2743200" y="5143500"/>
            <a:ext cx="714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325" b="0">
                <a:solidFill>
                  <a:srgbClr val="F2BB66"/>
                </a:solidFill>
                <a:latin typeface="Helvetica Neue"/>
                <a:ea typeface="Helvetica Neue"/>
                <a:cs typeface="Helvetica Neue"/>
              </a:defRPr>
            </a:pPr>
            <a:r>
              <a:rPr sz="2325" b="0">
                <a:solidFill>
                  <a:srgbClr val="F2BB66"/>
                </a:solidFill>
                <a:latin typeface="Helvetica Neue"/>
                <a:ea typeface="Helvetica Neue"/>
                <a:cs typeface="Helvetica Neue"/>
              </a:rPr>
              <a:t>Reflektimi e ndryshon hipotezën</a:t>
            </a:r>
          </a:p>
        </p:txBody>
      </p:sp>
      <p:sp>
        <p:nvSpPr>
          <p:cNvPr id="25" name="text-48">
            <a:extLst xmlns:a="http://schemas.openxmlformats.org/drawingml/2006/main">
              <a:ext uri="{FF2B5EF4-FFF2-40B4-BE49-F238E27FC236}">
                <a16:creationId xmlns:a16="http://schemas.microsoft.com/office/drawing/2014/main" id="{797A225A-460F-4292-8644-31D5EF896A0C}"/>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Çfarë prove keni përtej miratimit verbal?</a:t>
            </a:r>
          </a:p>
        </p:txBody>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51bef60c1719491a"/>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158194432"/>
      </p:ext>
    </p:extLst>
  </p:cSld>
</p:sld>
</file>

<file path=ppt/slides/slide12.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0" name="text-49">
            <a:extLst xmlns:a="http://schemas.openxmlformats.org/drawingml/2006/main">
              <a:ext uri="{FF2B5EF4-FFF2-40B4-BE49-F238E27FC236}">
                <a16:creationId xmlns:a16="http://schemas.microsoft.com/office/drawing/2014/main" id="{E61FD0F5-FEB8-44E2-ABF7-C4C3C41C83EE}"/>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PROBLEMI REAL</a:t>
            </a:r>
          </a:p>
        </p:txBody>
      </p:sp>
      <p:sp>
        <p:nvSpPr>
          <p:cNvPr id="2" name="text-50">
            <a:extLst xmlns:a="http://schemas.openxmlformats.org/drawingml/2006/main">
              <a:ext uri="{FF2B5EF4-FFF2-40B4-BE49-F238E27FC236}">
                <a16:creationId xmlns:a16="http://schemas.microsoft.com/office/drawing/2014/main" id="{C3954DDF-F3CD-472F-9DFE-F8188A61B98B}"/>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12</a:t>
            </a:r>
          </a:p>
        </p:txBody>
      </p:sp>
      <p:sp>
        <p:nvSpPr>
          <p:cNvPr id="3" name="text-51">
            <a:extLst xmlns:a="http://schemas.openxmlformats.org/drawingml/2006/main">
              <a:ext uri="{FF2B5EF4-FFF2-40B4-BE49-F238E27FC236}">
                <a16:creationId xmlns:a16="http://schemas.microsoft.com/office/drawing/2014/main" id="{3A76D888-B480-4009-B336-46AC290A0299}"/>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07:20. Ende pa konfirmim</a:t>
            </a:r>
          </a:p>
        </p:txBody>
      </p:sp>
      <p:sp>
        <p:nvSpPr>
          <p:cNvPr id="4" name="surface-52">
            <a:extLst xmlns:a="http://schemas.openxmlformats.org/drawingml/2006/main">
              <a:ext uri="{FF2B5EF4-FFF2-40B4-BE49-F238E27FC236}">
                <a16:creationId xmlns:a16="http://schemas.microsoft.com/office/drawing/2014/main" id="{E7D6A94D-56E6-4904-B424-6C6A2C0E74AC}"/>
              </a:ext>
            </a:extLst>
          </p:cNvPr>
          <p:cNvSpPr>
            <a:spLocks xmlns:a="http://schemas.openxmlformats.org/drawingml/2006/main" noGrp="1"/>
          </p:cNvSpPr>
          <p:nvPr/>
        </p:nvSpPr>
        <p:spPr>
          <a:xfrm xmlns:a="http://schemas.openxmlformats.org/drawingml/2006/main">
            <a:off x="762000" y="2352675"/>
            <a:ext cx="2762250" cy="857250"/>
          </a:xfrm>
          <a:prstGeom xmlns:a="http://schemas.openxmlformats.org/drawingml/2006/main" prst="roundRect">
            <a:avLst>
              <a:gd name="adj" fmla="val 11111"/>
            </a:avLst>
          </a:prstGeom>
          <a:solidFill xmlns:a="http://schemas.openxmlformats.org/drawingml/2006/main">
            <a:srgbClr val="192732"/>
          </a:solidFill>
          <a:ln xmlns:a="http://schemas.openxmlformats.org/drawingml/2006/main" w="19050">
            <a:solidFill>
              <a:srgbClr val="63CDF2"/>
            </a:solidFill>
          </a:ln>
        </p:spPr>
      </p:sp>
      <p:sp>
        <p:nvSpPr>
          <p:cNvPr id="5" name="text-53">
            <a:extLst xmlns:a="http://schemas.openxmlformats.org/drawingml/2006/main">
              <a:ext uri="{FF2B5EF4-FFF2-40B4-BE49-F238E27FC236}">
                <a16:creationId xmlns:a16="http://schemas.microsoft.com/office/drawing/2014/main" id="{3110AED8-C651-4E46-981C-FFDF396E0FFA}"/>
              </a:ext>
            </a:extLst>
          </p:cNvPr>
          <p:cNvSpPr>
            <a:spLocks xmlns:a="http://schemas.openxmlformats.org/drawingml/2006/main" noGrp="1"/>
          </p:cNvSpPr>
          <p:nvPr/>
        </p:nvSpPr>
        <p:spPr>
          <a:xfrm xmlns:a="http://schemas.openxmlformats.org/drawingml/2006/main">
            <a:off x="876300" y="2428875"/>
            <a:ext cx="25336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63CDF2"/>
                </a:solidFill>
                <a:latin typeface="Helvetica Neue"/>
                <a:ea typeface="Helvetica Neue"/>
                <a:cs typeface="Helvetica Neue"/>
              </a:defRPr>
            </a:pPr>
            <a:r>
              <a:rPr sz="2250" b="1">
                <a:solidFill>
                  <a:srgbClr val="63CDF2"/>
                </a:solidFill>
                <a:latin typeface="Helvetica Neue"/>
                <a:ea typeface="Helvetica Neue"/>
                <a:cs typeface="Helvetica Neue"/>
              </a:rPr>
              <a:t>Prishtinë</a:t>
            </a:r>
          </a:p>
        </p:txBody>
      </p:sp>
      <p:sp>
        <p:nvSpPr>
          <p:cNvPr id="6" name="surface-54">
            <a:extLst xmlns:a="http://schemas.openxmlformats.org/drawingml/2006/main">
              <a:ext uri="{FF2B5EF4-FFF2-40B4-BE49-F238E27FC236}">
                <a16:creationId xmlns:a16="http://schemas.microsoft.com/office/drawing/2014/main" id="{9CFB092D-12A1-4E3D-B669-3B156FCFD9EB}"/>
              </a:ext>
            </a:extLst>
          </p:cNvPr>
          <p:cNvSpPr>
            <a:spLocks xmlns:a="http://schemas.openxmlformats.org/drawingml/2006/main" noGrp="1"/>
          </p:cNvSpPr>
          <p:nvPr/>
        </p:nvSpPr>
        <p:spPr>
          <a:xfrm xmlns:a="http://schemas.openxmlformats.org/drawingml/2006/main">
            <a:off x="4695825" y="2352675"/>
            <a:ext cx="2762250" cy="857250"/>
          </a:xfrm>
          <a:prstGeom xmlns:a="http://schemas.openxmlformats.org/drawingml/2006/main" prst="roundRect">
            <a:avLst>
              <a:gd name="adj" fmla="val 11111"/>
            </a:avLst>
          </a:prstGeom>
          <a:solidFill xmlns:a="http://schemas.openxmlformats.org/drawingml/2006/main">
            <a:srgbClr val="192732"/>
          </a:solidFill>
          <a:ln xmlns:a="http://schemas.openxmlformats.org/drawingml/2006/main" w="19050">
            <a:solidFill>
              <a:srgbClr val="63CDF2"/>
            </a:solidFill>
          </a:ln>
        </p:spPr>
      </p:sp>
      <p:sp>
        <p:nvSpPr>
          <p:cNvPr id="7" name="text-55">
            <a:extLst xmlns:a="http://schemas.openxmlformats.org/drawingml/2006/main">
              <a:ext uri="{FF2B5EF4-FFF2-40B4-BE49-F238E27FC236}">
                <a16:creationId xmlns:a16="http://schemas.microsoft.com/office/drawing/2014/main" id="{929575EC-3375-46B7-8DA2-13283BD7381A}"/>
              </a:ext>
            </a:extLst>
          </p:cNvPr>
          <p:cNvSpPr>
            <a:spLocks xmlns:a="http://schemas.openxmlformats.org/drawingml/2006/main" noGrp="1"/>
          </p:cNvSpPr>
          <p:nvPr/>
        </p:nvSpPr>
        <p:spPr>
          <a:xfrm xmlns:a="http://schemas.openxmlformats.org/drawingml/2006/main">
            <a:off x="4810125" y="2428875"/>
            <a:ext cx="25336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63CDF2"/>
                </a:solidFill>
                <a:latin typeface="Helvetica Neue"/>
                <a:ea typeface="Helvetica Neue"/>
                <a:cs typeface="Helvetica Neue"/>
              </a:defRPr>
            </a:pPr>
            <a:r>
              <a:rPr sz="2250" b="1">
                <a:solidFill>
                  <a:srgbClr val="63CDF2"/>
                </a:solidFill>
                <a:latin typeface="Helvetica Neue"/>
                <a:ea typeface="Helvetica Neue"/>
                <a:cs typeface="Helvetica Neue"/>
              </a:rPr>
              <a:t>Fushë Kosovë</a:t>
            </a:r>
          </a:p>
        </p:txBody>
      </p:sp>
      <p:sp>
        <p:nvSpPr>
          <p:cNvPr id="8" name="surface-56">
            <a:extLst xmlns:a="http://schemas.openxmlformats.org/drawingml/2006/main">
              <a:ext uri="{FF2B5EF4-FFF2-40B4-BE49-F238E27FC236}">
                <a16:creationId xmlns:a16="http://schemas.microsoft.com/office/drawing/2014/main" id="{7395B108-A0CF-4115-B59A-7B5339491542}"/>
              </a:ext>
            </a:extLst>
          </p:cNvPr>
          <p:cNvSpPr>
            <a:spLocks xmlns:a="http://schemas.openxmlformats.org/drawingml/2006/main" noGrp="1"/>
          </p:cNvSpPr>
          <p:nvPr/>
        </p:nvSpPr>
        <p:spPr>
          <a:xfrm xmlns:a="http://schemas.openxmlformats.org/drawingml/2006/main">
            <a:off x="8620125" y="2352675"/>
            <a:ext cx="2762250" cy="857250"/>
          </a:xfrm>
          <a:prstGeom xmlns:a="http://schemas.openxmlformats.org/drawingml/2006/main" prst="roundRect">
            <a:avLst>
              <a:gd name="adj" fmla="val 11111"/>
            </a:avLst>
          </a:prstGeom>
          <a:solidFill xmlns:a="http://schemas.openxmlformats.org/drawingml/2006/main">
            <a:srgbClr val="192732"/>
          </a:solidFill>
          <a:ln xmlns:a="http://schemas.openxmlformats.org/drawingml/2006/main" w="19050">
            <a:solidFill>
              <a:srgbClr val="63CDF2"/>
            </a:solidFill>
          </a:ln>
        </p:spPr>
      </p:sp>
      <p:sp>
        <p:nvSpPr>
          <p:cNvPr id="9" name="text-57">
            <a:extLst xmlns:a="http://schemas.openxmlformats.org/drawingml/2006/main">
              <a:ext uri="{FF2B5EF4-FFF2-40B4-BE49-F238E27FC236}">
                <a16:creationId xmlns:a16="http://schemas.microsoft.com/office/drawing/2014/main" id="{2AC9A88F-9B53-4AC7-9609-F7E8B105168D}"/>
              </a:ext>
            </a:extLst>
          </p:cNvPr>
          <p:cNvSpPr>
            <a:spLocks xmlns:a="http://schemas.openxmlformats.org/drawingml/2006/main" noGrp="1"/>
          </p:cNvSpPr>
          <p:nvPr/>
        </p:nvSpPr>
        <p:spPr>
          <a:xfrm xmlns:a="http://schemas.openxmlformats.org/drawingml/2006/main">
            <a:off x="8734425" y="2428875"/>
            <a:ext cx="25336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63CDF2"/>
                </a:solidFill>
                <a:latin typeface="Helvetica Neue"/>
                <a:ea typeface="Helvetica Neue"/>
                <a:cs typeface="Helvetica Neue"/>
              </a:defRPr>
            </a:pPr>
            <a:r>
              <a:rPr sz="2250" b="1">
                <a:solidFill>
                  <a:srgbClr val="63CDF2"/>
                </a:solidFill>
                <a:latin typeface="Helvetica Neue"/>
                <a:ea typeface="Helvetica Neue"/>
                <a:cs typeface="Helvetica Neue"/>
              </a:rPr>
              <a:t>Kampus</a:t>
            </a:r>
          </a:p>
        </p:txBody>
      </p:sp>
      <p:sp>
        <p:nvSpPr>
          <p:cNvPr id="10" name="flow-58">
            <a:extLst xmlns:a="http://schemas.openxmlformats.org/drawingml/2006/main">
              <a:ext uri="{FF2B5EF4-FFF2-40B4-BE49-F238E27FC236}">
                <a16:creationId xmlns:a16="http://schemas.microsoft.com/office/drawing/2014/main" id="{F9340881-8688-4C9A-8E49-F09CA9B606F9}"/>
              </a:ext>
            </a:extLst>
          </p:cNvPr>
          <p:cNvSpPr>
            <a:spLocks xmlns:a="http://schemas.openxmlformats.org/drawingml/2006/main" noGrp="1"/>
          </p:cNvSpPr>
          <p:nvPr/>
        </p:nvSpPr>
        <p:spPr>
          <a:xfrm xmlns:a="http://schemas.openxmlformats.org/drawingml/2006/main">
            <a:off x="3752850" y="2695575"/>
            <a:ext cx="695325"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1" name="flow-59">
            <a:extLst xmlns:a="http://schemas.openxmlformats.org/drawingml/2006/main">
              <a:ext uri="{FF2B5EF4-FFF2-40B4-BE49-F238E27FC236}">
                <a16:creationId xmlns:a16="http://schemas.microsoft.com/office/drawing/2014/main" id="{8E83523C-00A2-40E1-912E-86FF8EDCC95C}"/>
              </a:ext>
            </a:extLst>
          </p:cNvPr>
          <p:cNvSpPr>
            <a:spLocks xmlns:a="http://schemas.openxmlformats.org/drawingml/2006/main" noGrp="1"/>
          </p:cNvSpPr>
          <p:nvPr/>
        </p:nvSpPr>
        <p:spPr>
          <a:xfrm xmlns:a="http://schemas.openxmlformats.org/drawingml/2006/main">
            <a:off x="7686675" y="2695575"/>
            <a:ext cx="695325"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2" name="text-60">
            <a:extLst xmlns:a="http://schemas.openxmlformats.org/drawingml/2006/main">
              <a:ext uri="{FF2B5EF4-FFF2-40B4-BE49-F238E27FC236}">
                <a16:creationId xmlns:a16="http://schemas.microsoft.com/office/drawing/2014/main" id="{28827419-D217-4DE8-81B6-0AB1653AF9A0}"/>
              </a:ext>
            </a:extLst>
          </p:cNvPr>
          <p:cNvSpPr>
            <a:spLocks xmlns:a="http://schemas.openxmlformats.org/drawingml/2006/main" noGrp="1"/>
          </p:cNvSpPr>
          <p:nvPr/>
        </p:nvSpPr>
        <p:spPr>
          <a:xfrm xmlns:a="http://schemas.openxmlformats.org/drawingml/2006/main">
            <a:off x="781050" y="4029075"/>
            <a:ext cx="1952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325" b="0">
                <a:solidFill>
                  <a:srgbClr val="AEBFCB"/>
                </a:solidFill>
                <a:latin typeface="Helvetica Neue"/>
                <a:ea typeface="Helvetica Neue"/>
                <a:cs typeface="Helvetica Neue"/>
              </a:defRPr>
            </a:pPr>
            <a:r>
              <a:rPr sz="2325" b="0">
                <a:solidFill>
                  <a:srgbClr val="AEBFCB"/>
                </a:solidFill>
                <a:latin typeface="Helvetica Neue"/>
                <a:ea typeface="Helvetica Neue"/>
                <a:cs typeface="Helvetica Neue"/>
              </a:rPr>
              <a:t>Kërkim</a:t>
            </a:r>
          </a:p>
        </p:txBody>
      </p:sp>
      <p:sp>
        <p:nvSpPr>
          <p:cNvPr id="13" name="text-61">
            <a:extLst xmlns:a="http://schemas.openxmlformats.org/drawingml/2006/main">
              <a:ext uri="{FF2B5EF4-FFF2-40B4-BE49-F238E27FC236}">
                <a16:creationId xmlns:a16="http://schemas.microsoft.com/office/drawing/2014/main" id="{93B740C8-6399-463F-98EB-826D1BB7A3AB}"/>
              </a:ext>
            </a:extLst>
          </p:cNvPr>
          <p:cNvSpPr>
            <a:spLocks xmlns:a="http://schemas.openxmlformats.org/drawingml/2006/main" noGrp="1"/>
          </p:cNvSpPr>
          <p:nvPr/>
        </p:nvSpPr>
        <p:spPr>
          <a:xfrm xmlns:a="http://schemas.openxmlformats.org/drawingml/2006/main">
            <a:off x="3324225" y="4029075"/>
            <a:ext cx="1952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325" b="0">
                <a:solidFill>
                  <a:srgbClr val="AEBFCB"/>
                </a:solidFill>
                <a:latin typeface="Helvetica Neue"/>
                <a:ea typeface="Helvetica Neue"/>
                <a:cs typeface="Helvetica Neue"/>
              </a:defRPr>
            </a:pPr>
            <a:r>
              <a:rPr sz="2325" b="0">
                <a:solidFill>
                  <a:srgbClr val="AEBFCB"/>
                </a:solidFill>
                <a:latin typeface="Helvetica Neue"/>
                <a:ea typeface="Helvetica Neue"/>
                <a:cs typeface="Helvetica Neue"/>
              </a:rPr>
              <a:t>Mesazh</a:t>
            </a:r>
          </a:p>
        </p:txBody>
      </p:sp>
      <p:sp>
        <p:nvSpPr>
          <p:cNvPr id="14" name="text-62">
            <a:extLst xmlns:a="http://schemas.openxmlformats.org/drawingml/2006/main">
              <a:ext uri="{FF2B5EF4-FFF2-40B4-BE49-F238E27FC236}">
                <a16:creationId xmlns:a16="http://schemas.microsoft.com/office/drawing/2014/main" id="{98D08A6B-75BB-4987-9C46-4E67803600E8}"/>
              </a:ext>
            </a:extLst>
          </p:cNvPr>
          <p:cNvSpPr>
            <a:spLocks xmlns:a="http://schemas.openxmlformats.org/drawingml/2006/main" noGrp="1"/>
          </p:cNvSpPr>
          <p:nvPr/>
        </p:nvSpPr>
        <p:spPr>
          <a:xfrm xmlns:a="http://schemas.openxmlformats.org/drawingml/2006/main">
            <a:off x="5867400" y="4029075"/>
            <a:ext cx="1952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1">
                <a:solidFill>
                  <a:srgbClr val="F2BB66"/>
                </a:solidFill>
                <a:latin typeface="Helvetica Neue"/>
                <a:ea typeface="Helvetica Neue"/>
                <a:cs typeface="Helvetica Neue"/>
              </a:defRPr>
            </a:pPr>
            <a:r>
              <a:rPr sz="2550" b="1">
                <a:solidFill>
                  <a:srgbClr val="F2BB66"/>
                </a:solidFill>
                <a:latin typeface="Helvetica Neue"/>
                <a:ea typeface="Helvetica Neue"/>
                <a:cs typeface="Helvetica Neue"/>
              </a:rPr>
              <a:t>Pritje</a:t>
            </a:r>
          </a:p>
        </p:txBody>
      </p:sp>
      <p:sp>
        <p:nvSpPr>
          <p:cNvPr id="15" name="text-63">
            <a:extLst xmlns:a="http://schemas.openxmlformats.org/drawingml/2006/main">
              <a:ext uri="{FF2B5EF4-FFF2-40B4-BE49-F238E27FC236}">
                <a16:creationId xmlns:a16="http://schemas.microsoft.com/office/drawing/2014/main" id="{F8FE7FCD-AFD9-4C2C-BEBE-B0C09C7743F1}"/>
              </a:ext>
            </a:extLst>
          </p:cNvPr>
          <p:cNvSpPr>
            <a:spLocks xmlns:a="http://schemas.openxmlformats.org/drawingml/2006/main" noGrp="1"/>
          </p:cNvSpPr>
          <p:nvPr/>
        </p:nvSpPr>
        <p:spPr>
          <a:xfrm xmlns:a="http://schemas.openxmlformats.org/drawingml/2006/main">
            <a:off x="9439275" y="4029075"/>
            <a:ext cx="1952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325" b="0">
                <a:solidFill>
                  <a:srgbClr val="AEBFCB"/>
                </a:solidFill>
                <a:latin typeface="Helvetica Neue"/>
                <a:ea typeface="Helvetica Neue"/>
                <a:cs typeface="Helvetica Neue"/>
              </a:defRPr>
            </a:pPr>
            <a:r>
              <a:rPr sz="2325" b="0">
                <a:solidFill>
                  <a:srgbClr val="AEBFCB"/>
                </a:solidFill>
                <a:latin typeface="Helvetica Neue"/>
                <a:ea typeface="Helvetica Neue"/>
                <a:cs typeface="Helvetica Neue"/>
              </a:rPr>
              <a:t>Nisje</a:t>
            </a:r>
          </a:p>
        </p:txBody>
      </p:sp>
      <p:sp>
        <p:nvSpPr>
          <p:cNvPr id="16" name="line-64">
            <a:extLst xmlns:a="http://schemas.openxmlformats.org/drawingml/2006/main">
              <a:ext uri="{FF2B5EF4-FFF2-40B4-BE49-F238E27FC236}">
                <a16:creationId xmlns:a16="http://schemas.microsoft.com/office/drawing/2014/main" id="{55ACBCB8-E888-408C-BCA9-A0D956E692A5}"/>
              </a:ext>
            </a:extLst>
          </p:cNvPr>
          <p:cNvSpPr>
            <a:spLocks xmlns:a="http://schemas.openxmlformats.org/drawingml/2006/main" noGrp="1"/>
          </p:cNvSpPr>
          <p:nvPr/>
        </p:nvSpPr>
        <p:spPr>
          <a:xfrm xmlns:a="http://schemas.openxmlformats.org/drawingml/2006/main">
            <a:off x="809625" y="4686300"/>
            <a:ext cx="10572750" cy="0"/>
          </a:xfrm>
          <a:prstGeom xmlns:a="http://schemas.openxmlformats.org/drawingml/2006/main" prst="line">
            <a:avLst/>
          </a:prstGeom>
          <a:noFill xmlns:a="http://schemas.openxmlformats.org/drawingml/2006/main"/>
          <a:ln xmlns:a="http://schemas.openxmlformats.org/drawingml/2006/main" w="28575">
            <a:solidFill>
              <a:srgbClr val="3E5769"/>
            </a:solidFill>
          </a:ln>
        </p:spPr>
      </p:sp>
      <p:sp>
        <p:nvSpPr>
          <p:cNvPr id="17" name="line-65">
            <a:extLst xmlns:a="http://schemas.openxmlformats.org/drawingml/2006/main">
              <a:ext uri="{FF2B5EF4-FFF2-40B4-BE49-F238E27FC236}">
                <a16:creationId xmlns:a16="http://schemas.microsoft.com/office/drawing/2014/main" id="{1E901CF4-8AEC-4704-992A-6B7415174D9D}"/>
              </a:ext>
            </a:extLst>
          </p:cNvPr>
          <p:cNvSpPr>
            <a:spLocks xmlns:a="http://schemas.openxmlformats.org/drawingml/2006/main" noGrp="1"/>
          </p:cNvSpPr>
          <p:nvPr/>
        </p:nvSpPr>
        <p:spPr>
          <a:xfrm xmlns:a="http://schemas.openxmlformats.org/drawingml/2006/main">
            <a:off x="5867400" y="4686300"/>
            <a:ext cx="2857500" cy="0"/>
          </a:xfrm>
          <a:prstGeom xmlns:a="http://schemas.openxmlformats.org/drawingml/2006/main" prst="line">
            <a:avLst/>
          </a:prstGeom>
          <a:noFill xmlns:a="http://schemas.openxmlformats.org/drawingml/2006/main"/>
          <a:ln xmlns:a="http://schemas.openxmlformats.org/drawingml/2006/main" w="66675">
            <a:solidFill>
              <a:srgbClr val="F2BB66"/>
            </a:solidFill>
          </a:ln>
        </p:spPr>
      </p:sp>
      <p:sp>
        <p:nvSpPr>
          <p:cNvPr id="18" name="text-66">
            <a:extLst xmlns:a="http://schemas.openxmlformats.org/drawingml/2006/main">
              <a:ext uri="{FF2B5EF4-FFF2-40B4-BE49-F238E27FC236}">
                <a16:creationId xmlns:a16="http://schemas.microsoft.com/office/drawing/2014/main" id="{6EFB1BB2-95E2-490F-921B-C58BDD6205AF}"/>
              </a:ext>
            </a:extLst>
          </p:cNvPr>
          <p:cNvSpPr>
            <a:spLocks xmlns:a="http://schemas.openxmlformats.org/drawingml/2006/main" noGrp="1"/>
          </p:cNvSpPr>
          <p:nvPr/>
        </p:nvSpPr>
        <p:spPr>
          <a:xfrm xmlns:a="http://schemas.openxmlformats.org/drawingml/2006/main">
            <a:off x="762000" y="5057775"/>
            <a:ext cx="10001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000" b="1">
                <a:solidFill>
                  <a:srgbClr val="F4F2EC"/>
                </a:solidFill>
                <a:latin typeface="Helvetica Neue"/>
                <a:ea typeface="Helvetica Neue"/>
                <a:cs typeface="Helvetica Neue"/>
              </a:defRPr>
            </a:pPr>
            <a:r>
              <a:rPr sz="3000" b="1">
                <a:solidFill>
                  <a:srgbClr val="F4F2EC"/>
                </a:solidFill>
                <a:latin typeface="Helvetica Neue"/>
                <a:ea typeface="Helvetica Neue"/>
                <a:cs typeface="Helvetica Neue"/>
              </a:rPr>
              <a:t>Pasiguria ka kosto</a:t>
            </a:r>
          </a:p>
        </p:txBody>
      </p:sp>
      <p:sp>
        <p:nvSpPr>
          <p:cNvPr id="19" name="text-67">
            <a:extLst xmlns:a="http://schemas.openxmlformats.org/drawingml/2006/main">
              <a:ext uri="{FF2B5EF4-FFF2-40B4-BE49-F238E27FC236}">
                <a16:creationId xmlns:a16="http://schemas.microsoft.com/office/drawing/2014/main" id="{85362BBD-01FE-490A-BFFE-448030958D63}"/>
              </a:ext>
            </a:extLst>
          </p:cNvPr>
          <p:cNvSpPr>
            <a:spLocks xmlns:a="http://schemas.openxmlformats.org/drawingml/2006/main" noGrp="1"/>
          </p:cNvSpPr>
          <p:nvPr/>
        </p:nvSpPr>
        <p:spPr>
          <a:xfrm xmlns:a="http://schemas.openxmlformats.org/drawingml/2006/main">
            <a:off x="609600" y="596265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950" b="0">
                <a:solidFill>
                  <a:srgbClr val="AEBFCB"/>
                </a:solidFill>
                <a:latin typeface="Helvetica Neue"/>
                <a:ea typeface="Helvetica Neue"/>
                <a:cs typeface="Helvetica Neue"/>
              </a:defRPr>
            </a:pPr>
            <a:r>
              <a:rPr sz="1950" b="0">
                <a:solidFill>
                  <a:srgbClr val="AEBFCB"/>
                </a:solidFill>
                <a:latin typeface="Helvetica Neue"/>
                <a:ea typeface="Helvetica Neue"/>
                <a:cs typeface="Helvetica Neue"/>
              </a:rPr>
              <a:t>Situatë ilustruese. Skemë konceptuale, jo hartë navigimi.</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968fcfa1e2c24eaf"/>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245975416"/>
      </p:ext>
    </p:extLst>
  </p:cSld>
</p:sld>
</file>

<file path=ppt/slides/slide13.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1" name="text-68">
            <a:extLst xmlns:a="http://schemas.openxmlformats.org/drawingml/2006/main">
              <a:ext uri="{FF2B5EF4-FFF2-40B4-BE49-F238E27FC236}">
                <a16:creationId xmlns:a16="http://schemas.microsoft.com/office/drawing/2014/main" id="{EDB0510B-029B-46EE-88BD-C6F5E9D0E0D1}"/>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PROBLEMI REAL</a:t>
            </a:r>
          </a:p>
        </p:txBody>
      </p:sp>
      <p:sp>
        <p:nvSpPr>
          <p:cNvPr id="2" name="text-69">
            <a:extLst xmlns:a="http://schemas.openxmlformats.org/drawingml/2006/main">
              <a:ext uri="{FF2B5EF4-FFF2-40B4-BE49-F238E27FC236}">
                <a16:creationId xmlns:a16="http://schemas.microsoft.com/office/drawing/2014/main" id="{2F6595EC-652B-4B05-94B8-C632E42C4826}"/>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13</a:t>
            </a:r>
          </a:p>
        </p:txBody>
      </p:sp>
      <p:sp>
        <p:nvSpPr>
          <p:cNvPr id="3" name="text-70">
            <a:extLst xmlns:a="http://schemas.openxmlformats.org/drawingml/2006/main">
              <a:ext uri="{FF2B5EF4-FFF2-40B4-BE49-F238E27FC236}">
                <a16:creationId xmlns:a16="http://schemas.microsoft.com/office/drawing/2014/main" id="{8B422802-5174-4807-B6AE-58F91B150EB0}"/>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Mesazhi nuk është rezervim</a:t>
            </a:r>
          </a:p>
        </p:txBody>
      </p:sp>
      <p:sp>
        <p:nvSpPr>
          <p:cNvPr id="4" name="text-71">
            <a:extLst xmlns:a="http://schemas.openxmlformats.org/drawingml/2006/main">
              <a:ext uri="{FF2B5EF4-FFF2-40B4-BE49-F238E27FC236}">
                <a16:creationId xmlns:a16="http://schemas.microsoft.com/office/drawing/2014/main" id="{97C2B32F-8BC2-43E8-85B0-E933F8E28833}"/>
              </a:ext>
            </a:extLst>
          </p:cNvPr>
          <p:cNvSpPr>
            <a:spLocks xmlns:a="http://schemas.openxmlformats.org/drawingml/2006/main" noGrp="1"/>
          </p:cNvSpPr>
          <p:nvPr/>
        </p:nvSpPr>
        <p:spPr>
          <a:xfrm xmlns:a="http://schemas.openxmlformats.org/drawingml/2006/main">
            <a:off x="704850" y="1952625"/>
            <a:ext cx="447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0">
                <a:solidFill>
                  <a:srgbClr val="AEBFCB"/>
                </a:solidFill>
                <a:latin typeface="Helvetica Neue"/>
                <a:ea typeface="Helvetica Neue"/>
                <a:cs typeface="Helvetica Neue"/>
              </a:defRPr>
            </a:pPr>
            <a:r>
              <a:rPr sz="2025" b="0">
                <a:solidFill>
                  <a:srgbClr val="AEBFCB"/>
                </a:solidFill>
                <a:latin typeface="Helvetica Neue"/>
                <a:ea typeface="Helvetica Neue"/>
                <a:cs typeface="Helvetica Neue"/>
              </a:rPr>
              <a:t>Biseda</a:t>
            </a:r>
          </a:p>
        </p:txBody>
      </p:sp>
      <p:sp>
        <p:nvSpPr>
          <p:cNvPr id="5" name="surface-72">
            <a:extLst xmlns:a="http://schemas.openxmlformats.org/drawingml/2006/main">
              <a:ext uri="{FF2B5EF4-FFF2-40B4-BE49-F238E27FC236}">
                <a16:creationId xmlns:a16="http://schemas.microsoft.com/office/drawing/2014/main" id="{EF75E082-96CF-4203-A609-27FA2D2A938C}"/>
              </a:ext>
            </a:extLst>
          </p:cNvPr>
          <p:cNvSpPr>
            <a:spLocks xmlns:a="http://schemas.openxmlformats.org/drawingml/2006/main" noGrp="1"/>
          </p:cNvSpPr>
          <p:nvPr/>
        </p:nvSpPr>
        <p:spPr>
          <a:xfrm xmlns:a="http://schemas.openxmlformats.org/drawingml/2006/main">
            <a:off x="704850" y="2543175"/>
            <a:ext cx="4048125" cy="514350"/>
          </a:xfrm>
          <a:prstGeom xmlns:a="http://schemas.openxmlformats.org/drawingml/2006/main" prst="roundRect">
            <a:avLst>
              <a:gd name="adj" fmla="val 16667"/>
            </a:avLst>
          </a:prstGeom>
          <a:solidFill xmlns:a="http://schemas.openxmlformats.org/drawingml/2006/main">
            <a:srgbClr val="243541"/>
          </a:solidFill>
          <a:ln xmlns:a="http://schemas.openxmlformats.org/drawingml/2006/main" w="0">
            <a:noFill/>
          </a:ln>
        </p:spPr>
      </p:sp>
      <p:sp>
        <p:nvSpPr>
          <p:cNvPr id="6" name="text-73">
            <a:extLst xmlns:a="http://schemas.openxmlformats.org/drawingml/2006/main">
              <a:ext uri="{FF2B5EF4-FFF2-40B4-BE49-F238E27FC236}">
                <a16:creationId xmlns:a16="http://schemas.microsoft.com/office/drawing/2014/main" id="{71C59393-35A2-4A90-9E1E-A79312E14FB2}"/>
              </a:ext>
            </a:extLst>
          </p:cNvPr>
          <p:cNvSpPr>
            <a:spLocks xmlns:a="http://schemas.openxmlformats.org/drawingml/2006/main" noGrp="1"/>
          </p:cNvSpPr>
          <p:nvPr/>
        </p:nvSpPr>
        <p:spPr>
          <a:xfrm xmlns:a="http://schemas.openxmlformats.org/drawingml/2006/main">
            <a:off x="885825" y="2590800"/>
            <a:ext cx="3667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F4F2EC"/>
                </a:solidFill>
                <a:latin typeface="Helvetica Neue"/>
                <a:ea typeface="Helvetica Neue"/>
                <a:cs typeface="Helvetica Neue"/>
              </a:defRPr>
            </a:pPr>
            <a:r>
              <a:rPr sz="2100" b="0">
                <a:solidFill>
                  <a:srgbClr val="F4F2EC"/>
                </a:solidFill>
                <a:latin typeface="Helvetica Neue"/>
                <a:ea typeface="Helvetica Neue"/>
                <a:cs typeface="Helvetica Neue"/>
              </a:rPr>
              <a:t>Kam një vend.</a:t>
            </a:r>
          </a:p>
        </p:txBody>
      </p:sp>
      <p:sp>
        <p:nvSpPr>
          <p:cNvPr id="7" name="surface-74">
            <a:extLst xmlns:a="http://schemas.openxmlformats.org/drawingml/2006/main">
              <a:ext uri="{FF2B5EF4-FFF2-40B4-BE49-F238E27FC236}">
                <a16:creationId xmlns:a16="http://schemas.microsoft.com/office/drawing/2014/main" id="{0D0DD437-E8BE-48D8-9263-4EB1C8721790}"/>
              </a:ext>
            </a:extLst>
          </p:cNvPr>
          <p:cNvSpPr>
            <a:spLocks xmlns:a="http://schemas.openxmlformats.org/drawingml/2006/main" noGrp="1"/>
          </p:cNvSpPr>
          <p:nvPr/>
        </p:nvSpPr>
        <p:spPr>
          <a:xfrm xmlns:a="http://schemas.openxmlformats.org/drawingml/2006/main">
            <a:off x="1085850" y="3200400"/>
            <a:ext cx="4048125" cy="514350"/>
          </a:xfrm>
          <a:prstGeom xmlns:a="http://schemas.openxmlformats.org/drawingml/2006/main" prst="roundRect">
            <a:avLst>
              <a:gd name="adj" fmla="val 16667"/>
            </a:avLst>
          </a:prstGeom>
          <a:solidFill xmlns:a="http://schemas.openxmlformats.org/drawingml/2006/main">
            <a:srgbClr val="192732"/>
          </a:solidFill>
          <a:ln xmlns:a="http://schemas.openxmlformats.org/drawingml/2006/main" w="0">
            <a:noFill/>
          </a:ln>
        </p:spPr>
      </p:sp>
      <p:sp>
        <p:nvSpPr>
          <p:cNvPr id="8" name="text-75">
            <a:extLst xmlns:a="http://schemas.openxmlformats.org/drawingml/2006/main">
              <a:ext uri="{FF2B5EF4-FFF2-40B4-BE49-F238E27FC236}">
                <a16:creationId xmlns:a16="http://schemas.microsoft.com/office/drawing/2014/main" id="{339A15B5-E5C7-4619-81EE-CF25A48DD26C}"/>
              </a:ext>
            </a:extLst>
          </p:cNvPr>
          <p:cNvSpPr>
            <a:spLocks xmlns:a="http://schemas.openxmlformats.org/drawingml/2006/main" noGrp="1"/>
          </p:cNvSpPr>
          <p:nvPr/>
        </p:nvSpPr>
        <p:spPr>
          <a:xfrm xmlns:a="http://schemas.openxmlformats.org/drawingml/2006/main">
            <a:off x="1266825" y="3248025"/>
            <a:ext cx="3667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F4F2EC"/>
                </a:solidFill>
                <a:latin typeface="Helvetica Neue"/>
                <a:ea typeface="Helvetica Neue"/>
                <a:cs typeface="Helvetica Neue"/>
              </a:defRPr>
            </a:pPr>
            <a:r>
              <a:rPr sz="2100" b="0">
                <a:solidFill>
                  <a:srgbClr val="F4F2EC"/>
                </a:solidFill>
                <a:latin typeface="Helvetica Neue"/>
                <a:ea typeface="Helvetica Neue"/>
                <a:cs typeface="Helvetica Neue"/>
              </a:rPr>
              <a:t>Vij unë.</a:t>
            </a:r>
          </a:p>
        </p:txBody>
      </p:sp>
      <p:sp>
        <p:nvSpPr>
          <p:cNvPr id="9" name="surface-76">
            <a:extLst xmlns:a="http://schemas.openxmlformats.org/drawingml/2006/main">
              <a:ext uri="{FF2B5EF4-FFF2-40B4-BE49-F238E27FC236}">
                <a16:creationId xmlns:a16="http://schemas.microsoft.com/office/drawing/2014/main" id="{084FFD0B-D032-4525-9DC3-E794CEC25A1C}"/>
              </a:ext>
            </a:extLst>
          </p:cNvPr>
          <p:cNvSpPr>
            <a:spLocks xmlns:a="http://schemas.openxmlformats.org/drawingml/2006/main" noGrp="1"/>
          </p:cNvSpPr>
          <p:nvPr/>
        </p:nvSpPr>
        <p:spPr>
          <a:xfrm xmlns:a="http://schemas.openxmlformats.org/drawingml/2006/main">
            <a:off x="704850" y="3857625"/>
            <a:ext cx="4048125" cy="514350"/>
          </a:xfrm>
          <a:prstGeom xmlns:a="http://schemas.openxmlformats.org/drawingml/2006/main" prst="roundRect">
            <a:avLst>
              <a:gd name="adj" fmla="val 16667"/>
            </a:avLst>
          </a:prstGeom>
          <a:solidFill xmlns:a="http://schemas.openxmlformats.org/drawingml/2006/main">
            <a:srgbClr val="243541"/>
          </a:solidFill>
          <a:ln xmlns:a="http://schemas.openxmlformats.org/drawingml/2006/main" w="0">
            <a:noFill/>
          </a:ln>
        </p:spPr>
      </p:sp>
      <p:sp>
        <p:nvSpPr>
          <p:cNvPr id="10" name="text-77">
            <a:extLst xmlns:a="http://schemas.openxmlformats.org/drawingml/2006/main">
              <a:ext uri="{FF2B5EF4-FFF2-40B4-BE49-F238E27FC236}">
                <a16:creationId xmlns:a16="http://schemas.microsoft.com/office/drawing/2014/main" id="{3F7B3753-1176-4A5F-A248-4DB359344267}"/>
              </a:ext>
            </a:extLst>
          </p:cNvPr>
          <p:cNvSpPr>
            <a:spLocks xmlns:a="http://schemas.openxmlformats.org/drawingml/2006/main" noGrp="1"/>
          </p:cNvSpPr>
          <p:nvPr/>
        </p:nvSpPr>
        <p:spPr>
          <a:xfrm xmlns:a="http://schemas.openxmlformats.org/drawingml/2006/main">
            <a:off x="885825" y="3905250"/>
            <a:ext cx="3667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F4F2EC"/>
                </a:solidFill>
                <a:latin typeface="Helvetica Neue"/>
                <a:ea typeface="Helvetica Neue"/>
                <a:cs typeface="Helvetica Neue"/>
              </a:defRPr>
            </a:pPr>
            <a:r>
              <a:rPr sz="2100" b="0">
                <a:solidFill>
                  <a:srgbClr val="F4F2EC"/>
                </a:solidFill>
                <a:latin typeface="Helvetica Neue"/>
                <a:ea typeface="Helvetica Neue"/>
                <a:cs typeface="Helvetica Neue"/>
              </a:rPr>
              <a:t>A është ende?</a:t>
            </a:r>
          </a:p>
        </p:txBody>
      </p:sp>
      <p:sp>
        <p:nvSpPr>
          <p:cNvPr id="11" name="surface-78">
            <a:extLst xmlns:a="http://schemas.openxmlformats.org/drawingml/2006/main">
              <a:ext uri="{FF2B5EF4-FFF2-40B4-BE49-F238E27FC236}">
                <a16:creationId xmlns:a16="http://schemas.microsoft.com/office/drawing/2014/main" id="{F374AA72-25CC-4A92-9BA9-F1FA6F61D2C9}"/>
              </a:ext>
            </a:extLst>
          </p:cNvPr>
          <p:cNvSpPr>
            <a:spLocks xmlns:a="http://schemas.openxmlformats.org/drawingml/2006/main" noGrp="1"/>
          </p:cNvSpPr>
          <p:nvPr/>
        </p:nvSpPr>
        <p:spPr>
          <a:xfrm xmlns:a="http://schemas.openxmlformats.org/drawingml/2006/main">
            <a:off x="1085850" y="4514850"/>
            <a:ext cx="4048125" cy="514350"/>
          </a:xfrm>
          <a:prstGeom xmlns:a="http://schemas.openxmlformats.org/drawingml/2006/main" prst="roundRect">
            <a:avLst>
              <a:gd name="adj" fmla="val 16667"/>
            </a:avLst>
          </a:prstGeom>
          <a:solidFill xmlns:a="http://schemas.openxmlformats.org/drawingml/2006/main">
            <a:srgbClr val="192732"/>
          </a:solidFill>
          <a:ln xmlns:a="http://schemas.openxmlformats.org/drawingml/2006/main" w="0">
            <a:noFill/>
          </a:ln>
        </p:spPr>
      </p:sp>
      <p:sp>
        <p:nvSpPr>
          <p:cNvPr id="12" name="text-79">
            <a:extLst xmlns:a="http://schemas.openxmlformats.org/drawingml/2006/main">
              <a:ext uri="{FF2B5EF4-FFF2-40B4-BE49-F238E27FC236}">
                <a16:creationId xmlns:a16="http://schemas.microsoft.com/office/drawing/2014/main" id="{C245F9D2-1921-4FF0-9334-E50F22ABE0F1}"/>
              </a:ext>
            </a:extLst>
          </p:cNvPr>
          <p:cNvSpPr>
            <a:spLocks xmlns:a="http://schemas.openxmlformats.org/drawingml/2006/main" noGrp="1"/>
          </p:cNvSpPr>
          <p:nvPr/>
        </p:nvSpPr>
        <p:spPr>
          <a:xfrm xmlns:a="http://schemas.openxmlformats.org/drawingml/2006/main">
            <a:off x="1266825" y="4562475"/>
            <a:ext cx="3667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F4F2EC"/>
                </a:solidFill>
                <a:latin typeface="Helvetica Neue"/>
                <a:ea typeface="Helvetica Neue"/>
                <a:cs typeface="Helvetica Neue"/>
              </a:defRPr>
            </a:pPr>
            <a:r>
              <a:rPr sz="2100" b="0">
                <a:solidFill>
                  <a:srgbClr val="F4F2EC"/>
                </a:solidFill>
                <a:latin typeface="Helvetica Neue"/>
                <a:ea typeface="Helvetica Neue"/>
                <a:cs typeface="Helvetica Neue"/>
              </a:rPr>
              <a:t>U nisët?</a:t>
            </a:r>
          </a:p>
        </p:txBody>
      </p:sp>
      <p:sp>
        <p:nvSpPr>
          <p:cNvPr id="13" name="text-80">
            <a:extLst xmlns:a="http://schemas.openxmlformats.org/drawingml/2006/main">
              <a:ext uri="{FF2B5EF4-FFF2-40B4-BE49-F238E27FC236}">
                <a16:creationId xmlns:a16="http://schemas.microsoft.com/office/drawing/2014/main" id="{90A0DDE9-9BC2-4AC2-ABD2-E1381E3EBCA7}"/>
              </a:ext>
            </a:extLst>
          </p:cNvPr>
          <p:cNvSpPr>
            <a:spLocks xmlns:a="http://schemas.openxmlformats.org/drawingml/2006/main" noGrp="1"/>
          </p:cNvSpPr>
          <p:nvPr/>
        </p:nvSpPr>
        <p:spPr>
          <a:xfrm xmlns:a="http://schemas.openxmlformats.org/drawingml/2006/main">
            <a:off x="6867525" y="1952625"/>
            <a:ext cx="457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0">
                <a:solidFill>
                  <a:srgbClr val="AEBFCB"/>
                </a:solidFill>
                <a:latin typeface="Helvetica Neue"/>
                <a:ea typeface="Helvetica Neue"/>
                <a:cs typeface="Helvetica Neue"/>
              </a:defRPr>
            </a:pPr>
            <a:r>
              <a:rPr sz="2025" b="0">
                <a:solidFill>
                  <a:srgbClr val="AEBFCB"/>
                </a:solidFill>
                <a:latin typeface="Helvetica Neue"/>
                <a:ea typeface="Helvetica Neue"/>
                <a:cs typeface="Helvetica Neue"/>
              </a:rPr>
              <a:t>Gjendja e kërkesës</a:t>
            </a:r>
          </a:p>
        </p:txBody>
      </p:sp>
      <p:sp>
        <p:nvSpPr>
          <p:cNvPr id="14" name="text-81">
            <a:extLst xmlns:a="http://schemas.openxmlformats.org/drawingml/2006/main">
              <a:ext uri="{FF2B5EF4-FFF2-40B4-BE49-F238E27FC236}">
                <a16:creationId xmlns:a16="http://schemas.microsoft.com/office/drawing/2014/main" id="{FF9D35E4-639B-4EDF-816A-E767EBF1F876}"/>
              </a:ext>
            </a:extLst>
          </p:cNvPr>
          <p:cNvSpPr>
            <a:spLocks xmlns:a="http://schemas.openxmlformats.org/drawingml/2006/main" noGrp="1"/>
          </p:cNvSpPr>
          <p:nvPr/>
        </p:nvSpPr>
        <p:spPr>
          <a:xfrm xmlns:a="http://schemas.openxmlformats.org/drawingml/2006/main">
            <a:off x="6867525" y="2667000"/>
            <a:ext cx="619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325" b="0">
                <a:solidFill>
                  <a:srgbClr val="AEBFCB"/>
                </a:solidFill>
                <a:latin typeface="Helvetica Neue"/>
                <a:ea typeface="Helvetica Neue"/>
                <a:cs typeface="Helvetica Neue"/>
              </a:defRPr>
            </a:pPr>
            <a:r>
              <a:rPr sz="2325" b="0">
                <a:solidFill>
                  <a:srgbClr val="AEBFCB"/>
                </a:solidFill>
                <a:latin typeface="Helvetica Neue"/>
                <a:ea typeface="Helvetica Neue"/>
                <a:cs typeface="Helvetica Neue"/>
              </a:rPr>
              <a:t>01</a:t>
            </a:r>
          </a:p>
        </p:txBody>
      </p:sp>
      <p:sp>
        <p:nvSpPr>
          <p:cNvPr id="15" name="text-82">
            <a:extLst xmlns:a="http://schemas.openxmlformats.org/drawingml/2006/main">
              <a:ext uri="{FF2B5EF4-FFF2-40B4-BE49-F238E27FC236}">
                <a16:creationId xmlns:a16="http://schemas.microsoft.com/office/drawing/2014/main" id="{3974AF82-0F27-47F6-B9DA-96FBB8781D33}"/>
              </a:ext>
            </a:extLst>
          </p:cNvPr>
          <p:cNvSpPr>
            <a:spLocks xmlns:a="http://schemas.openxmlformats.org/drawingml/2006/main" noGrp="1"/>
          </p:cNvSpPr>
          <p:nvPr/>
        </p:nvSpPr>
        <p:spPr>
          <a:xfrm xmlns:a="http://schemas.openxmlformats.org/drawingml/2006/main">
            <a:off x="7800975" y="2667000"/>
            <a:ext cx="3286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000" b="1">
                <a:solidFill>
                  <a:srgbClr val="F2BB66"/>
                </a:solidFill>
                <a:latin typeface="Helvetica Neue"/>
                <a:ea typeface="Helvetica Neue"/>
                <a:cs typeface="Helvetica Neue"/>
              </a:defRPr>
            </a:pPr>
            <a:r>
              <a:rPr sz="3000" b="1">
                <a:solidFill>
                  <a:srgbClr val="F2BB66"/>
                </a:solidFill>
                <a:latin typeface="Helvetica Neue"/>
                <a:ea typeface="Helvetica Neue"/>
                <a:cs typeface="Helvetica Neue"/>
              </a:rPr>
              <a:t>Kërkuar</a:t>
            </a:r>
          </a:p>
        </p:txBody>
      </p:sp>
      <p:sp>
        <p:nvSpPr>
          <p:cNvPr id="16" name="text-83">
            <a:extLst xmlns:a="http://schemas.openxmlformats.org/drawingml/2006/main">
              <a:ext uri="{FF2B5EF4-FFF2-40B4-BE49-F238E27FC236}">
                <a16:creationId xmlns:a16="http://schemas.microsoft.com/office/drawing/2014/main" id="{8FE6C071-EFC9-4633-8FDB-94CD96AD6276}"/>
              </a:ext>
            </a:extLst>
          </p:cNvPr>
          <p:cNvSpPr>
            <a:spLocks xmlns:a="http://schemas.openxmlformats.org/drawingml/2006/main" noGrp="1"/>
          </p:cNvSpPr>
          <p:nvPr/>
        </p:nvSpPr>
        <p:spPr>
          <a:xfrm xmlns:a="http://schemas.openxmlformats.org/drawingml/2006/main">
            <a:off x="6867525" y="3590925"/>
            <a:ext cx="619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325" b="0">
                <a:solidFill>
                  <a:srgbClr val="AEBFCB"/>
                </a:solidFill>
                <a:latin typeface="Helvetica Neue"/>
                <a:ea typeface="Helvetica Neue"/>
                <a:cs typeface="Helvetica Neue"/>
              </a:defRPr>
            </a:pPr>
            <a:r>
              <a:rPr sz="2325" b="0">
                <a:solidFill>
                  <a:srgbClr val="AEBFCB"/>
                </a:solidFill>
                <a:latin typeface="Helvetica Neue"/>
                <a:ea typeface="Helvetica Neue"/>
                <a:cs typeface="Helvetica Neue"/>
              </a:rPr>
              <a:t>02</a:t>
            </a:r>
          </a:p>
        </p:txBody>
      </p:sp>
      <p:sp>
        <p:nvSpPr>
          <p:cNvPr id="17" name="text-84">
            <a:extLst xmlns:a="http://schemas.openxmlformats.org/drawingml/2006/main">
              <a:ext uri="{FF2B5EF4-FFF2-40B4-BE49-F238E27FC236}">
                <a16:creationId xmlns:a16="http://schemas.microsoft.com/office/drawing/2014/main" id="{845CE46E-A46A-4C6F-BDC0-B93E18D04250}"/>
              </a:ext>
            </a:extLst>
          </p:cNvPr>
          <p:cNvSpPr>
            <a:spLocks xmlns:a="http://schemas.openxmlformats.org/drawingml/2006/main" noGrp="1"/>
          </p:cNvSpPr>
          <p:nvPr/>
        </p:nvSpPr>
        <p:spPr>
          <a:xfrm xmlns:a="http://schemas.openxmlformats.org/drawingml/2006/main">
            <a:off x="7800975" y="3590925"/>
            <a:ext cx="3286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000" b="1">
                <a:solidFill>
                  <a:srgbClr val="91DEBB"/>
                </a:solidFill>
                <a:latin typeface="Helvetica Neue"/>
                <a:ea typeface="Helvetica Neue"/>
                <a:cs typeface="Helvetica Neue"/>
              </a:defRPr>
            </a:pPr>
            <a:r>
              <a:rPr sz="3000" b="1">
                <a:solidFill>
                  <a:srgbClr val="91DEBB"/>
                </a:solidFill>
                <a:latin typeface="Helvetica Neue"/>
                <a:ea typeface="Helvetica Neue"/>
                <a:cs typeface="Helvetica Neue"/>
              </a:rPr>
              <a:t>Pranuar</a:t>
            </a:r>
          </a:p>
        </p:txBody>
      </p:sp>
      <p:sp>
        <p:nvSpPr>
          <p:cNvPr id="18" name="text-85">
            <a:extLst xmlns:a="http://schemas.openxmlformats.org/drawingml/2006/main">
              <a:ext uri="{FF2B5EF4-FFF2-40B4-BE49-F238E27FC236}">
                <a16:creationId xmlns:a16="http://schemas.microsoft.com/office/drawing/2014/main" id="{08CC64E0-6E22-4914-B0C8-0CC36BD86953}"/>
              </a:ext>
            </a:extLst>
          </p:cNvPr>
          <p:cNvSpPr>
            <a:spLocks xmlns:a="http://schemas.openxmlformats.org/drawingml/2006/main" noGrp="1"/>
          </p:cNvSpPr>
          <p:nvPr/>
        </p:nvSpPr>
        <p:spPr>
          <a:xfrm xmlns:a="http://schemas.openxmlformats.org/drawingml/2006/main">
            <a:off x="6867525" y="4514850"/>
            <a:ext cx="619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325" b="0">
                <a:solidFill>
                  <a:srgbClr val="AEBFCB"/>
                </a:solidFill>
                <a:latin typeface="Helvetica Neue"/>
                <a:ea typeface="Helvetica Neue"/>
                <a:cs typeface="Helvetica Neue"/>
              </a:defRPr>
            </a:pPr>
            <a:r>
              <a:rPr sz="2325" b="0">
                <a:solidFill>
                  <a:srgbClr val="AEBFCB"/>
                </a:solidFill>
                <a:latin typeface="Helvetica Neue"/>
                <a:ea typeface="Helvetica Neue"/>
                <a:cs typeface="Helvetica Neue"/>
              </a:rPr>
              <a:t>03</a:t>
            </a:r>
          </a:p>
        </p:txBody>
      </p:sp>
      <p:sp>
        <p:nvSpPr>
          <p:cNvPr id="19" name="text-86">
            <a:extLst xmlns:a="http://schemas.openxmlformats.org/drawingml/2006/main">
              <a:ext uri="{FF2B5EF4-FFF2-40B4-BE49-F238E27FC236}">
                <a16:creationId xmlns:a16="http://schemas.microsoft.com/office/drawing/2014/main" id="{697B443C-61BC-47EB-B606-41B2A900BED1}"/>
              </a:ext>
            </a:extLst>
          </p:cNvPr>
          <p:cNvSpPr>
            <a:spLocks xmlns:a="http://schemas.openxmlformats.org/drawingml/2006/main" noGrp="1"/>
          </p:cNvSpPr>
          <p:nvPr/>
        </p:nvSpPr>
        <p:spPr>
          <a:xfrm xmlns:a="http://schemas.openxmlformats.org/drawingml/2006/main">
            <a:off x="7800975" y="4514850"/>
            <a:ext cx="3286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000" b="1">
                <a:solidFill>
                  <a:srgbClr val="F09D91"/>
                </a:solidFill>
                <a:latin typeface="Helvetica Neue"/>
                <a:ea typeface="Helvetica Neue"/>
                <a:cs typeface="Helvetica Neue"/>
              </a:defRPr>
            </a:pPr>
            <a:r>
              <a:rPr sz="3000" b="1">
                <a:solidFill>
                  <a:srgbClr val="F09D91"/>
                </a:solidFill>
                <a:latin typeface="Helvetica Neue"/>
                <a:ea typeface="Helvetica Neue"/>
                <a:cs typeface="Helvetica Neue"/>
              </a:rPr>
              <a:t>Refuzuar</a:t>
            </a:r>
          </a:p>
        </p:txBody>
      </p:sp>
      <p:sp>
        <p:nvSpPr>
          <p:cNvPr id="20" name="text-87">
            <a:extLst xmlns:a="http://schemas.openxmlformats.org/drawingml/2006/main">
              <a:ext uri="{FF2B5EF4-FFF2-40B4-BE49-F238E27FC236}">
                <a16:creationId xmlns:a16="http://schemas.microsoft.com/office/drawing/2014/main" id="{2E33B717-53DE-481C-8ECB-49236B6EB8E5}"/>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Kush e ka vendin?</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ba5f01c83da94874"/>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795215303"/>
      </p:ext>
    </p:extLst>
  </p:cSld>
</p:sld>
</file>

<file path=ppt/slides/slide14.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10" name="text-88">
            <a:extLst xmlns:a="http://schemas.openxmlformats.org/drawingml/2006/main">
              <a:ext uri="{FF2B5EF4-FFF2-40B4-BE49-F238E27FC236}">
                <a16:creationId xmlns:a16="http://schemas.microsoft.com/office/drawing/2014/main" id="{82439B2C-8435-4635-A69D-BB96C7DCC444}"/>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PROBLEMI REAL</a:t>
            </a:r>
          </a:p>
        </p:txBody>
      </p:sp>
      <p:sp>
        <p:nvSpPr>
          <p:cNvPr id="2" name="text-89">
            <a:extLst xmlns:a="http://schemas.openxmlformats.org/drawingml/2006/main">
              <a:ext uri="{FF2B5EF4-FFF2-40B4-BE49-F238E27FC236}">
                <a16:creationId xmlns:a16="http://schemas.microsoft.com/office/drawing/2014/main" id="{DA693816-672F-494F-B916-6432A18D38A4}"/>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14</a:t>
            </a:r>
          </a:p>
        </p:txBody>
      </p:sp>
      <p:sp>
        <p:nvSpPr>
          <p:cNvPr id="3" name="text-90">
            <a:extLst xmlns:a="http://schemas.openxmlformats.org/drawingml/2006/main">
              <a:ext uri="{FF2B5EF4-FFF2-40B4-BE49-F238E27FC236}">
                <a16:creationId xmlns:a16="http://schemas.microsoft.com/office/drawing/2014/main" id="{B7C063A7-0C54-4251-A271-BF5D9B29562A}"/>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Hipoteza mund të rrëzohet</a:t>
            </a:r>
          </a:p>
        </p:txBody>
      </p:sp>
      <p:sp>
        <p:nvSpPr>
          <p:cNvPr id="4" name="text-91">
            <a:extLst xmlns:a="http://schemas.openxmlformats.org/drawingml/2006/main">
              <a:ext uri="{FF2B5EF4-FFF2-40B4-BE49-F238E27FC236}">
                <a16:creationId xmlns:a16="http://schemas.microsoft.com/office/drawing/2014/main" id="{1B5611A9-C23E-488B-86DF-444EF5CB0289}"/>
              </a:ext>
            </a:extLst>
          </p:cNvPr>
          <p:cNvSpPr>
            <a:spLocks xmlns:a="http://schemas.openxmlformats.org/drawingml/2006/main" noGrp="1"/>
          </p:cNvSpPr>
          <p:nvPr/>
        </p:nvSpPr>
        <p:spPr>
          <a:xfrm xmlns:a="http://schemas.openxmlformats.org/drawingml/2006/main">
            <a:off x="619125" y="2085975"/>
            <a:ext cx="65722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575" b="1">
                <a:solidFill>
                  <a:srgbClr val="F4F2EC"/>
                </a:solidFill>
                <a:latin typeface="Helvetica Neue"/>
                <a:ea typeface="Helvetica Neue"/>
                <a:cs typeface="Helvetica Neue"/>
              </a:defRPr>
            </a:pPr>
            <a:r>
              <a:rPr sz="4575" b="1">
                <a:solidFill>
                  <a:srgbClr val="F4F2EC"/>
                </a:solidFill>
                <a:latin typeface="Helvetica Neue"/>
                <a:ea typeface="Helvetica Neue"/>
                <a:cs typeface="Helvetica Neue"/>
              </a:rPr>
              <a:t>Statusi i qartë</a:t>
            </a:r>
          </a:p>
          <a:p xmlns:a="http://schemas.openxmlformats.org/drawingml/2006/main">
            <a:pPr algn="l">
              <a:buNone/>
              <a:defRPr sz="4575" b="1">
                <a:solidFill>
                  <a:srgbClr val="F4F2EC"/>
                </a:solidFill>
                <a:latin typeface="Helvetica Neue"/>
                <a:ea typeface="Helvetica Neue"/>
                <a:cs typeface="Helvetica Neue"/>
              </a:defRPr>
            </a:pPr>
            <a:r>
              <a:rPr sz="4575" b="1">
                <a:solidFill>
                  <a:srgbClr val="F4F2EC"/>
                </a:solidFill>
                <a:latin typeface="Helvetica Neue"/>
                <a:ea typeface="Helvetica Neue"/>
                <a:cs typeface="Helvetica Neue"/>
              </a:rPr>
              <a:t>ul pasigurinë.</a:t>
            </a:r>
          </a:p>
        </p:txBody>
      </p:sp>
      <p:sp>
        <p:nvSpPr>
          <p:cNvPr id="5" name="text-92">
            <a:extLst xmlns:a="http://schemas.openxmlformats.org/drawingml/2006/main">
              <a:ext uri="{FF2B5EF4-FFF2-40B4-BE49-F238E27FC236}">
                <a16:creationId xmlns:a16="http://schemas.microsoft.com/office/drawing/2014/main" id="{7FF8817B-A407-4E42-8168-CD7AC9935305}"/>
              </a:ext>
            </a:extLst>
          </p:cNvPr>
          <p:cNvSpPr>
            <a:spLocks xmlns:a="http://schemas.openxmlformats.org/drawingml/2006/main" noGrp="1"/>
          </p:cNvSpPr>
          <p:nvPr/>
        </p:nvSpPr>
        <p:spPr>
          <a:xfrm xmlns:a="http://schemas.openxmlformats.org/drawingml/2006/main">
            <a:off x="7905750" y="2124075"/>
            <a:ext cx="3524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650" b="1">
                <a:solidFill>
                  <a:srgbClr val="63CDF2"/>
                </a:solidFill>
                <a:latin typeface="Helvetica Neue"/>
                <a:ea typeface="Helvetica Neue"/>
                <a:cs typeface="Helvetica Neue"/>
              </a:defRPr>
            </a:pPr>
            <a:r>
              <a:rPr sz="1650" b="1">
                <a:solidFill>
                  <a:srgbClr val="63CDF2"/>
                </a:solidFill>
                <a:latin typeface="Helvetica Neue"/>
                <a:ea typeface="Helvetica Neue"/>
                <a:cs typeface="Helvetica Neue"/>
              </a:rPr>
              <a:t>EKSPERIMENT I PROPOZUAR</a:t>
            </a:r>
          </a:p>
        </p:txBody>
      </p:sp>
      <p:sp>
        <p:nvSpPr>
          <p:cNvPr id="6" name="text-93">
            <a:extLst xmlns:a="http://schemas.openxmlformats.org/drawingml/2006/main">
              <a:ext uri="{FF2B5EF4-FFF2-40B4-BE49-F238E27FC236}">
                <a16:creationId xmlns:a16="http://schemas.microsoft.com/office/drawing/2014/main" id="{30F76325-80BC-4B7B-BB12-B604AEB320CE}"/>
              </a:ext>
            </a:extLst>
          </p:cNvPr>
          <p:cNvSpPr>
            <a:spLocks xmlns:a="http://schemas.openxmlformats.org/drawingml/2006/main" noGrp="1"/>
          </p:cNvSpPr>
          <p:nvPr/>
        </p:nvSpPr>
        <p:spPr>
          <a:xfrm xmlns:a="http://schemas.openxmlformats.org/drawingml/2006/main">
            <a:off x="7905750" y="3048000"/>
            <a:ext cx="3524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6675" b="1">
                <a:solidFill>
                  <a:srgbClr val="F2BB66"/>
                </a:solidFill>
                <a:latin typeface="Helvetica Neue"/>
                <a:ea typeface="Helvetica Neue"/>
                <a:cs typeface="Helvetica Neue"/>
              </a:defRPr>
            </a:pPr>
            <a:r>
              <a:rPr sz="6675" b="1">
                <a:solidFill>
                  <a:srgbClr val="F2BB66"/>
                </a:solidFill>
                <a:latin typeface="Helvetica Neue"/>
                <a:ea typeface="Helvetica Neue"/>
                <a:cs typeface="Helvetica Neue"/>
              </a:rPr>
              <a:t>4 / 5</a:t>
            </a:r>
          </a:p>
        </p:txBody>
      </p:sp>
      <p:sp>
        <p:nvSpPr>
          <p:cNvPr id="7" name="text-94">
            <a:extLst xmlns:a="http://schemas.openxmlformats.org/drawingml/2006/main">
              <a:ext uri="{FF2B5EF4-FFF2-40B4-BE49-F238E27FC236}">
                <a16:creationId xmlns:a16="http://schemas.microsoft.com/office/drawing/2014/main" id="{5A8B78A0-21B0-4BD1-BFA6-F1E94431B25E}"/>
              </a:ext>
            </a:extLst>
          </p:cNvPr>
          <p:cNvSpPr>
            <a:spLocks xmlns:a="http://schemas.openxmlformats.org/drawingml/2006/main" noGrp="1"/>
          </p:cNvSpPr>
          <p:nvPr/>
        </p:nvSpPr>
        <p:spPr>
          <a:xfrm xmlns:a="http://schemas.openxmlformats.org/drawingml/2006/main">
            <a:off x="7934325" y="4248150"/>
            <a:ext cx="34575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400" b="0">
                <a:solidFill>
                  <a:srgbClr val="F4F2EC"/>
                </a:solidFill>
                <a:latin typeface="Helvetica Neue"/>
                <a:ea typeface="Helvetica Neue"/>
                <a:cs typeface="Helvetica Neue"/>
              </a:defRPr>
            </a:pPr>
            <a:r>
              <a:rPr sz="2400" b="0">
                <a:solidFill>
                  <a:srgbClr val="F4F2EC"/>
                </a:solidFill>
                <a:latin typeface="Helvetica Neue"/>
                <a:ea typeface="Helvetica Neue"/>
                <a:cs typeface="Helvetica Neue"/>
              </a:rPr>
              <a:t>e kuptojnë statusin</a:t>
            </a:r>
          </a:p>
          <a:p xmlns:a="http://schemas.openxmlformats.org/drawingml/2006/main">
            <a:pPr algn="l">
              <a:buNone/>
              <a:defRPr sz="2400" b="0">
                <a:solidFill>
                  <a:srgbClr val="F4F2EC"/>
                </a:solidFill>
                <a:latin typeface="Helvetica Neue"/>
                <a:ea typeface="Helvetica Neue"/>
                <a:cs typeface="Helvetica Neue"/>
              </a:defRPr>
            </a:pPr>
            <a:r>
              <a:rPr sz="2400" b="0">
                <a:solidFill>
                  <a:srgbClr val="F4F2EC"/>
                </a:solidFill>
                <a:latin typeface="Helvetica Neue"/>
                <a:ea typeface="Helvetica Neue"/>
                <a:cs typeface="Helvetica Neue"/>
              </a:rPr>
              <a:t>pa ndihmë</a:t>
            </a:r>
          </a:p>
        </p:txBody>
      </p:sp>
      <p:sp>
        <p:nvSpPr>
          <p:cNvPr id="8" name="text-95">
            <a:extLst xmlns:a="http://schemas.openxmlformats.org/drawingml/2006/main">
              <a:ext uri="{FF2B5EF4-FFF2-40B4-BE49-F238E27FC236}">
                <a16:creationId xmlns:a16="http://schemas.microsoft.com/office/drawing/2014/main" id="{0DDB9009-65B5-4C4F-BD23-CB7699DA2768}"/>
              </a:ext>
            </a:extLst>
          </p:cNvPr>
          <p:cNvSpPr>
            <a:spLocks xmlns:a="http://schemas.openxmlformats.org/drawingml/2006/main" noGrp="1"/>
          </p:cNvSpPr>
          <p:nvPr/>
        </p:nvSpPr>
        <p:spPr>
          <a:xfrm xmlns:a="http://schemas.openxmlformats.org/drawingml/2006/main">
            <a:off x="638175" y="4953000"/>
            <a:ext cx="68770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AEBFCB"/>
                </a:solidFill>
                <a:latin typeface="Helvetica Neue"/>
                <a:ea typeface="Helvetica Neue"/>
                <a:cs typeface="Helvetica Neue"/>
              </a:defRPr>
            </a:pPr>
            <a:r>
              <a:rPr sz="2100" b="0">
                <a:solidFill>
                  <a:srgbClr val="AEBFCB"/>
                </a:solidFill>
                <a:latin typeface="Helvetica Neue"/>
                <a:ea typeface="Helvetica Neue"/>
                <a:cs typeface="Helvetica Neue"/>
              </a:rPr>
              <a:t>Prag mësimor, ende pa rezultate</a:t>
            </a:r>
          </a:p>
        </p:txBody>
      </p:sp>
      <p:sp>
        <p:nvSpPr>
          <p:cNvPr id="9" name="text-96">
            <a:extLst xmlns:a="http://schemas.openxmlformats.org/drawingml/2006/main">
              <a:ext uri="{FF2B5EF4-FFF2-40B4-BE49-F238E27FC236}">
                <a16:creationId xmlns:a16="http://schemas.microsoft.com/office/drawing/2014/main" id="{779AE76B-25C7-4065-94F4-18F486E2B808}"/>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Cili rezultat do t’ju bënte të ndryshonit drejtim?</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4b3663926e04dfa"/>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492550264"/>
      </p:ext>
    </p:extLst>
  </p:cSld>
</p:sld>
</file>

<file path=ppt/slides/slide15.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0" name="text-97">
            <a:extLst xmlns:a="http://schemas.openxmlformats.org/drawingml/2006/main">
              <a:ext uri="{FF2B5EF4-FFF2-40B4-BE49-F238E27FC236}">
                <a16:creationId xmlns:a16="http://schemas.microsoft.com/office/drawing/2014/main" id="{22C37B23-572C-4D04-8538-A2BECF60826F}"/>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SPECIFIKIMI</a:t>
            </a:r>
          </a:p>
        </p:txBody>
      </p:sp>
      <p:sp>
        <p:nvSpPr>
          <p:cNvPr id="2" name="text-98">
            <a:extLst xmlns:a="http://schemas.openxmlformats.org/drawingml/2006/main">
              <a:ext uri="{FF2B5EF4-FFF2-40B4-BE49-F238E27FC236}">
                <a16:creationId xmlns:a16="http://schemas.microsoft.com/office/drawing/2014/main" id="{C0515427-00B1-4BEE-8A98-03D6E332D89C}"/>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15</a:t>
            </a:r>
          </a:p>
        </p:txBody>
      </p:sp>
      <p:sp>
        <p:nvSpPr>
          <p:cNvPr id="3" name="text-99">
            <a:extLst xmlns:a="http://schemas.openxmlformats.org/drawingml/2006/main">
              <a:ext uri="{FF2B5EF4-FFF2-40B4-BE49-F238E27FC236}">
                <a16:creationId xmlns:a16="http://schemas.microsoft.com/office/drawing/2014/main" id="{5CE1C5E6-EADC-467A-A8E0-2C759850FC4A}"/>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Një faqe para kodit</a:t>
            </a:r>
          </a:p>
        </p:txBody>
      </p:sp>
      <p:sp>
        <p:nvSpPr>
          <p:cNvPr id="4" name="text-100">
            <a:extLst xmlns:a="http://schemas.openxmlformats.org/drawingml/2006/main">
              <a:ext uri="{FF2B5EF4-FFF2-40B4-BE49-F238E27FC236}">
                <a16:creationId xmlns:a16="http://schemas.microsoft.com/office/drawing/2014/main" id="{DBDE00DB-AD97-40F2-BB02-1EA0027222E4}"/>
              </a:ext>
            </a:extLst>
          </p:cNvPr>
          <p:cNvSpPr>
            <a:spLocks xmlns:a="http://schemas.openxmlformats.org/drawingml/2006/main" noGrp="1"/>
          </p:cNvSpPr>
          <p:nvPr/>
        </p:nvSpPr>
        <p:spPr>
          <a:xfrm xmlns:a="http://schemas.openxmlformats.org/drawingml/2006/main">
            <a:off x="647700" y="2181225"/>
            <a:ext cx="35718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7200" b="1">
                <a:solidFill>
                  <a:srgbClr val="63CDF2"/>
                </a:solidFill>
                <a:latin typeface="Helvetica Neue"/>
                <a:ea typeface="Helvetica Neue"/>
                <a:cs typeface="Helvetica Neue"/>
              </a:defRPr>
            </a:pPr>
            <a:r>
              <a:rPr sz="7200" b="1">
                <a:solidFill>
                  <a:srgbClr val="63CDF2"/>
                </a:solidFill>
                <a:latin typeface="Helvetica Neue"/>
                <a:ea typeface="Helvetica Neue"/>
                <a:cs typeface="Helvetica Neue"/>
              </a:rPr>
              <a:t>PRD</a:t>
            </a:r>
          </a:p>
        </p:txBody>
      </p:sp>
      <p:sp>
        <p:nvSpPr>
          <p:cNvPr id="5" name="text-101">
            <a:extLst xmlns:a="http://schemas.openxmlformats.org/drawingml/2006/main">
              <a:ext uri="{FF2B5EF4-FFF2-40B4-BE49-F238E27FC236}">
                <a16:creationId xmlns:a16="http://schemas.microsoft.com/office/drawing/2014/main" id="{E13EFAA9-F65D-48B9-841C-683D1A880C9E}"/>
              </a:ext>
            </a:extLst>
          </p:cNvPr>
          <p:cNvSpPr>
            <a:spLocks xmlns:a="http://schemas.openxmlformats.org/drawingml/2006/main" noGrp="1"/>
          </p:cNvSpPr>
          <p:nvPr/>
        </p:nvSpPr>
        <p:spPr>
          <a:xfrm xmlns:a="http://schemas.openxmlformats.org/drawingml/2006/main">
            <a:off x="666750" y="3552825"/>
            <a:ext cx="4010025"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0">
                <a:solidFill>
                  <a:srgbClr val="F4F2EC"/>
                </a:solidFill>
                <a:latin typeface="Helvetica Neue"/>
                <a:ea typeface="Helvetica Neue"/>
                <a:cs typeface="Helvetica Neue"/>
              </a:defRPr>
            </a:pPr>
            <a:r>
              <a:rPr sz="2925" b="0">
                <a:solidFill>
                  <a:srgbClr val="F4F2EC"/>
                </a:solidFill>
                <a:latin typeface="Helvetica Neue"/>
                <a:ea typeface="Helvetica Neue"/>
                <a:cs typeface="Helvetica Neue"/>
              </a:rPr>
              <a:t>Një marrëveshje</a:t>
            </a:r>
          </a:p>
          <a:p xmlns:a="http://schemas.openxmlformats.org/drawingml/2006/main">
            <a:pPr algn="l">
              <a:buNone/>
              <a:defRPr sz="2925" b="0">
                <a:solidFill>
                  <a:srgbClr val="F4F2EC"/>
                </a:solidFill>
                <a:latin typeface="Helvetica Neue"/>
                <a:ea typeface="Helvetica Neue"/>
                <a:cs typeface="Helvetica Neue"/>
              </a:defRPr>
            </a:pPr>
            <a:r>
              <a:rPr sz="2925" b="0">
                <a:solidFill>
                  <a:srgbClr val="F4F2EC"/>
                </a:solidFill>
                <a:latin typeface="Helvetica Neue"/>
                <a:ea typeface="Helvetica Neue"/>
                <a:cs typeface="Helvetica Neue"/>
              </a:rPr>
              <a:t>për sjelljen</a:t>
            </a:r>
          </a:p>
          <a:p xmlns:a="http://schemas.openxmlformats.org/drawingml/2006/main">
            <a:pPr algn="l">
              <a:buNone/>
              <a:defRPr sz="2925" b="0">
                <a:solidFill>
                  <a:srgbClr val="F4F2EC"/>
                </a:solidFill>
                <a:latin typeface="Helvetica Neue"/>
                <a:ea typeface="Helvetica Neue"/>
                <a:cs typeface="Helvetica Neue"/>
              </a:defRPr>
            </a:pPr>
            <a:r>
              <a:rPr sz="2925" b="0">
                <a:solidFill>
                  <a:srgbClr val="F4F2EC"/>
                </a:solidFill>
                <a:latin typeface="Helvetica Neue"/>
                <a:ea typeface="Helvetica Neue"/>
                <a:cs typeface="Helvetica Neue"/>
              </a:rPr>
              <a:t>e produktit.</a:t>
            </a:r>
          </a:p>
        </p:txBody>
      </p:sp>
      <p:sp>
        <p:nvSpPr>
          <p:cNvPr id="6" name="text-102">
            <a:extLst xmlns:a="http://schemas.openxmlformats.org/drawingml/2006/main">
              <a:ext uri="{FF2B5EF4-FFF2-40B4-BE49-F238E27FC236}">
                <a16:creationId xmlns:a16="http://schemas.microsoft.com/office/drawing/2014/main" id="{09C04605-C748-4E67-A6EC-51F3F35FEB33}"/>
              </a:ext>
            </a:extLst>
          </p:cNvPr>
          <p:cNvSpPr>
            <a:spLocks xmlns:a="http://schemas.openxmlformats.org/drawingml/2006/main" noGrp="1"/>
          </p:cNvSpPr>
          <p:nvPr/>
        </p:nvSpPr>
        <p:spPr>
          <a:xfrm xmlns:a="http://schemas.openxmlformats.org/drawingml/2006/main">
            <a:off x="5276850" y="2066925"/>
            <a:ext cx="2105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1">
                <a:solidFill>
                  <a:srgbClr val="63CDF2"/>
                </a:solidFill>
                <a:latin typeface="Helvetica Neue"/>
                <a:ea typeface="Helvetica Neue"/>
                <a:cs typeface="Helvetica Neue"/>
              </a:defRPr>
            </a:pPr>
            <a:r>
              <a:rPr sz="1875" b="1">
                <a:solidFill>
                  <a:srgbClr val="63CDF2"/>
                </a:solidFill>
                <a:latin typeface="Helvetica Neue"/>
                <a:ea typeface="Helvetica Neue"/>
                <a:cs typeface="Helvetica Neue"/>
              </a:rPr>
              <a:t>Përdoruesi</a:t>
            </a:r>
          </a:p>
        </p:txBody>
      </p:sp>
      <p:sp>
        <p:nvSpPr>
          <p:cNvPr id="7" name="text-103">
            <a:extLst xmlns:a="http://schemas.openxmlformats.org/drawingml/2006/main">
              <a:ext uri="{FF2B5EF4-FFF2-40B4-BE49-F238E27FC236}">
                <a16:creationId xmlns:a16="http://schemas.microsoft.com/office/drawing/2014/main" id="{1D510A83-7169-457A-99E9-BF932FA584C5}"/>
              </a:ext>
            </a:extLst>
          </p:cNvPr>
          <p:cNvSpPr>
            <a:spLocks xmlns:a="http://schemas.openxmlformats.org/drawingml/2006/main" noGrp="1"/>
          </p:cNvSpPr>
          <p:nvPr/>
        </p:nvSpPr>
        <p:spPr>
          <a:xfrm xmlns:a="http://schemas.openxmlformats.org/drawingml/2006/main">
            <a:off x="7515225" y="2066925"/>
            <a:ext cx="39338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F4F2EC"/>
                </a:solidFill>
                <a:latin typeface="Helvetica Neue"/>
                <a:ea typeface="Helvetica Neue"/>
                <a:cs typeface="Helvetica Neue"/>
              </a:defRPr>
            </a:pPr>
            <a:r>
              <a:rPr sz="2100" b="0">
                <a:solidFill>
                  <a:srgbClr val="F4F2EC"/>
                </a:solidFill>
                <a:latin typeface="Helvetica Neue"/>
                <a:ea typeface="Helvetica Neue"/>
                <a:cs typeface="Helvetica Neue"/>
              </a:rPr>
              <a:t>Student që kërkon udhëtim</a:t>
            </a:r>
          </a:p>
        </p:txBody>
      </p:sp>
      <p:sp>
        <p:nvSpPr>
          <p:cNvPr id="8" name="line-104">
            <a:extLst xmlns:a="http://schemas.openxmlformats.org/drawingml/2006/main">
              <a:ext uri="{FF2B5EF4-FFF2-40B4-BE49-F238E27FC236}">
                <a16:creationId xmlns:a16="http://schemas.microsoft.com/office/drawing/2014/main" id="{B30C238D-9981-4011-8A6D-F73223DA0738}"/>
              </a:ext>
            </a:extLst>
          </p:cNvPr>
          <p:cNvSpPr>
            <a:spLocks xmlns:a="http://schemas.openxmlformats.org/drawingml/2006/main" noGrp="1"/>
          </p:cNvSpPr>
          <p:nvPr/>
        </p:nvSpPr>
        <p:spPr>
          <a:xfrm xmlns:a="http://schemas.openxmlformats.org/drawingml/2006/main">
            <a:off x="5276850" y="2676525"/>
            <a:ext cx="6162675" cy="0"/>
          </a:xfrm>
          <a:prstGeom xmlns:a="http://schemas.openxmlformats.org/drawingml/2006/main" prst="line">
            <a:avLst/>
          </a:prstGeom>
          <a:noFill xmlns:a="http://schemas.openxmlformats.org/drawingml/2006/main"/>
          <a:ln xmlns:a="http://schemas.openxmlformats.org/drawingml/2006/main" w="19050">
            <a:solidFill>
              <a:srgbClr val="3E5769"/>
            </a:solidFill>
          </a:ln>
        </p:spPr>
      </p:sp>
      <p:sp>
        <p:nvSpPr>
          <p:cNvPr id="9" name="text-105">
            <a:extLst xmlns:a="http://schemas.openxmlformats.org/drawingml/2006/main">
              <a:ext uri="{FF2B5EF4-FFF2-40B4-BE49-F238E27FC236}">
                <a16:creationId xmlns:a16="http://schemas.microsoft.com/office/drawing/2014/main" id="{ABC57D5F-82FB-492C-AE79-595FCF5A3C29}"/>
              </a:ext>
            </a:extLst>
          </p:cNvPr>
          <p:cNvSpPr>
            <a:spLocks xmlns:a="http://schemas.openxmlformats.org/drawingml/2006/main" noGrp="1"/>
          </p:cNvSpPr>
          <p:nvPr/>
        </p:nvSpPr>
        <p:spPr>
          <a:xfrm xmlns:a="http://schemas.openxmlformats.org/drawingml/2006/main">
            <a:off x="5276850" y="2781300"/>
            <a:ext cx="2105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1">
                <a:solidFill>
                  <a:srgbClr val="63CDF2"/>
                </a:solidFill>
                <a:latin typeface="Helvetica Neue"/>
                <a:ea typeface="Helvetica Neue"/>
                <a:cs typeface="Helvetica Neue"/>
              </a:defRPr>
            </a:pPr>
            <a:r>
              <a:rPr sz="1875" b="1">
                <a:solidFill>
                  <a:srgbClr val="63CDF2"/>
                </a:solidFill>
                <a:latin typeface="Helvetica Neue"/>
                <a:ea typeface="Helvetica Neue"/>
                <a:cs typeface="Helvetica Neue"/>
              </a:rPr>
              <a:t>Problemi</a:t>
            </a:r>
          </a:p>
        </p:txBody>
      </p:sp>
      <p:sp>
        <p:nvSpPr>
          <p:cNvPr id="10" name="text-106">
            <a:extLst xmlns:a="http://schemas.openxmlformats.org/drawingml/2006/main">
              <a:ext uri="{FF2B5EF4-FFF2-40B4-BE49-F238E27FC236}">
                <a16:creationId xmlns:a16="http://schemas.microsoft.com/office/drawing/2014/main" id="{E9808BBE-C063-446F-A80B-060DEEF221E1}"/>
              </a:ext>
            </a:extLst>
          </p:cNvPr>
          <p:cNvSpPr>
            <a:spLocks xmlns:a="http://schemas.openxmlformats.org/drawingml/2006/main" noGrp="1"/>
          </p:cNvSpPr>
          <p:nvPr/>
        </p:nvSpPr>
        <p:spPr>
          <a:xfrm xmlns:a="http://schemas.openxmlformats.org/drawingml/2006/main">
            <a:off x="7515225" y="2781300"/>
            <a:ext cx="39338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F4F2EC"/>
                </a:solidFill>
                <a:latin typeface="Helvetica Neue"/>
                <a:ea typeface="Helvetica Neue"/>
                <a:cs typeface="Helvetica Neue"/>
              </a:defRPr>
            </a:pPr>
            <a:r>
              <a:rPr sz="2100" b="0">
                <a:solidFill>
                  <a:srgbClr val="F4F2EC"/>
                </a:solidFill>
                <a:latin typeface="Helvetica Neue"/>
                <a:ea typeface="Helvetica Neue"/>
                <a:cs typeface="Helvetica Neue"/>
              </a:rPr>
              <a:t>Konfirmimi mbetet i paqartë</a:t>
            </a:r>
          </a:p>
        </p:txBody>
      </p:sp>
      <p:sp>
        <p:nvSpPr>
          <p:cNvPr id="11" name="line-107">
            <a:extLst xmlns:a="http://schemas.openxmlformats.org/drawingml/2006/main">
              <a:ext uri="{FF2B5EF4-FFF2-40B4-BE49-F238E27FC236}">
                <a16:creationId xmlns:a16="http://schemas.microsoft.com/office/drawing/2014/main" id="{3ECB6552-F4E4-4909-B50E-936554440F3A}"/>
              </a:ext>
            </a:extLst>
          </p:cNvPr>
          <p:cNvSpPr>
            <a:spLocks xmlns:a="http://schemas.openxmlformats.org/drawingml/2006/main" noGrp="1"/>
          </p:cNvSpPr>
          <p:nvPr/>
        </p:nvSpPr>
        <p:spPr>
          <a:xfrm xmlns:a="http://schemas.openxmlformats.org/drawingml/2006/main">
            <a:off x="5276850" y="3390900"/>
            <a:ext cx="6162675" cy="0"/>
          </a:xfrm>
          <a:prstGeom xmlns:a="http://schemas.openxmlformats.org/drawingml/2006/main" prst="line">
            <a:avLst/>
          </a:prstGeom>
          <a:noFill xmlns:a="http://schemas.openxmlformats.org/drawingml/2006/main"/>
          <a:ln xmlns:a="http://schemas.openxmlformats.org/drawingml/2006/main" w="19050">
            <a:solidFill>
              <a:srgbClr val="3E5769"/>
            </a:solidFill>
          </a:ln>
        </p:spPr>
      </p:sp>
      <p:sp>
        <p:nvSpPr>
          <p:cNvPr id="12" name="text-108">
            <a:extLst xmlns:a="http://schemas.openxmlformats.org/drawingml/2006/main">
              <a:ext uri="{FF2B5EF4-FFF2-40B4-BE49-F238E27FC236}">
                <a16:creationId xmlns:a16="http://schemas.microsoft.com/office/drawing/2014/main" id="{76EBB515-520A-49C6-A75C-9CC63A9B8ED0}"/>
              </a:ext>
            </a:extLst>
          </p:cNvPr>
          <p:cNvSpPr>
            <a:spLocks xmlns:a="http://schemas.openxmlformats.org/drawingml/2006/main" noGrp="1"/>
          </p:cNvSpPr>
          <p:nvPr/>
        </p:nvSpPr>
        <p:spPr>
          <a:xfrm xmlns:a="http://schemas.openxmlformats.org/drawingml/2006/main">
            <a:off x="5276850" y="3495675"/>
            <a:ext cx="2105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1">
                <a:solidFill>
                  <a:srgbClr val="63CDF2"/>
                </a:solidFill>
                <a:latin typeface="Helvetica Neue"/>
                <a:ea typeface="Helvetica Neue"/>
                <a:cs typeface="Helvetica Neue"/>
              </a:defRPr>
            </a:pPr>
            <a:r>
              <a:rPr sz="1875" b="1">
                <a:solidFill>
                  <a:srgbClr val="63CDF2"/>
                </a:solidFill>
                <a:latin typeface="Helvetica Neue"/>
                <a:ea typeface="Helvetica Neue"/>
                <a:cs typeface="Helvetica Neue"/>
              </a:rPr>
              <a:t>Rezultati</a:t>
            </a:r>
          </a:p>
        </p:txBody>
      </p:sp>
      <p:sp>
        <p:nvSpPr>
          <p:cNvPr id="13" name="text-109">
            <a:extLst xmlns:a="http://schemas.openxmlformats.org/drawingml/2006/main">
              <a:ext uri="{FF2B5EF4-FFF2-40B4-BE49-F238E27FC236}">
                <a16:creationId xmlns:a16="http://schemas.microsoft.com/office/drawing/2014/main" id="{D7A98686-1F29-4971-9694-828A063FE1AA}"/>
              </a:ext>
            </a:extLst>
          </p:cNvPr>
          <p:cNvSpPr>
            <a:spLocks xmlns:a="http://schemas.openxmlformats.org/drawingml/2006/main" noGrp="1"/>
          </p:cNvSpPr>
          <p:nvPr/>
        </p:nvSpPr>
        <p:spPr>
          <a:xfrm xmlns:a="http://schemas.openxmlformats.org/drawingml/2006/main">
            <a:off x="7515225" y="3495675"/>
            <a:ext cx="39338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F4F2EC"/>
                </a:solidFill>
                <a:latin typeface="Helvetica Neue"/>
                <a:ea typeface="Helvetica Neue"/>
                <a:cs typeface="Helvetica Neue"/>
              </a:defRPr>
            </a:pPr>
            <a:r>
              <a:rPr sz="2100" b="0">
                <a:solidFill>
                  <a:srgbClr val="F4F2EC"/>
                </a:solidFill>
                <a:latin typeface="Helvetica Neue"/>
                <a:ea typeface="Helvetica Neue"/>
                <a:cs typeface="Helvetica Neue"/>
              </a:rPr>
              <a:t>Kërkon vend dhe sheh përgjigjen</a:t>
            </a:r>
          </a:p>
        </p:txBody>
      </p:sp>
      <p:sp>
        <p:nvSpPr>
          <p:cNvPr id="14" name="line-110">
            <a:extLst xmlns:a="http://schemas.openxmlformats.org/drawingml/2006/main">
              <a:ext uri="{FF2B5EF4-FFF2-40B4-BE49-F238E27FC236}">
                <a16:creationId xmlns:a16="http://schemas.microsoft.com/office/drawing/2014/main" id="{DA8F5E57-42A5-4DB6-A6FF-C6527DDDB671}"/>
              </a:ext>
            </a:extLst>
          </p:cNvPr>
          <p:cNvSpPr>
            <a:spLocks xmlns:a="http://schemas.openxmlformats.org/drawingml/2006/main" noGrp="1"/>
          </p:cNvSpPr>
          <p:nvPr/>
        </p:nvSpPr>
        <p:spPr>
          <a:xfrm xmlns:a="http://schemas.openxmlformats.org/drawingml/2006/main">
            <a:off x="5276850" y="4105275"/>
            <a:ext cx="6162675" cy="0"/>
          </a:xfrm>
          <a:prstGeom xmlns:a="http://schemas.openxmlformats.org/drawingml/2006/main" prst="line">
            <a:avLst/>
          </a:prstGeom>
          <a:noFill xmlns:a="http://schemas.openxmlformats.org/drawingml/2006/main"/>
          <a:ln xmlns:a="http://schemas.openxmlformats.org/drawingml/2006/main" w="19050">
            <a:solidFill>
              <a:srgbClr val="3E5769"/>
            </a:solidFill>
          </a:ln>
        </p:spPr>
      </p:sp>
      <p:sp>
        <p:nvSpPr>
          <p:cNvPr id="15" name="text-111">
            <a:extLst xmlns:a="http://schemas.openxmlformats.org/drawingml/2006/main">
              <a:ext uri="{FF2B5EF4-FFF2-40B4-BE49-F238E27FC236}">
                <a16:creationId xmlns:a16="http://schemas.microsoft.com/office/drawing/2014/main" id="{2CD09773-A94E-44E3-8FBB-D0DC0FAC39F6}"/>
              </a:ext>
            </a:extLst>
          </p:cNvPr>
          <p:cNvSpPr>
            <a:spLocks xmlns:a="http://schemas.openxmlformats.org/drawingml/2006/main" noGrp="1"/>
          </p:cNvSpPr>
          <p:nvPr/>
        </p:nvSpPr>
        <p:spPr>
          <a:xfrm xmlns:a="http://schemas.openxmlformats.org/drawingml/2006/main">
            <a:off x="5276850" y="4210050"/>
            <a:ext cx="2105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1">
                <a:solidFill>
                  <a:srgbClr val="63CDF2"/>
                </a:solidFill>
                <a:latin typeface="Helvetica Neue"/>
                <a:ea typeface="Helvetica Neue"/>
                <a:cs typeface="Helvetica Neue"/>
              </a:defRPr>
            </a:pPr>
            <a:r>
              <a:rPr sz="1875" b="1">
                <a:solidFill>
                  <a:srgbClr val="63CDF2"/>
                </a:solidFill>
                <a:latin typeface="Helvetica Neue"/>
                <a:ea typeface="Helvetica Neue"/>
                <a:cs typeface="Helvetica Neue"/>
              </a:rPr>
              <a:t>Kufijtë</a:t>
            </a:r>
          </a:p>
        </p:txBody>
      </p:sp>
      <p:sp>
        <p:nvSpPr>
          <p:cNvPr id="16" name="text-112">
            <a:extLst xmlns:a="http://schemas.openxmlformats.org/drawingml/2006/main">
              <a:ext uri="{FF2B5EF4-FFF2-40B4-BE49-F238E27FC236}">
                <a16:creationId xmlns:a16="http://schemas.microsoft.com/office/drawing/2014/main" id="{ED31980F-9901-4DD8-B117-EB58D7E452F2}"/>
              </a:ext>
            </a:extLst>
          </p:cNvPr>
          <p:cNvSpPr>
            <a:spLocks xmlns:a="http://schemas.openxmlformats.org/drawingml/2006/main" noGrp="1"/>
          </p:cNvSpPr>
          <p:nvPr/>
        </p:nvSpPr>
        <p:spPr>
          <a:xfrm xmlns:a="http://schemas.openxmlformats.org/drawingml/2006/main">
            <a:off x="7515225" y="4210050"/>
            <a:ext cx="39338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F4F2EC"/>
                </a:solidFill>
                <a:latin typeface="Helvetica Neue"/>
                <a:ea typeface="Helvetica Neue"/>
                <a:cs typeface="Helvetica Neue"/>
              </a:defRPr>
            </a:pPr>
            <a:r>
              <a:rPr sz="2100" b="0">
                <a:solidFill>
                  <a:srgbClr val="F4F2EC"/>
                </a:solidFill>
                <a:latin typeface="Helvetica Neue"/>
                <a:ea typeface="Helvetica Neue"/>
                <a:cs typeface="Helvetica Neue"/>
              </a:rPr>
              <a:t>Pa pagesa ose GPS live</a:t>
            </a:r>
          </a:p>
        </p:txBody>
      </p:sp>
      <p:sp>
        <p:nvSpPr>
          <p:cNvPr id="17" name="line-113">
            <a:extLst xmlns:a="http://schemas.openxmlformats.org/drawingml/2006/main">
              <a:ext uri="{FF2B5EF4-FFF2-40B4-BE49-F238E27FC236}">
                <a16:creationId xmlns:a16="http://schemas.microsoft.com/office/drawing/2014/main" id="{87185BE2-2CC0-4F74-8DC4-ACD216689178}"/>
              </a:ext>
            </a:extLst>
          </p:cNvPr>
          <p:cNvSpPr>
            <a:spLocks xmlns:a="http://schemas.openxmlformats.org/drawingml/2006/main" noGrp="1"/>
          </p:cNvSpPr>
          <p:nvPr/>
        </p:nvSpPr>
        <p:spPr>
          <a:xfrm xmlns:a="http://schemas.openxmlformats.org/drawingml/2006/main">
            <a:off x="5276850" y="4819650"/>
            <a:ext cx="6162675" cy="0"/>
          </a:xfrm>
          <a:prstGeom xmlns:a="http://schemas.openxmlformats.org/drawingml/2006/main" prst="line">
            <a:avLst/>
          </a:prstGeom>
          <a:noFill xmlns:a="http://schemas.openxmlformats.org/drawingml/2006/main"/>
          <a:ln xmlns:a="http://schemas.openxmlformats.org/drawingml/2006/main" w="19050">
            <a:solidFill>
              <a:srgbClr val="3E5769"/>
            </a:solidFill>
          </a:ln>
        </p:spPr>
      </p:sp>
      <p:sp>
        <p:nvSpPr>
          <p:cNvPr id="18" name="text-114">
            <a:extLst xmlns:a="http://schemas.openxmlformats.org/drawingml/2006/main">
              <a:ext uri="{FF2B5EF4-FFF2-40B4-BE49-F238E27FC236}">
                <a16:creationId xmlns:a16="http://schemas.microsoft.com/office/drawing/2014/main" id="{5EA51247-7FE4-450F-AA16-743D73415550}"/>
              </a:ext>
            </a:extLst>
          </p:cNvPr>
          <p:cNvSpPr>
            <a:spLocks xmlns:a="http://schemas.openxmlformats.org/drawingml/2006/main" noGrp="1"/>
          </p:cNvSpPr>
          <p:nvPr/>
        </p:nvSpPr>
        <p:spPr>
          <a:xfrm xmlns:a="http://schemas.openxmlformats.org/drawingml/2006/main">
            <a:off x="5276850" y="4924425"/>
            <a:ext cx="2105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1">
                <a:solidFill>
                  <a:srgbClr val="63CDF2"/>
                </a:solidFill>
                <a:latin typeface="Helvetica Neue"/>
                <a:ea typeface="Helvetica Neue"/>
                <a:cs typeface="Helvetica Neue"/>
              </a:defRPr>
            </a:pPr>
            <a:r>
              <a:rPr sz="1875" b="1">
                <a:solidFill>
                  <a:srgbClr val="63CDF2"/>
                </a:solidFill>
                <a:latin typeface="Helvetica Neue"/>
                <a:ea typeface="Helvetica Neue"/>
                <a:cs typeface="Helvetica Neue"/>
              </a:rPr>
              <a:t>Pranimi</a:t>
            </a:r>
          </a:p>
        </p:txBody>
      </p:sp>
      <p:sp>
        <p:nvSpPr>
          <p:cNvPr id="19" name="text-115">
            <a:extLst xmlns:a="http://schemas.openxmlformats.org/drawingml/2006/main">
              <a:ext uri="{FF2B5EF4-FFF2-40B4-BE49-F238E27FC236}">
                <a16:creationId xmlns:a16="http://schemas.microsoft.com/office/drawing/2014/main" id="{03F06815-B781-4C58-BAEB-658505B56813}"/>
              </a:ext>
            </a:extLst>
          </p:cNvPr>
          <p:cNvSpPr>
            <a:spLocks xmlns:a="http://schemas.openxmlformats.org/drawingml/2006/main" noGrp="1"/>
          </p:cNvSpPr>
          <p:nvPr/>
        </p:nvSpPr>
        <p:spPr>
          <a:xfrm xmlns:a="http://schemas.openxmlformats.org/drawingml/2006/main">
            <a:off x="7515225" y="4924425"/>
            <a:ext cx="39338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F4F2EC"/>
                </a:solidFill>
                <a:latin typeface="Helvetica Neue"/>
                <a:ea typeface="Helvetica Neue"/>
                <a:cs typeface="Helvetica Neue"/>
              </a:defRPr>
            </a:pPr>
            <a:r>
              <a:rPr sz="2100" b="0">
                <a:solidFill>
                  <a:srgbClr val="F4F2EC"/>
                </a:solidFill>
                <a:latin typeface="Helvetica Neue"/>
                <a:ea typeface="Helvetica Neue"/>
                <a:cs typeface="Helvetica Neue"/>
              </a:rPr>
              <a:t>Kërkesë me status të qartë</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2cc19a352b8440f3"/>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287354229"/>
      </p:ext>
    </p:extLst>
  </p:cSld>
</p:sld>
</file>

<file path=ppt/slides/slide16.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19" name="text-116">
            <a:extLst xmlns:a="http://schemas.openxmlformats.org/drawingml/2006/main">
              <a:ext uri="{FF2B5EF4-FFF2-40B4-BE49-F238E27FC236}">
                <a16:creationId xmlns:a16="http://schemas.microsoft.com/office/drawing/2014/main" id="{ACB5B439-502D-4933-914B-A50F93687AB8}"/>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SPECIFIKIMI</a:t>
            </a:r>
          </a:p>
        </p:txBody>
      </p:sp>
      <p:sp>
        <p:nvSpPr>
          <p:cNvPr id="2" name="text-117">
            <a:extLst xmlns:a="http://schemas.openxmlformats.org/drawingml/2006/main">
              <a:ext uri="{FF2B5EF4-FFF2-40B4-BE49-F238E27FC236}">
                <a16:creationId xmlns:a16="http://schemas.microsoft.com/office/drawing/2014/main" id="{270374EB-8823-40B4-913E-207D484BD722}"/>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16</a:t>
            </a:r>
          </a:p>
        </p:txBody>
      </p:sp>
      <p:sp>
        <p:nvSpPr>
          <p:cNvPr id="3" name="text-118">
            <a:extLst xmlns:a="http://schemas.openxmlformats.org/drawingml/2006/main">
              <a:ext uri="{FF2B5EF4-FFF2-40B4-BE49-F238E27FC236}">
                <a16:creationId xmlns:a16="http://schemas.microsoft.com/office/drawing/2014/main" id="{4A016C42-C3F2-4A4F-BA6F-BA8E45A0E90F}"/>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Tri veçori, një rrjedhë</a:t>
            </a:r>
          </a:p>
        </p:txBody>
      </p:sp>
      <p:sp>
        <p:nvSpPr>
          <p:cNvPr id="4" name="text-119">
            <a:extLst xmlns:a="http://schemas.openxmlformats.org/drawingml/2006/main">
              <a:ext uri="{FF2B5EF4-FFF2-40B4-BE49-F238E27FC236}">
                <a16:creationId xmlns:a16="http://schemas.microsoft.com/office/drawing/2014/main" id="{B5CA41AB-8E4B-415D-BC81-62D7DDFFDDE3}"/>
              </a:ext>
            </a:extLst>
          </p:cNvPr>
          <p:cNvSpPr>
            <a:spLocks xmlns:a="http://schemas.openxmlformats.org/drawingml/2006/main" noGrp="1"/>
          </p:cNvSpPr>
          <p:nvPr/>
        </p:nvSpPr>
        <p:spPr>
          <a:xfrm xmlns:a="http://schemas.openxmlformats.org/drawingml/2006/main">
            <a:off x="733425" y="2152650"/>
            <a:ext cx="2333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500" b="1">
                <a:solidFill>
                  <a:srgbClr val="63CDF2"/>
                </a:solidFill>
                <a:latin typeface="Helvetica Neue"/>
                <a:ea typeface="Helvetica Neue"/>
                <a:cs typeface="Helvetica Neue"/>
              </a:defRPr>
            </a:pPr>
            <a:r>
              <a:rPr sz="4500" b="1">
                <a:solidFill>
                  <a:srgbClr val="63CDF2"/>
                </a:solidFill>
                <a:latin typeface="Helvetica Neue"/>
                <a:ea typeface="Helvetica Neue"/>
                <a:cs typeface="Helvetica Neue"/>
              </a:rPr>
              <a:t>01</a:t>
            </a:r>
          </a:p>
        </p:txBody>
      </p:sp>
      <p:sp>
        <p:nvSpPr>
          <p:cNvPr id="5" name="text-120">
            <a:extLst xmlns:a="http://schemas.openxmlformats.org/drawingml/2006/main">
              <a:ext uri="{FF2B5EF4-FFF2-40B4-BE49-F238E27FC236}">
                <a16:creationId xmlns:a16="http://schemas.microsoft.com/office/drawing/2014/main" id="{87A70858-6D6D-4BCD-8F9D-38E0C8ABCBD3}"/>
              </a:ext>
            </a:extLst>
          </p:cNvPr>
          <p:cNvSpPr>
            <a:spLocks xmlns:a="http://schemas.openxmlformats.org/drawingml/2006/main" noGrp="1"/>
          </p:cNvSpPr>
          <p:nvPr/>
        </p:nvSpPr>
        <p:spPr>
          <a:xfrm xmlns:a="http://schemas.openxmlformats.org/drawingml/2006/main">
            <a:off x="733425" y="3038475"/>
            <a:ext cx="28765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600" b="1">
                <a:solidFill>
                  <a:srgbClr val="F4F2EC"/>
                </a:solidFill>
                <a:latin typeface="Helvetica Neue"/>
                <a:ea typeface="Helvetica Neue"/>
                <a:cs typeface="Helvetica Neue"/>
              </a:defRPr>
            </a:pPr>
            <a:r>
              <a:rPr sz="3600" b="1">
                <a:solidFill>
                  <a:srgbClr val="F4F2EC"/>
                </a:solidFill>
                <a:latin typeface="Helvetica Neue"/>
                <a:ea typeface="Helvetica Neue"/>
                <a:cs typeface="Helvetica Neue"/>
              </a:rPr>
              <a:t>Publiko</a:t>
            </a:r>
          </a:p>
        </p:txBody>
      </p:sp>
      <p:sp>
        <p:nvSpPr>
          <p:cNvPr id="6" name="text-121">
            <a:extLst xmlns:a="http://schemas.openxmlformats.org/drawingml/2006/main">
              <a:ext uri="{FF2B5EF4-FFF2-40B4-BE49-F238E27FC236}">
                <a16:creationId xmlns:a16="http://schemas.microsoft.com/office/drawing/2014/main" id="{920CD4A2-9D5F-44B1-80A3-ADBBC9966FD9}"/>
              </a:ext>
            </a:extLst>
          </p:cNvPr>
          <p:cNvSpPr>
            <a:spLocks xmlns:a="http://schemas.openxmlformats.org/drawingml/2006/main" noGrp="1"/>
          </p:cNvSpPr>
          <p:nvPr/>
        </p:nvSpPr>
        <p:spPr>
          <a:xfrm xmlns:a="http://schemas.openxmlformats.org/drawingml/2006/main">
            <a:off x="733425" y="3762375"/>
            <a:ext cx="276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AEBFCB"/>
                </a:solidFill>
                <a:latin typeface="Helvetica Neue"/>
                <a:ea typeface="Helvetica Neue"/>
                <a:cs typeface="Helvetica Neue"/>
              </a:defRPr>
            </a:pPr>
            <a:r>
              <a:rPr sz="2100" b="0">
                <a:solidFill>
                  <a:srgbClr val="AEBFCB"/>
                </a:solidFill>
                <a:latin typeface="Helvetica Neue"/>
                <a:ea typeface="Helvetica Neue"/>
                <a:cs typeface="Helvetica Neue"/>
              </a:rPr>
              <a:t>Shoferi</a:t>
            </a:r>
          </a:p>
        </p:txBody>
      </p:sp>
      <p:sp>
        <p:nvSpPr>
          <p:cNvPr id="7" name="flow-122">
            <a:extLst xmlns:a="http://schemas.openxmlformats.org/drawingml/2006/main">
              <a:ext uri="{FF2B5EF4-FFF2-40B4-BE49-F238E27FC236}">
                <a16:creationId xmlns:a16="http://schemas.microsoft.com/office/drawing/2014/main" id="{93810869-D33F-4638-AF34-8B28DD20DAA4}"/>
              </a:ext>
            </a:extLst>
          </p:cNvPr>
          <p:cNvSpPr>
            <a:spLocks xmlns:a="http://schemas.openxmlformats.org/drawingml/2006/main" noGrp="1"/>
          </p:cNvSpPr>
          <p:nvPr/>
        </p:nvSpPr>
        <p:spPr>
          <a:xfrm xmlns:a="http://schemas.openxmlformats.org/drawingml/2006/main">
            <a:off x="3686175" y="3190875"/>
            <a:ext cx="55245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8" name="text-123">
            <a:extLst xmlns:a="http://schemas.openxmlformats.org/drawingml/2006/main">
              <a:ext uri="{FF2B5EF4-FFF2-40B4-BE49-F238E27FC236}">
                <a16:creationId xmlns:a16="http://schemas.microsoft.com/office/drawing/2014/main" id="{A9F76941-706F-4E1E-8B46-ECD9C1196984}"/>
              </a:ext>
            </a:extLst>
          </p:cNvPr>
          <p:cNvSpPr>
            <a:spLocks xmlns:a="http://schemas.openxmlformats.org/drawingml/2006/main" noGrp="1"/>
          </p:cNvSpPr>
          <p:nvPr/>
        </p:nvSpPr>
        <p:spPr>
          <a:xfrm xmlns:a="http://schemas.openxmlformats.org/drawingml/2006/main">
            <a:off x="4581525" y="2152650"/>
            <a:ext cx="2333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500" b="1">
                <a:solidFill>
                  <a:srgbClr val="63CDF2"/>
                </a:solidFill>
                <a:latin typeface="Helvetica Neue"/>
                <a:ea typeface="Helvetica Neue"/>
                <a:cs typeface="Helvetica Neue"/>
              </a:defRPr>
            </a:pPr>
            <a:r>
              <a:rPr sz="4500" b="1">
                <a:solidFill>
                  <a:srgbClr val="63CDF2"/>
                </a:solidFill>
                <a:latin typeface="Helvetica Neue"/>
                <a:ea typeface="Helvetica Neue"/>
                <a:cs typeface="Helvetica Neue"/>
              </a:rPr>
              <a:t>02</a:t>
            </a:r>
          </a:p>
        </p:txBody>
      </p:sp>
      <p:sp>
        <p:nvSpPr>
          <p:cNvPr id="9" name="text-124">
            <a:extLst xmlns:a="http://schemas.openxmlformats.org/drawingml/2006/main">
              <a:ext uri="{FF2B5EF4-FFF2-40B4-BE49-F238E27FC236}">
                <a16:creationId xmlns:a16="http://schemas.microsoft.com/office/drawing/2014/main" id="{976FA5C8-0750-45F7-B494-3DFC9586D946}"/>
              </a:ext>
            </a:extLst>
          </p:cNvPr>
          <p:cNvSpPr>
            <a:spLocks xmlns:a="http://schemas.openxmlformats.org/drawingml/2006/main" noGrp="1"/>
          </p:cNvSpPr>
          <p:nvPr/>
        </p:nvSpPr>
        <p:spPr>
          <a:xfrm xmlns:a="http://schemas.openxmlformats.org/drawingml/2006/main">
            <a:off x="4581525" y="3038475"/>
            <a:ext cx="28765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600" b="1">
                <a:solidFill>
                  <a:srgbClr val="F4F2EC"/>
                </a:solidFill>
                <a:latin typeface="Helvetica Neue"/>
                <a:ea typeface="Helvetica Neue"/>
                <a:cs typeface="Helvetica Neue"/>
              </a:defRPr>
            </a:pPr>
            <a:r>
              <a:rPr sz="3600" b="1">
                <a:solidFill>
                  <a:srgbClr val="F4F2EC"/>
                </a:solidFill>
                <a:latin typeface="Helvetica Neue"/>
                <a:ea typeface="Helvetica Neue"/>
                <a:cs typeface="Helvetica Neue"/>
              </a:rPr>
              <a:t>Kërko</a:t>
            </a:r>
          </a:p>
        </p:txBody>
      </p:sp>
      <p:sp>
        <p:nvSpPr>
          <p:cNvPr id="10" name="text-125">
            <a:extLst xmlns:a="http://schemas.openxmlformats.org/drawingml/2006/main">
              <a:ext uri="{FF2B5EF4-FFF2-40B4-BE49-F238E27FC236}">
                <a16:creationId xmlns:a16="http://schemas.microsoft.com/office/drawing/2014/main" id="{96BFB5BC-F8CB-4BD8-B304-C70D06DA902F}"/>
              </a:ext>
            </a:extLst>
          </p:cNvPr>
          <p:cNvSpPr>
            <a:spLocks xmlns:a="http://schemas.openxmlformats.org/drawingml/2006/main" noGrp="1"/>
          </p:cNvSpPr>
          <p:nvPr/>
        </p:nvSpPr>
        <p:spPr>
          <a:xfrm xmlns:a="http://schemas.openxmlformats.org/drawingml/2006/main">
            <a:off x="4581525" y="3762375"/>
            <a:ext cx="276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AEBFCB"/>
                </a:solidFill>
                <a:latin typeface="Helvetica Neue"/>
                <a:ea typeface="Helvetica Neue"/>
                <a:cs typeface="Helvetica Neue"/>
              </a:defRPr>
            </a:pPr>
            <a:r>
              <a:rPr sz="2100" b="0">
                <a:solidFill>
                  <a:srgbClr val="AEBFCB"/>
                </a:solidFill>
                <a:latin typeface="Helvetica Neue"/>
                <a:ea typeface="Helvetica Neue"/>
                <a:cs typeface="Helvetica Neue"/>
              </a:rPr>
              <a:t>Studenti</a:t>
            </a:r>
          </a:p>
        </p:txBody>
      </p:sp>
      <p:sp>
        <p:nvSpPr>
          <p:cNvPr id="11" name="flow-126">
            <a:extLst xmlns:a="http://schemas.openxmlformats.org/drawingml/2006/main">
              <a:ext uri="{FF2B5EF4-FFF2-40B4-BE49-F238E27FC236}">
                <a16:creationId xmlns:a16="http://schemas.microsoft.com/office/drawing/2014/main" id="{D1E37D3B-A98D-487C-A889-6F0762E62A4D}"/>
              </a:ext>
            </a:extLst>
          </p:cNvPr>
          <p:cNvSpPr>
            <a:spLocks xmlns:a="http://schemas.openxmlformats.org/drawingml/2006/main" noGrp="1"/>
          </p:cNvSpPr>
          <p:nvPr/>
        </p:nvSpPr>
        <p:spPr>
          <a:xfrm xmlns:a="http://schemas.openxmlformats.org/drawingml/2006/main">
            <a:off x="7534275" y="3190875"/>
            <a:ext cx="55245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2" name="text-127">
            <a:extLst xmlns:a="http://schemas.openxmlformats.org/drawingml/2006/main">
              <a:ext uri="{FF2B5EF4-FFF2-40B4-BE49-F238E27FC236}">
                <a16:creationId xmlns:a16="http://schemas.microsoft.com/office/drawing/2014/main" id="{F45C10C4-B29B-46D9-A0B0-95C2A45A335A}"/>
              </a:ext>
            </a:extLst>
          </p:cNvPr>
          <p:cNvSpPr>
            <a:spLocks xmlns:a="http://schemas.openxmlformats.org/drawingml/2006/main" noGrp="1"/>
          </p:cNvSpPr>
          <p:nvPr/>
        </p:nvSpPr>
        <p:spPr>
          <a:xfrm xmlns:a="http://schemas.openxmlformats.org/drawingml/2006/main">
            <a:off x="8429625" y="2152650"/>
            <a:ext cx="2333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500" b="1">
                <a:solidFill>
                  <a:srgbClr val="63CDF2"/>
                </a:solidFill>
                <a:latin typeface="Helvetica Neue"/>
                <a:ea typeface="Helvetica Neue"/>
                <a:cs typeface="Helvetica Neue"/>
              </a:defRPr>
            </a:pPr>
            <a:r>
              <a:rPr sz="4500" b="1">
                <a:solidFill>
                  <a:srgbClr val="63CDF2"/>
                </a:solidFill>
                <a:latin typeface="Helvetica Neue"/>
                <a:ea typeface="Helvetica Neue"/>
                <a:cs typeface="Helvetica Neue"/>
              </a:rPr>
              <a:t>03</a:t>
            </a:r>
          </a:p>
        </p:txBody>
      </p:sp>
      <p:sp>
        <p:nvSpPr>
          <p:cNvPr id="13" name="text-128">
            <a:extLst xmlns:a="http://schemas.openxmlformats.org/drawingml/2006/main">
              <a:ext uri="{FF2B5EF4-FFF2-40B4-BE49-F238E27FC236}">
                <a16:creationId xmlns:a16="http://schemas.microsoft.com/office/drawing/2014/main" id="{72173F53-AB16-4371-8BE5-9C72D21B9796}"/>
              </a:ext>
            </a:extLst>
          </p:cNvPr>
          <p:cNvSpPr>
            <a:spLocks xmlns:a="http://schemas.openxmlformats.org/drawingml/2006/main" noGrp="1"/>
          </p:cNvSpPr>
          <p:nvPr/>
        </p:nvSpPr>
        <p:spPr>
          <a:xfrm xmlns:a="http://schemas.openxmlformats.org/drawingml/2006/main">
            <a:off x="8429625" y="3038475"/>
            <a:ext cx="28765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600" b="1">
                <a:solidFill>
                  <a:srgbClr val="F4F2EC"/>
                </a:solidFill>
                <a:latin typeface="Helvetica Neue"/>
                <a:ea typeface="Helvetica Neue"/>
                <a:cs typeface="Helvetica Neue"/>
              </a:defRPr>
            </a:pPr>
            <a:r>
              <a:rPr sz="3600" b="1">
                <a:solidFill>
                  <a:srgbClr val="F4F2EC"/>
                </a:solidFill>
                <a:latin typeface="Helvetica Neue"/>
                <a:ea typeface="Helvetica Neue"/>
                <a:cs typeface="Helvetica Neue"/>
              </a:rPr>
              <a:t>Vendos</a:t>
            </a:r>
          </a:p>
        </p:txBody>
      </p:sp>
      <p:sp>
        <p:nvSpPr>
          <p:cNvPr id="14" name="text-129">
            <a:extLst xmlns:a="http://schemas.openxmlformats.org/drawingml/2006/main">
              <a:ext uri="{FF2B5EF4-FFF2-40B4-BE49-F238E27FC236}">
                <a16:creationId xmlns:a16="http://schemas.microsoft.com/office/drawing/2014/main" id="{D0B72342-7095-4083-B3BF-73ABB0143595}"/>
              </a:ext>
            </a:extLst>
          </p:cNvPr>
          <p:cNvSpPr>
            <a:spLocks xmlns:a="http://schemas.openxmlformats.org/drawingml/2006/main" noGrp="1"/>
          </p:cNvSpPr>
          <p:nvPr/>
        </p:nvSpPr>
        <p:spPr>
          <a:xfrm xmlns:a="http://schemas.openxmlformats.org/drawingml/2006/main">
            <a:off x="8429625" y="3762375"/>
            <a:ext cx="276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AEBFCB"/>
                </a:solidFill>
                <a:latin typeface="Helvetica Neue"/>
                <a:ea typeface="Helvetica Neue"/>
                <a:cs typeface="Helvetica Neue"/>
              </a:defRPr>
            </a:pPr>
            <a:r>
              <a:rPr sz="2100" b="0">
                <a:solidFill>
                  <a:srgbClr val="AEBFCB"/>
                </a:solidFill>
                <a:latin typeface="Helvetica Neue"/>
                <a:ea typeface="Helvetica Neue"/>
                <a:cs typeface="Helvetica Neue"/>
              </a:rPr>
              <a:t>Shoferi</a:t>
            </a:r>
          </a:p>
        </p:txBody>
      </p:sp>
      <p:sp>
        <p:nvSpPr>
          <p:cNvPr id="15" name="line-130">
            <a:extLst xmlns:a="http://schemas.openxmlformats.org/drawingml/2006/main">
              <a:ext uri="{FF2B5EF4-FFF2-40B4-BE49-F238E27FC236}">
                <a16:creationId xmlns:a16="http://schemas.microsoft.com/office/drawing/2014/main" id="{D0FAF335-0836-4C82-ADC1-31BEAD91ADBA}"/>
              </a:ext>
            </a:extLst>
          </p:cNvPr>
          <p:cNvSpPr>
            <a:spLocks xmlns:a="http://schemas.openxmlformats.org/drawingml/2006/main" noGrp="1"/>
          </p:cNvSpPr>
          <p:nvPr/>
        </p:nvSpPr>
        <p:spPr>
          <a:xfrm xmlns:a="http://schemas.openxmlformats.org/drawingml/2006/main">
            <a:off x="742950" y="4629150"/>
            <a:ext cx="10620375" cy="0"/>
          </a:xfrm>
          <a:prstGeom xmlns:a="http://schemas.openxmlformats.org/drawingml/2006/main" prst="line">
            <a:avLst/>
          </a:prstGeom>
          <a:noFill xmlns:a="http://schemas.openxmlformats.org/drawingml/2006/main"/>
          <a:ln xmlns:a="http://schemas.openxmlformats.org/drawingml/2006/main" w="19050">
            <a:solidFill>
              <a:srgbClr val="3E5769"/>
            </a:solidFill>
          </a:ln>
        </p:spPr>
      </p:sp>
      <p:sp>
        <p:nvSpPr>
          <p:cNvPr id="16" name="text-131">
            <a:extLst xmlns:a="http://schemas.openxmlformats.org/drawingml/2006/main">
              <a:ext uri="{FF2B5EF4-FFF2-40B4-BE49-F238E27FC236}">
                <a16:creationId xmlns:a16="http://schemas.microsoft.com/office/drawing/2014/main" id="{25EE6D50-4A32-4FC3-BB5E-1561D3889512}"/>
              </a:ext>
            </a:extLst>
          </p:cNvPr>
          <p:cNvSpPr>
            <a:spLocks xmlns:a="http://schemas.openxmlformats.org/drawingml/2006/main" noGrp="1"/>
          </p:cNvSpPr>
          <p:nvPr/>
        </p:nvSpPr>
        <p:spPr>
          <a:xfrm xmlns:a="http://schemas.openxmlformats.org/drawingml/2006/main">
            <a:off x="742950" y="4905375"/>
            <a:ext cx="28860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00" b="1">
                <a:solidFill>
                  <a:srgbClr val="F2BB66"/>
                </a:solidFill>
                <a:latin typeface="Helvetica Neue"/>
                <a:ea typeface="Helvetica Neue"/>
                <a:cs typeface="Helvetica Neue"/>
              </a:defRPr>
            </a:pPr>
            <a:r>
              <a:rPr sz="1800" b="1">
                <a:solidFill>
                  <a:srgbClr val="F2BB66"/>
                </a:solidFill>
                <a:latin typeface="Helvetica Neue"/>
                <a:ea typeface="Helvetica Neue"/>
                <a:cs typeface="Helvetica Neue"/>
              </a:rPr>
              <a:t>JASHTË MVP-së</a:t>
            </a:r>
          </a:p>
        </p:txBody>
      </p:sp>
      <p:sp>
        <p:nvSpPr>
          <p:cNvPr id="17" name="text-132">
            <a:extLst xmlns:a="http://schemas.openxmlformats.org/drawingml/2006/main">
              <a:ext uri="{FF2B5EF4-FFF2-40B4-BE49-F238E27FC236}">
                <a16:creationId xmlns:a16="http://schemas.microsoft.com/office/drawing/2014/main" id="{798D96A5-1026-45AE-A77F-136944B1234B}"/>
              </a:ext>
            </a:extLst>
          </p:cNvPr>
          <p:cNvSpPr>
            <a:spLocks xmlns:a="http://schemas.openxmlformats.org/drawingml/2006/main" noGrp="1"/>
          </p:cNvSpPr>
          <p:nvPr/>
        </p:nvSpPr>
        <p:spPr>
          <a:xfrm xmlns:a="http://schemas.openxmlformats.org/drawingml/2006/main">
            <a:off x="3790950" y="4895850"/>
            <a:ext cx="75152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250" b="0">
                <a:solidFill>
                  <a:srgbClr val="AEBFCB"/>
                </a:solidFill>
                <a:latin typeface="Helvetica Neue"/>
                <a:ea typeface="Helvetica Neue"/>
                <a:cs typeface="Helvetica Neue"/>
              </a:defRPr>
            </a:pPr>
            <a:r>
              <a:rPr sz="2250" b="0">
                <a:solidFill>
                  <a:srgbClr val="AEBFCB"/>
                </a:solidFill>
                <a:latin typeface="Helvetica Neue"/>
                <a:ea typeface="Helvetica Neue"/>
                <a:cs typeface="Helvetica Neue"/>
              </a:rPr>
              <a:t>Pagesa     GPS live     Chat     Vlerësime</a:t>
            </a:r>
          </a:p>
        </p:txBody>
      </p:sp>
      <p:sp>
        <p:nvSpPr>
          <p:cNvPr id="18" name="text-133">
            <a:extLst xmlns:a="http://schemas.openxmlformats.org/drawingml/2006/main">
              <a:ext uri="{FF2B5EF4-FFF2-40B4-BE49-F238E27FC236}">
                <a16:creationId xmlns:a16="http://schemas.microsoft.com/office/drawing/2014/main" id="{E356418D-A455-48FB-ABC1-C2E4A06B326D}"/>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Cilin rrezik ul veçoria që po zgjidhni?</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58907d9627b54a78"/>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243561271"/>
      </p:ext>
    </p:extLst>
  </p:cSld>
</p:sld>
</file>

<file path=ppt/slides/slide17.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17" name="text-134">
            <a:extLst xmlns:a="http://schemas.openxmlformats.org/drawingml/2006/main">
              <a:ext uri="{FF2B5EF4-FFF2-40B4-BE49-F238E27FC236}">
                <a16:creationId xmlns:a16="http://schemas.microsoft.com/office/drawing/2014/main" id="{0D82369E-C922-4273-B1CC-BF566613E426}"/>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SPECIFIKIMI</a:t>
            </a:r>
          </a:p>
        </p:txBody>
      </p:sp>
      <p:sp>
        <p:nvSpPr>
          <p:cNvPr id="2" name="text-135">
            <a:extLst xmlns:a="http://schemas.openxmlformats.org/drawingml/2006/main">
              <a:ext uri="{FF2B5EF4-FFF2-40B4-BE49-F238E27FC236}">
                <a16:creationId xmlns:a16="http://schemas.microsoft.com/office/drawing/2014/main" id="{166C99C7-4DF9-4ABB-A9D4-7EBD43243231}"/>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17</a:t>
            </a:r>
          </a:p>
        </p:txBody>
      </p:sp>
      <p:sp>
        <p:nvSpPr>
          <p:cNvPr id="3" name="text-136">
            <a:extLst xmlns:a="http://schemas.openxmlformats.org/drawingml/2006/main">
              <a:ext uri="{FF2B5EF4-FFF2-40B4-BE49-F238E27FC236}">
                <a16:creationId xmlns:a16="http://schemas.microsoft.com/office/drawing/2014/main" id="{45C8D8DA-82BF-49AB-AEB0-908580B4B2F1}"/>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Kur quhet e përfunduar?</a:t>
            </a:r>
          </a:p>
        </p:txBody>
      </p:sp>
      <p:sp>
        <p:nvSpPr>
          <p:cNvPr id="4" name="text-137">
            <a:extLst xmlns:a="http://schemas.openxmlformats.org/drawingml/2006/main">
              <a:ext uri="{FF2B5EF4-FFF2-40B4-BE49-F238E27FC236}">
                <a16:creationId xmlns:a16="http://schemas.microsoft.com/office/drawing/2014/main" id="{274CC1BA-4E3B-46EA-94F5-C1B5DE4FDB4B}"/>
              </a:ext>
            </a:extLst>
          </p:cNvPr>
          <p:cNvSpPr>
            <a:spLocks xmlns:a="http://schemas.openxmlformats.org/drawingml/2006/main" noGrp="1"/>
          </p:cNvSpPr>
          <p:nvPr/>
        </p:nvSpPr>
        <p:spPr>
          <a:xfrm xmlns:a="http://schemas.openxmlformats.org/drawingml/2006/main">
            <a:off x="628650" y="193357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775" b="0">
                <a:solidFill>
                  <a:srgbClr val="63CDF2"/>
                </a:solidFill>
                <a:latin typeface="Helvetica Neue"/>
                <a:ea typeface="Helvetica Neue"/>
                <a:cs typeface="Helvetica Neue"/>
              </a:defRPr>
            </a:pPr>
            <a:r>
              <a:rPr sz="2775" b="0">
                <a:solidFill>
                  <a:srgbClr val="63CDF2"/>
                </a:solidFill>
                <a:latin typeface="Helvetica Neue"/>
                <a:ea typeface="Helvetica Neue"/>
                <a:cs typeface="Helvetica Neue"/>
              </a:rPr>
              <a:t>Duke pasur… / Kur… / Atëherë…</a:t>
            </a:r>
          </a:p>
        </p:txBody>
      </p:sp>
      <p:sp>
        <p:nvSpPr>
          <p:cNvPr id="5" name="surface-138">
            <a:extLst xmlns:a="http://schemas.openxmlformats.org/drawingml/2006/main">
              <a:ext uri="{FF2B5EF4-FFF2-40B4-BE49-F238E27FC236}">
                <a16:creationId xmlns:a16="http://schemas.microsoft.com/office/drawing/2014/main" id="{9B286408-E26D-4C11-AB25-26F1961521E2}"/>
              </a:ext>
            </a:extLst>
          </p:cNvPr>
          <p:cNvSpPr>
            <a:spLocks xmlns:a="http://schemas.openxmlformats.org/drawingml/2006/main" noGrp="1"/>
          </p:cNvSpPr>
          <p:nvPr/>
        </p:nvSpPr>
        <p:spPr>
          <a:xfrm xmlns:a="http://schemas.openxmlformats.org/drawingml/2006/main">
            <a:off x="809625" y="3009900"/>
            <a:ext cx="2514600" cy="809625"/>
          </a:xfrm>
          <a:prstGeom xmlns:a="http://schemas.openxmlformats.org/drawingml/2006/main" prst="roundRect">
            <a:avLst>
              <a:gd name="adj" fmla="val 11765"/>
            </a:avLst>
          </a:prstGeom>
          <a:solidFill xmlns:a="http://schemas.openxmlformats.org/drawingml/2006/main">
            <a:srgbClr val="192732"/>
          </a:solidFill>
          <a:ln xmlns:a="http://schemas.openxmlformats.org/drawingml/2006/main" w="19050">
            <a:solidFill>
              <a:srgbClr val="63CDF2"/>
            </a:solidFill>
          </a:ln>
        </p:spPr>
      </p:sp>
      <p:sp>
        <p:nvSpPr>
          <p:cNvPr id="6" name="text-139">
            <a:extLst xmlns:a="http://schemas.openxmlformats.org/drawingml/2006/main">
              <a:ext uri="{FF2B5EF4-FFF2-40B4-BE49-F238E27FC236}">
                <a16:creationId xmlns:a16="http://schemas.microsoft.com/office/drawing/2014/main" id="{D28A7F2F-939D-459B-A153-01705A13B67F}"/>
              </a:ext>
            </a:extLst>
          </p:cNvPr>
          <p:cNvSpPr>
            <a:spLocks xmlns:a="http://schemas.openxmlformats.org/drawingml/2006/main" noGrp="1"/>
          </p:cNvSpPr>
          <p:nvPr/>
        </p:nvSpPr>
        <p:spPr>
          <a:xfrm xmlns:a="http://schemas.openxmlformats.org/drawingml/2006/main">
            <a:off x="923925" y="3086100"/>
            <a:ext cx="2286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63CDF2"/>
                </a:solidFill>
                <a:latin typeface="Helvetica Neue"/>
                <a:ea typeface="Helvetica Neue"/>
                <a:cs typeface="Helvetica Neue"/>
              </a:defRPr>
            </a:pPr>
            <a:r>
              <a:rPr sz="2250" b="1">
                <a:solidFill>
                  <a:srgbClr val="63CDF2"/>
                </a:solidFill>
                <a:latin typeface="Helvetica Neue"/>
                <a:ea typeface="Helvetica Neue"/>
                <a:cs typeface="Helvetica Neue"/>
              </a:rPr>
              <a:t>Kërkesa A</a:t>
            </a:r>
          </a:p>
        </p:txBody>
      </p:sp>
      <p:sp>
        <p:nvSpPr>
          <p:cNvPr id="7" name="surface-140">
            <a:extLst xmlns:a="http://schemas.openxmlformats.org/drawingml/2006/main">
              <a:ext uri="{FF2B5EF4-FFF2-40B4-BE49-F238E27FC236}">
                <a16:creationId xmlns:a16="http://schemas.microsoft.com/office/drawing/2014/main" id="{9CFA5A5B-F01F-47C8-82D2-89573548A97E}"/>
              </a:ext>
            </a:extLst>
          </p:cNvPr>
          <p:cNvSpPr>
            <a:spLocks xmlns:a="http://schemas.openxmlformats.org/drawingml/2006/main" noGrp="1"/>
          </p:cNvSpPr>
          <p:nvPr/>
        </p:nvSpPr>
        <p:spPr>
          <a:xfrm xmlns:a="http://schemas.openxmlformats.org/drawingml/2006/main">
            <a:off x="4705350" y="3009900"/>
            <a:ext cx="2514600" cy="809625"/>
          </a:xfrm>
          <a:prstGeom xmlns:a="http://schemas.openxmlformats.org/drawingml/2006/main" prst="roundRect">
            <a:avLst>
              <a:gd name="adj" fmla="val 11765"/>
            </a:avLst>
          </a:prstGeom>
          <a:solidFill xmlns:a="http://schemas.openxmlformats.org/drawingml/2006/main">
            <a:srgbClr val="192732"/>
          </a:solidFill>
          <a:ln xmlns:a="http://schemas.openxmlformats.org/drawingml/2006/main" w="19050">
            <a:solidFill>
              <a:srgbClr val="F4F2EC"/>
            </a:solidFill>
          </a:ln>
        </p:spPr>
      </p:sp>
      <p:sp>
        <p:nvSpPr>
          <p:cNvPr id="8" name="text-141">
            <a:extLst xmlns:a="http://schemas.openxmlformats.org/drawingml/2006/main">
              <a:ext uri="{FF2B5EF4-FFF2-40B4-BE49-F238E27FC236}">
                <a16:creationId xmlns:a16="http://schemas.microsoft.com/office/drawing/2014/main" id="{BEBF89ED-34D9-4831-A430-68C8CCA7733F}"/>
              </a:ext>
            </a:extLst>
          </p:cNvPr>
          <p:cNvSpPr>
            <a:spLocks xmlns:a="http://schemas.openxmlformats.org/drawingml/2006/main" noGrp="1"/>
          </p:cNvSpPr>
          <p:nvPr/>
        </p:nvSpPr>
        <p:spPr>
          <a:xfrm xmlns:a="http://schemas.openxmlformats.org/drawingml/2006/main">
            <a:off x="4819650" y="3086100"/>
            <a:ext cx="2286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F4F2EC"/>
                </a:solidFill>
                <a:latin typeface="Helvetica Neue"/>
                <a:ea typeface="Helvetica Neue"/>
                <a:cs typeface="Helvetica Neue"/>
              </a:defRPr>
            </a:pPr>
            <a:r>
              <a:rPr sz="2250" b="1">
                <a:solidFill>
                  <a:srgbClr val="F4F2EC"/>
                </a:solidFill>
                <a:latin typeface="Helvetica Neue"/>
                <a:ea typeface="Helvetica Neue"/>
                <a:cs typeface="Helvetica Neue"/>
              </a:rPr>
              <a:t>1 vend</a:t>
            </a:r>
          </a:p>
        </p:txBody>
      </p:sp>
      <p:sp>
        <p:nvSpPr>
          <p:cNvPr id="9" name="surface-142">
            <a:extLst xmlns:a="http://schemas.openxmlformats.org/drawingml/2006/main">
              <a:ext uri="{FF2B5EF4-FFF2-40B4-BE49-F238E27FC236}">
                <a16:creationId xmlns:a16="http://schemas.microsoft.com/office/drawing/2014/main" id="{BEC9F542-3DDF-40ED-B7CC-C30B6E26452C}"/>
              </a:ext>
            </a:extLst>
          </p:cNvPr>
          <p:cNvSpPr>
            <a:spLocks xmlns:a="http://schemas.openxmlformats.org/drawingml/2006/main" noGrp="1"/>
          </p:cNvSpPr>
          <p:nvPr/>
        </p:nvSpPr>
        <p:spPr>
          <a:xfrm xmlns:a="http://schemas.openxmlformats.org/drawingml/2006/main">
            <a:off x="8601075" y="3009900"/>
            <a:ext cx="2514600" cy="809625"/>
          </a:xfrm>
          <a:prstGeom xmlns:a="http://schemas.openxmlformats.org/drawingml/2006/main" prst="roundRect">
            <a:avLst>
              <a:gd name="adj" fmla="val 11765"/>
            </a:avLst>
          </a:prstGeom>
          <a:solidFill xmlns:a="http://schemas.openxmlformats.org/drawingml/2006/main">
            <a:srgbClr val="192732"/>
          </a:solidFill>
          <a:ln xmlns:a="http://schemas.openxmlformats.org/drawingml/2006/main" w="19050">
            <a:solidFill>
              <a:srgbClr val="91DEBB"/>
            </a:solidFill>
          </a:ln>
        </p:spPr>
      </p:sp>
      <p:sp>
        <p:nvSpPr>
          <p:cNvPr id="10" name="text-143">
            <a:extLst xmlns:a="http://schemas.openxmlformats.org/drawingml/2006/main">
              <a:ext uri="{FF2B5EF4-FFF2-40B4-BE49-F238E27FC236}">
                <a16:creationId xmlns:a16="http://schemas.microsoft.com/office/drawing/2014/main" id="{CF9114DE-F6E8-4308-A886-0B6EBEB321D4}"/>
              </a:ext>
            </a:extLst>
          </p:cNvPr>
          <p:cNvSpPr>
            <a:spLocks xmlns:a="http://schemas.openxmlformats.org/drawingml/2006/main" noGrp="1"/>
          </p:cNvSpPr>
          <p:nvPr/>
        </p:nvSpPr>
        <p:spPr>
          <a:xfrm xmlns:a="http://schemas.openxmlformats.org/drawingml/2006/main">
            <a:off x="8715375" y="3086100"/>
            <a:ext cx="2286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91DEBB"/>
                </a:solidFill>
                <a:latin typeface="Helvetica Neue"/>
                <a:ea typeface="Helvetica Neue"/>
                <a:cs typeface="Helvetica Neue"/>
              </a:defRPr>
            </a:pPr>
            <a:r>
              <a:rPr sz="2250" b="1">
                <a:solidFill>
                  <a:srgbClr val="91DEBB"/>
                </a:solidFill>
                <a:latin typeface="Helvetica Neue"/>
                <a:ea typeface="Helvetica Neue"/>
                <a:cs typeface="Helvetica Neue"/>
              </a:rPr>
              <a:t>Pranuar</a:t>
            </a:r>
          </a:p>
        </p:txBody>
      </p:sp>
      <p:sp>
        <p:nvSpPr>
          <p:cNvPr id="11" name="flow-144">
            <a:extLst xmlns:a="http://schemas.openxmlformats.org/drawingml/2006/main">
              <a:ext uri="{FF2B5EF4-FFF2-40B4-BE49-F238E27FC236}">
                <a16:creationId xmlns:a16="http://schemas.microsoft.com/office/drawing/2014/main" id="{B2139522-777F-42FA-83C5-0FD83B45CA10}"/>
              </a:ext>
            </a:extLst>
          </p:cNvPr>
          <p:cNvSpPr>
            <a:spLocks xmlns:a="http://schemas.openxmlformats.org/drawingml/2006/main" noGrp="1"/>
          </p:cNvSpPr>
          <p:nvPr/>
        </p:nvSpPr>
        <p:spPr>
          <a:xfrm xmlns:a="http://schemas.openxmlformats.org/drawingml/2006/main">
            <a:off x="3619500" y="3314700"/>
            <a:ext cx="76200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2" name="flow-145">
            <a:extLst xmlns:a="http://schemas.openxmlformats.org/drawingml/2006/main">
              <a:ext uri="{FF2B5EF4-FFF2-40B4-BE49-F238E27FC236}">
                <a16:creationId xmlns:a16="http://schemas.microsoft.com/office/drawing/2014/main" id="{C12E97CC-E10D-4EF3-875E-B0C4364275CD}"/>
              </a:ext>
            </a:extLst>
          </p:cNvPr>
          <p:cNvSpPr>
            <a:spLocks xmlns:a="http://schemas.openxmlformats.org/drawingml/2006/main" noGrp="1"/>
          </p:cNvSpPr>
          <p:nvPr/>
        </p:nvSpPr>
        <p:spPr>
          <a:xfrm xmlns:a="http://schemas.openxmlformats.org/drawingml/2006/main">
            <a:off x="7515225" y="3314700"/>
            <a:ext cx="76200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3" name="text-146">
            <a:extLst xmlns:a="http://schemas.openxmlformats.org/drawingml/2006/main">
              <a:ext uri="{FF2B5EF4-FFF2-40B4-BE49-F238E27FC236}">
                <a16:creationId xmlns:a16="http://schemas.microsoft.com/office/drawing/2014/main" id="{C5E82296-4511-40BC-99FB-0225A2A86A46}"/>
              </a:ext>
            </a:extLst>
          </p:cNvPr>
          <p:cNvSpPr>
            <a:spLocks xmlns:a="http://schemas.openxmlformats.org/drawingml/2006/main" noGrp="1"/>
          </p:cNvSpPr>
          <p:nvPr/>
        </p:nvSpPr>
        <p:spPr>
          <a:xfrm xmlns:a="http://schemas.openxmlformats.org/drawingml/2006/main">
            <a:off x="838200" y="4133850"/>
            <a:ext cx="2514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400" b="1">
                <a:solidFill>
                  <a:srgbClr val="AEBFCB"/>
                </a:solidFill>
                <a:latin typeface="Helvetica Neue"/>
                <a:ea typeface="Helvetica Neue"/>
                <a:cs typeface="Helvetica Neue"/>
              </a:defRPr>
            </a:pPr>
            <a:r>
              <a:rPr sz="2400" b="1">
                <a:solidFill>
                  <a:srgbClr val="AEBFCB"/>
                </a:solidFill>
                <a:latin typeface="Helvetica Neue"/>
                <a:ea typeface="Helvetica Neue"/>
                <a:cs typeface="Helvetica Neue"/>
              </a:rPr>
              <a:t>Kërkesa B</a:t>
            </a:r>
          </a:p>
        </p:txBody>
      </p:sp>
      <p:sp>
        <p:nvSpPr>
          <p:cNvPr id="14" name="text-147">
            <a:extLst xmlns:a="http://schemas.openxmlformats.org/drawingml/2006/main">
              <a:ext uri="{FF2B5EF4-FFF2-40B4-BE49-F238E27FC236}">
                <a16:creationId xmlns:a16="http://schemas.microsoft.com/office/drawing/2014/main" id="{0F402639-59D0-4D2D-8E3C-D56626A09099}"/>
              </a:ext>
            </a:extLst>
          </p:cNvPr>
          <p:cNvSpPr>
            <a:spLocks xmlns:a="http://schemas.openxmlformats.org/drawingml/2006/main" noGrp="1"/>
          </p:cNvSpPr>
          <p:nvPr/>
        </p:nvSpPr>
        <p:spPr>
          <a:xfrm xmlns:a="http://schemas.openxmlformats.org/drawingml/2006/main">
            <a:off x="4705350" y="4133850"/>
            <a:ext cx="643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1">
                <a:solidFill>
                  <a:srgbClr val="F2BB66"/>
                </a:solidFill>
                <a:latin typeface="Helvetica Neue"/>
                <a:ea typeface="Helvetica Neue"/>
                <a:cs typeface="Helvetica Neue"/>
              </a:defRPr>
            </a:pPr>
            <a:r>
              <a:rPr sz="2550" b="1">
                <a:solidFill>
                  <a:srgbClr val="F2BB66"/>
                </a:solidFill>
                <a:latin typeface="Helvetica Neue"/>
                <a:ea typeface="Helvetica Neue"/>
                <a:cs typeface="Helvetica Neue"/>
              </a:rPr>
              <a:t>Pa tejkalim kapaciteti</a:t>
            </a:r>
          </a:p>
        </p:txBody>
      </p:sp>
      <p:sp>
        <p:nvSpPr>
          <p:cNvPr id="15" name="text-148">
            <a:extLst xmlns:a="http://schemas.openxmlformats.org/drawingml/2006/main">
              <a:ext uri="{FF2B5EF4-FFF2-40B4-BE49-F238E27FC236}">
                <a16:creationId xmlns:a16="http://schemas.microsoft.com/office/drawing/2014/main" id="{E13B6FE1-2227-4A3C-9E83-9F7448972764}"/>
              </a:ext>
            </a:extLst>
          </p:cNvPr>
          <p:cNvSpPr>
            <a:spLocks xmlns:a="http://schemas.openxmlformats.org/drawingml/2006/main" noGrp="1"/>
          </p:cNvSpPr>
          <p:nvPr/>
        </p:nvSpPr>
        <p:spPr>
          <a:xfrm xmlns:a="http://schemas.openxmlformats.org/drawingml/2006/main">
            <a:off x="828675" y="5105400"/>
            <a:ext cx="101441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150" b="1">
                <a:solidFill>
                  <a:srgbClr val="F4F2EC"/>
                </a:solidFill>
                <a:latin typeface="Helvetica Neue"/>
                <a:ea typeface="Helvetica Neue"/>
                <a:cs typeface="Helvetica Neue"/>
              </a:defRPr>
            </a:pPr>
            <a:r>
              <a:rPr sz="3150" b="1">
                <a:solidFill>
                  <a:srgbClr val="F4F2EC"/>
                </a:solidFill>
                <a:latin typeface="Helvetica Neue"/>
                <a:ea typeface="Helvetica Neue"/>
                <a:cs typeface="Helvetica Neue"/>
              </a:rPr>
              <a:t>Vendet e konfirmuara ≤ kapaciteti</a:t>
            </a:r>
          </a:p>
        </p:txBody>
      </p:sp>
      <p:sp>
        <p:nvSpPr>
          <p:cNvPr id="16" name="text-149">
            <a:extLst xmlns:a="http://schemas.openxmlformats.org/drawingml/2006/main">
              <a:ext uri="{FF2B5EF4-FFF2-40B4-BE49-F238E27FC236}">
                <a16:creationId xmlns:a16="http://schemas.microsoft.com/office/drawing/2014/main" id="{E9FFEF0B-E349-4992-A8C0-43A644D4D9E0}"/>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Çfarë ndodh kur dy kërkesa mbërrijnë njëkohësisht?</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bd4973aaa44e43db"/>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476122933"/>
      </p:ext>
    </p:extLst>
  </p:cSld>
</p:sld>
</file>

<file path=ppt/slides/slide18.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32" name="text-150">
            <a:extLst xmlns:a="http://schemas.openxmlformats.org/drawingml/2006/main">
              <a:ext uri="{FF2B5EF4-FFF2-40B4-BE49-F238E27FC236}">
                <a16:creationId xmlns:a16="http://schemas.microsoft.com/office/drawing/2014/main" id="{9EBAA818-8625-45FF-AD5E-2AC8C9EFE9BE}"/>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SPECIFIKIMI</a:t>
            </a:r>
          </a:p>
        </p:txBody>
      </p:sp>
      <p:sp>
        <p:nvSpPr>
          <p:cNvPr id="2" name="text-151">
            <a:extLst xmlns:a="http://schemas.openxmlformats.org/drawingml/2006/main">
              <a:ext uri="{FF2B5EF4-FFF2-40B4-BE49-F238E27FC236}">
                <a16:creationId xmlns:a16="http://schemas.microsoft.com/office/drawing/2014/main" id="{0173AD9F-72E4-40D8-91BD-29CA21F9E3CD}"/>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18</a:t>
            </a:r>
          </a:p>
        </p:txBody>
      </p:sp>
      <p:sp>
        <p:nvSpPr>
          <p:cNvPr id="3" name="text-152">
            <a:extLst xmlns:a="http://schemas.openxmlformats.org/drawingml/2006/main">
              <a:ext uri="{FF2B5EF4-FFF2-40B4-BE49-F238E27FC236}">
                <a16:creationId xmlns:a16="http://schemas.microsoft.com/office/drawing/2014/main" id="{1A01685F-3B67-4B24-A2CE-67EDCE31ECB3}"/>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Testojeni përpara ndërtimit</a:t>
            </a:r>
          </a:p>
        </p:txBody>
      </p:sp>
      <p:sp>
        <p:nvSpPr>
          <p:cNvPr id="4" name="surface-153">
            <a:extLst xmlns:a="http://schemas.openxmlformats.org/drawingml/2006/main">
              <a:ext uri="{FF2B5EF4-FFF2-40B4-BE49-F238E27FC236}">
                <a16:creationId xmlns:a16="http://schemas.microsoft.com/office/drawing/2014/main" id="{C2E62629-F6D7-45D9-85F8-17DF4D00EFEE}"/>
              </a:ext>
            </a:extLst>
          </p:cNvPr>
          <p:cNvSpPr>
            <a:spLocks xmlns:a="http://schemas.openxmlformats.org/drawingml/2006/main" noGrp="1"/>
          </p:cNvSpPr>
          <p:nvPr/>
        </p:nvSpPr>
        <p:spPr>
          <a:xfrm xmlns:a="http://schemas.openxmlformats.org/drawingml/2006/main">
            <a:off x="895350" y="1809750"/>
            <a:ext cx="2667000" cy="3810000"/>
          </a:xfrm>
          <a:prstGeom xmlns:a="http://schemas.openxmlformats.org/drawingml/2006/main" prst="roundRect">
            <a:avLst>
              <a:gd name="adj" fmla="val 10000"/>
            </a:avLst>
          </a:prstGeom>
          <a:solidFill xmlns:a="http://schemas.openxmlformats.org/drawingml/2006/main">
            <a:srgbClr val="0A1117"/>
          </a:solidFill>
          <a:ln xmlns:a="http://schemas.openxmlformats.org/drawingml/2006/main" w="19050">
            <a:solidFill>
              <a:srgbClr val="3E5769"/>
            </a:solidFill>
          </a:ln>
        </p:spPr>
      </p:sp>
      <p:sp>
        <p:nvSpPr>
          <p:cNvPr id="5" name="surface-154">
            <a:extLst xmlns:a="http://schemas.openxmlformats.org/drawingml/2006/main">
              <a:ext uri="{FF2B5EF4-FFF2-40B4-BE49-F238E27FC236}">
                <a16:creationId xmlns:a16="http://schemas.microsoft.com/office/drawing/2014/main" id="{16C29E57-E5D1-495D-95BB-57C348E96D09}"/>
              </a:ext>
            </a:extLst>
          </p:cNvPr>
          <p:cNvSpPr>
            <a:spLocks xmlns:a="http://schemas.openxmlformats.org/drawingml/2006/main" noGrp="1"/>
          </p:cNvSpPr>
          <p:nvPr/>
        </p:nvSpPr>
        <p:spPr>
          <a:xfrm xmlns:a="http://schemas.openxmlformats.org/drawingml/2006/main">
            <a:off x="990600" y="1905000"/>
            <a:ext cx="2476500" cy="3619500"/>
          </a:xfrm>
          <a:prstGeom xmlns:a="http://schemas.openxmlformats.org/drawingml/2006/main" prst="roundRect">
            <a:avLst>
              <a:gd name="adj" fmla="val 8462"/>
            </a:avLst>
          </a:prstGeom>
          <a:solidFill xmlns:a="http://schemas.openxmlformats.org/drawingml/2006/main">
            <a:srgbClr val="192732"/>
          </a:solidFill>
          <a:ln xmlns:a="http://schemas.openxmlformats.org/drawingml/2006/main" w="0">
            <a:noFill/>
          </a:ln>
        </p:spPr>
      </p:sp>
      <p:sp>
        <p:nvSpPr>
          <p:cNvPr id="6" name="surface-155">
            <a:extLst xmlns:a="http://schemas.openxmlformats.org/drawingml/2006/main">
              <a:ext uri="{FF2B5EF4-FFF2-40B4-BE49-F238E27FC236}">
                <a16:creationId xmlns:a16="http://schemas.microsoft.com/office/drawing/2014/main" id="{0F4F76EA-D816-4B80-851A-61ECDE5FCA65}"/>
              </a:ext>
            </a:extLst>
          </p:cNvPr>
          <p:cNvSpPr>
            <a:spLocks xmlns:a="http://schemas.openxmlformats.org/drawingml/2006/main" noGrp="1"/>
          </p:cNvSpPr>
          <p:nvPr/>
        </p:nvSpPr>
        <p:spPr>
          <a:xfrm xmlns:a="http://schemas.openxmlformats.org/drawingml/2006/main">
            <a:off x="1828800" y="1971675"/>
            <a:ext cx="800100" cy="57150"/>
          </a:xfrm>
          <a:prstGeom xmlns:a="http://schemas.openxmlformats.org/drawingml/2006/main" prst="roundRect">
            <a:avLst>
              <a:gd name="adj" fmla="val 50000"/>
            </a:avLst>
          </a:prstGeom>
          <a:solidFill xmlns:a="http://schemas.openxmlformats.org/drawingml/2006/main">
            <a:srgbClr val="3E5769"/>
          </a:solidFill>
          <a:ln xmlns:a="http://schemas.openxmlformats.org/drawingml/2006/main" w="0">
            <a:noFill/>
          </a:ln>
        </p:spPr>
      </p:sp>
      <p:sp>
        <p:nvSpPr>
          <p:cNvPr id="7" name="text-156">
            <a:extLst xmlns:a="http://schemas.openxmlformats.org/drawingml/2006/main">
              <a:ext uri="{FF2B5EF4-FFF2-40B4-BE49-F238E27FC236}">
                <a16:creationId xmlns:a16="http://schemas.microsoft.com/office/drawing/2014/main" id="{88BD0D51-A6A2-4C68-8E34-41713C5AB685}"/>
              </a:ext>
            </a:extLst>
          </p:cNvPr>
          <p:cNvSpPr>
            <a:spLocks xmlns:a="http://schemas.openxmlformats.org/drawingml/2006/main" noGrp="1"/>
          </p:cNvSpPr>
          <p:nvPr/>
        </p:nvSpPr>
        <p:spPr>
          <a:xfrm xmlns:a="http://schemas.openxmlformats.org/drawingml/2006/main">
            <a:off x="1123950" y="2209800"/>
            <a:ext cx="2209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1">
                <a:solidFill>
                  <a:srgbClr val="63CDF2"/>
                </a:solidFill>
                <a:latin typeface="Helvetica Neue"/>
                <a:ea typeface="Helvetica Neue"/>
                <a:cs typeface="Helvetica Neue"/>
              </a:defRPr>
            </a:pPr>
            <a:r>
              <a:rPr sz="2025" b="1">
                <a:solidFill>
                  <a:srgbClr val="63CDF2"/>
                </a:solidFill>
                <a:latin typeface="Helvetica Neue"/>
                <a:ea typeface="Helvetica Neue"/>
                <a:cs typeface="Helvetica Neue"/>
              </a:rPr>
              <a:t>AAB RideShare</a:t>
            </a:r>
          </a:p>
        </p:txBody>
      </p:sp>
      <p:sp>
        <p:nvSpPr>
          <p:cNvPr id="8" name="text-157">
            <a:extLst xmlns:a="http://schemas.openxmlformats.org/drawingml/2006/main">
              <a:ext uri="{FF2B5EF4-FFF2-40B4-BE49-F238E27FC236}">
                <a16:creationId xmlns:a16="http://schemas.microsoft.com/office/drawing/2014/main" id="{DF021044-C127-4F20-B15A-042F2644F34C}"/>
              </a:ext>
            </a:extLst>
          </p:cNvPr>
          <p:cNvSpPr>
            <a:spLocks xmlns:a="http://schemas.openxmlformats.org/drawingml/2006/main" noGrp="1"/>
          </p:cNvSpPr>
          <p:nvPr/>
        </p:nvSpPr>
        <p:spPr>
          <a:xfrm xmlns:a="http://schemas.openxmlformats.org/drawingml/2006/main">
            <a:off x="1123950" y="2686050"/>
            <a:ext cx="2209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250" b="1">
                <a:solidFill>
                  <a:srgbClr val="F4F2EC"/>
                </a:solidFill>
                <a:latin typeface="Helvetica Neue"/>
                <a:ea typeface="Helvetica Neue"/>
                <a:cs typeface="Helvetica Neue"/>
              </a:defRPr>
            </a:pPr>
            <a:r>
              <a:rPr sz="2250" b="1">
                <a:solidFill>
                  <a:srgbClr val="F4F2EC"/>
                </a:solidFill>
                <a:latin typeface="Helvetica Neue"/>
                <a:ea typeface="Helvetica Neue"/>
                <a:cs typeface="Helvetica Neue"/>
              </a:rPr>
              <a:t>Udhëtimet</a:t>
            </a:r>
          </a:p>
        </p:txBody>
      </p:sp>
      <p:sp>
        <p:nvSpPr>
          <p:cNvPr id="9" name="text-158">
            <a:extLst xmlns:a="http://schemas.openxmlformats.org/drawingml/2006/main">
              <a:ext uri="{FF2B5EF4-FFF2-40B4-BE49-F238E27FC236}">
                <a16:creationId xmlns:a16="http://schemas.microsoft.com/office/drawing/2014/main" id="{8C026980-70F2-4A8D-A904-7DBB243747A2}"/>
              </a:ext>
            </a:extLst>
          </p:cNvPr>
          <p:cNvSpPr>
            <a:spLocks xmlns:a="http://schemas.openxmlformats.org/drawingml/2006/main" noGrp="1"/>
          </p:cNvSpPr>
          <p:nvPr/>
        </p:nvSpPr>
        <p:spPr>
          <a:xfrm xmlns:a="http://schemas.openxmlformats.org/drawingml/2006/main">
            <a:off x="1123950" y="3190875"/>
            <a:ext cx="2209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1">
                <a:solidFill>
                  <a:srgbClr val="F4F2EC"/>
                </a:solidFill>
                <a:latin typeface="Helvetica Neue"/>
                <a:ea typeface="Helvetica Neue"/>
                <a:cs typeface="Helvetica Neue"/>
              </a:defRPr>
            </a:pPr>
            <a:r>
              <a:rPr sz="2025" b="1">
                <a:solidFill>
                  <a:srgbClr val="F4F2EC"/>
                </a:solidFill>
                <a:latin typeface="Helvetica Neue"/>
                <a:ea typeface="Helvetica Neue"/>
                <a:cs typeface="Helvetica Neue"/>
              </a:rPr>
              <a:t>Fushë Kosovë</a:t>
            </a:r>
          </a:p>
          <a:p xmlns:a="http://schemas.openxmlformats.org/drawingml/2006/main">
            <a:pPr algn="l">
              <a:buNone/>
              <a:defRPr sz="2025" b="1">
                <a:solidFill>
                  <a:srgbClr val="F4F2EC"/>
                </a:solidFill>
                <a:latin typeface="Helvetica Neue"/>
                <a:ea typeface="Helvetica Neue"/>
                <a:cs typeface="Helvetica Neue"/>
              </a:defRPr>
            </a:pPr>
            <a:r>
              <a:rPr sz="2025" b="1">
                <a:solidFill>
                  <a:srgbClr val="F4F2EC"/>
                </a:solidFill>
                <a:latin typeface="Helvetica Neue"/>
                <a:ea typeface="Helvetica Neue"/>
                <a:cs typeface="Helvetica Neue"/>
              </a:rPr>
              <a:t>Kampus</a:t>
            </a:r>
          </a:p>
        </p:txBody>
      </p:sp>
      <p:sp>
        <p:nvSpPr>
          <p:cNvPr id="10" name="text-159">
            <a:extLst xmlns:a="http://schemas.openxmlformats.org/drawingml/2006/main">
              <a:ext uri="{FF2B5EF4-FFF2-40B4-BE49-F238E27FC236}">
                <a16:creationId xmlns:a16="http://schemas.microsoft.com/office/drawing/2014/main" id="{37373074-1411-4701-BE8A-3EBF7B89D70A}"/>
              </a:ext>
            </a:extLst>
          </p:cNvPr>
          <p:cNvSpPr>
            <a:spLocks xmlns:a="http://schemas.openxmlformats.org/drawingml/2006/main" noGrp="1"/>
          </p:cNvSpPr>
          <p:nvPr/>
        </p:nvSpPr>
        <p:spPr>
          <a:xfrm xmlns:a="http://schemas.openxmlformats.org/drawingml/2006/main">
            <a:off x="1123950" y="4010025"/>
            <a:ext cx="2209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725" b="0">
                <a:solidFill>
                  <a:srgbClr val="AEBFCB"/>
                </a:solidFill>
                <a:latin typeface="Helvetica Neue"/>
                <a:ea typeface="Helvetica Neue"/>
                <a:cs typeface="Helvetica Neue"/>
              </a:defRPr>
            </a:pPr>
            <a:r>
              <a:rPr sz="1725" b="0">
                <a:solidFill>
                  <a:srgbClr val="AEBFCB"/>
                </a:solidFill>
                <a:latin typeface="Helvetica Neue"/>
                <a:ea typeface="Helvetica Neue"/>
                <a:cs typeface="Helvetica Neue"/>
              </a:rPr>
              <a:t>07:30     1 vend</a:t>
            </a:r>
          </a:p>
        </p:txBody>
      </p:sp>
      <p:sp>
        <p:nvSpPr>
          <p:cNvPr id="11" name="surface-160">
            <a:extLst xmlns:a="http://schemas.openxmlformats.org/drawingml/2006/main">
              <a:ext uri="{FF2B5EF4-FFF2-40B4-BE49-F238E27FC236}">
                <a16:creationId xmlns:a16="http://schemas.microsoft.com/office/drawing/2014/main" id="{C3FC90E6-E0FD-452B-8A74-7C0EA65BE8E2}"/>
              </a:ext>
            </a:extLst>
          </p:cNvPr>
          <p:cNvSpPr>
            <a:spLocks xmlns:a="http://schemas.openxmlformats.org/drawingml/2006/main" noGrp="1"/>
          </p:cNvSpPr>
          <p:nvPr/>
        </p:nvSpPr>
        <p:spPr>
          <a:xfrm xmlns:a="http://schemas.openxmlformats.org/drawingml/2006/main">
            <a:off x="1123950" y="4772025"/>
            <a:ext cx="2209800" cy="457200"/>
          </a:xfrm>
          <a:prstGeom xmlns:a="http://schemas.openxmlformats.org/drawingml/2006/main" prst="roundRect">
            <a:avLst>
              <a:gd name="adj" fmla="val 16667"/>
            </a:avLst>
          </a:prstGeom>
          <a:solidFill xmlns:a="http://schemas.openxmlformats.org/drawingml/2006/main">
            <a:srgbClr val="63CDF2"/>
          </a:solidFill>
          <a:ln xmlns:a="http://schemas.openxmlformats.org/drawingml/2006/main" w="0">
            <a:noFill/>
          </a:ln>
        </p:spPr>
      </p:sp>
      <p:sp>
        <p:nvSpPr>
          <p:cNvPr id="12" name="text-161">
            <a:extLst xmlns:a="http://schemas.openxmlformats.org/drawingml/2006/main">
              <a:ext uri="{FF2B5EF4-FFF2-40B4-BE49-F238E27FC236}">
                <a16:creationId xmlns:a16="http://schemas.microsoft.com/office/drawing/2014/main" id="{3829D174-1E97-4391-B7DD-E42A6E59B316}"/>
              </a:ext>
            </a:extLst>
          </p:cNvPr>
          <p:cNvSpPr>
            <a:spLocks xmlns:a="http://schemas.openxmlformats.org/drawingml/2006/main" noGrp="1"/>
          </p:cNvSpPr>
          <p:nvPr/>
        </p:nvSpPr>
        <p:spPr>
          <a:xfrm xmlns:a="http://schemas.openxmlformats.org/drawingml/2006/main">
            <a:off x="1123950" y="4772025"/>
            <a:ext cx="2209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Shiko detajet</a:t>
            </a:r>
          </a:p>
        </p:txBody>
      </p:sp>
      <p:sp>
        <p:nvSpPr>
          <p:cNvPr id="13" name="surface-162">
            <a:extLst xmlns:a="http://schemas.openxmlformats.org/drawingml/2006/main">
              <a:ext uri="{FF2B5EF4-FFF2-40B4-BE49-F238E27FC236}">
                <a16:creationId xmlns:a16="http://schemas.microsoft.com/office/drawing/2014/main" id="{BF41DE9A-1F24-4784-9742-B54A9074D864}"/>
              </a:ext>
            </a:extLst>
          </p:cNvPr>
          <p:cNvSpPr>
            <a:spLocks xmlns:a="http://schemas.openxmlformats.org/drawingml/2006/main" noGrp="1"/>
          </p:cNvSpPr>
          <p:nvPr/>
        </p:nvSpPr>
        <p:spPr>
          <a:xfrm xmlns:a="http://schemas.openxmlformats.org/drawingml/2006/main">
            <a:off x="4762500" y="1809750"/>
            <a:ext cx="2667000" cy="3810000"/>
          </a:xfrm>
          <a:prstGeom xmlns:a="http://schemas.openxmlformats.org/drawingml/2006/main" prst="roundRect">
            <a:avLst>
              <a:gd name="adj" fmla="val 10000"/>
            </a:avLst>
          </a:prstGeom>
          <a:solidFill xmlns:a="http://schemas.openxmlformats.org/drawingml/2006/main">
            <a:srgbClr val="0A1117"/>
          </a:solidFill>
          <a:ln xmlns:a="http://schemas.openxmlformats.org/drawingml/2006/main" w="19050">
            <a:solidFill>
              <a:srgbClr val="3E5769"/>
            </a:solidFill>
          </a:ln>
        </p:spPr>
      </p:sp>
      <p:sp>
        <p:nvSpPr>
          <p:cNvPr id="14" name="surface-163">
            <a:extLst xmlns:a="http://schemas.openxmlformats.org/drawingml/2006/main">
              <a:ext uri="{FF2B5EF4-FFF2-40B4-BE49-F238E27FC236}">
                <a16:creationId xmlns:a16="http://schemas.microsoft.com/office/drawing/2014/main" id="{BA5B0ED5-72F7-4A4A-8471-9C384A58724F}"/>
              </a:ext>
            </a:extLst>
          </p:cNvPr>
          <p:cNvSpPr>
            <a:spLocks xmlns:a="http://schemas.openxmlformats.org/drawingml/2006/main" noGrp="1"/>
          </p:cNvSpPr>
          <p:nvPr/>
        </p:nvSpPr>
        <p:spPr>
          <a:xfrm xmlns:a="http://schemas.openxmlformats.org/drawingml/2006/main">
            <a:off x="4857750" y="1905000"/>
            <a:ext cx="2476500" cy="3619500"/>
          </a:xfrm>
          <a:prstGeom xmlns:a="http://schemas.openxmlformats.org/drawingml/2006/main" prst="roundRect">
            <a:avLst>
              <a:gd name="adj" fmla="val 8462"/>
            </a:avLst>
          </a:prstGeom>
          <a:solidFill xmlns:a="http://schemas.openxmlformats.org/drawingml/2006/main">
            <a:srgbClr val="192732"/>
          </a:solidFill>
          <a:ln xmlns:a="http://schemas.openxmlformats.org/drawingml/2006/main" w="0">
            <a:noFill/>
          </a:ln>
        </p:spPr>
      </p:sp>
      <p:sp>
        <p:nvSpPr>
          <p:cNvPr id="15" name="surface-164">
            <a:extLst xmlns:a="http://schemas.openxmlformats.org/drawingml/2006/main">
              <a:ext uri="{FF2B5EF4-FFF2-40B4-BE49-F238E27FC236}">
                <a16:creationId xmlns:a16="http://schemas.microsoft.com/office/drawing/2014/main" id="{896E7071-13C8-4208-AB20-EA34C95C0877}"/>
              </a:ext>
            </a:extLst>
          </p:cNvPr>
          <p:cNvSpPr>
            <a:spLocks xmlns:a="http://schemas.openxmlformats.org/drawingml/2006/main" noGrp="1"/>
          </p:cNvSpPr>
          <p:nvPr/>
        </p:nvSpPr>
        <p:spPr>
          <a:xfrm xmlns:a="http://schemas.openxmlformats.org/drawingml/2006/main">
            <a:off x="5695950" y="1971675"/>
            <a:ext cx="800100" cy="57150"/>
          </a:xfrm>
          <a:prstGeom xmlns:a="http://schemas.openxmlformats.org/drawingml/2006/main" prst="roundRect">
            <a:avLst>
              <a:gd name="adj" fmla="val 50000"/>
            </a:avLst>
          </a:prstGeom>
          <a:solidFill xmlns:a="http://schemas.openxmlformats.org/drawingml/2006/main">
            <a:srgbClr val="3E5769"/>
          </a:solidFill>
          <a:ln xmlns:a="http://schemas.openxmlformats.org/drawingml/2006/main" w="0">
            <a:noFill/>
          </a:ln>
        </p:spPr>
      </p:sp>
      <p:sp>
        <p:nvSpPr>
          <p:cNvPr id="16" name="text-165">
            <a:extLst xmlns:a="http://schemas.openxmlformats.org/drawingml/2006/main">
              <a:ext uri="{FF2B5EF4-FFF2-40B4-BE49-F238E27FC236}">
                <a16:creationId xmlns:a16="http://schemas.microsoft.com/office/drawing/2014/main" id="{6082AED9-D83F-48CE-8B04-2A7C6CF8CF02}"/>
              </a:ext>
            </a:extLst>
          </p:cNvPr>
          <p:cNvSpPr>
            <a:spLocks xmlns:a="http://schemas.openxmlformats.org/drawingml/2006/main" noGrp="1"/>
          </p:cNvSpPr>
          <p:nvPr/>
        </p:nvSpPr>
        <p:spPr>
          <a:xfrm xmlns:a="http://schemas.openxmlformats.org/drawingml/2006/main">
            <a:off x="4991100" y="2209800"/>
            <a:ext cx="2209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1">
                <a:solidFill>
                  <a:srgbClr val="63CDF2"/>
                </a:solidFill>
                <a:latin typeface="Helvetica Neue"/>
                <a:ea typeface="Helvetica Neue"/>
                <a:cs typeface="Helvetica Neue"/>
              </a:defRPr>
            </a:pPr>
            <a:r>
              <a:rPr sz="2025" b="1">
                <a:solidFill>
                  <a:srgbClr val="63CDF2"/>
                </a:solidFill>
                <a:latin typeface="Helvetica Neue"/>
                <a:ea typeface="Helvetica Neue"/>
                <a:cs typeface="Helvetica Neue"/>
              </a:rPr>
              <a:t>AAB RideShare</a:t>
            </a:r>
          </a:p>
        </p:txBody>
      </p:sp>
      <p:sp>
        <p:nvSpPr>
          <p:cNvPr id="17" name="text-166">
            <a:extLst xmlns:a="http://schemas.openxmlformats.org/drawingml/2006/main">
              <a:ext uri="{FF2B5EF4-FFF2-40B4-BE49-F238E27FC236}">
                <a16:creationId xmlns:a16="http://schemas.microsoft.com/office/drawing/2014/main" id="{54AD4AC9-76EA-4CB2-BA77-E74EA2F84235}"/>
              </a:ext>
            </a:extLst>
          </p:cNvPr>
          <p:cNvSpPr>
            <a:spLocks xmlns:a="http://schemas.openxmlformats.org/drawingml/2006/main" noGrp="1"/>
          </p:cNvSpPr>
          <p:nvPr/>
        </p:nvSpPr>
        <p:spPr>
          <a:xfrm xmlns:a="http://schemas.openxmlformats.org/drawingml/2006/main">
            <a:off x="4991100" y="2762250"/>
            <a:ext cx="2209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20" b="1">
                <a:solidFill>
                  <a:srgbClr val="F4F2EC"/>
                </a:solidFill>
                <a:latin typeface="Helvetica Neue"/>
                <a:ea typeface="Helvetica Neue"/>
                <a:cs typeface="Helvetica Neue"/>
              </a:defRPr>
            </a:pPr>
            <a:r>
              <a:rPr sz="2520" b="1">
                <a:solidFill>
                  <a:srgbClr val="F4F2EC"/>
                </a:solidFill>
                <a:latin typeface="Helvetica Neue"/>
                <a:ea typeface="Helvetica Neue"/>
                <a:cs typeface="Helvetica Neue"/>
              </a:rPr>
              <a:t>Fushë Kosovë</a:t>
            </a:r>
          </a:p>
          <a:p xmlns:a="http://schemas.openxmlformats.org/drawingml/2006/main">
            <a:pPr algn="l">
              <a:buNone/>
              <a:defRPr sz="2520" b="1">
                <a:solidFill>
                  <a:srgbClr val="F4F2EC"/>
                </a:solidFill>
                <a:latin typeface="Helvetica Neue"/>
                <a:ea typeface="Helvetica Neue"/>
                <a:cs typeface="Helvetica Neue"/>
              </a:defRPr>
            </a:pPr>
            <a:r>
              <a:rPr sz="2520" b="1">
                <a:solidFill>
                  <a:srgbClr val="F4F2EC"/>
                </a:solidFill>
                <a:latin typeface="Helvetica Neue"/>
                <a:ea typeface="Helvetica Neue"/>
                <a:cs typeface="Helvetica Neue"/>
              </a:rPr>
              <a:t>Kampus</a:t>
            </a:r>
          </a:p>
        </p:txBody>
      </p:sp>
      <p:sp>
        <p:nvSpPr>
          <p:cNvPr id="18" name="text-167">
            <a:extLst xmlns:a="http://schemas.openxmlformats.org/drawingml/2006/main">
              <a:ext uri="{FF2B5EF4-FFF2-40B4-BE49-F238E27FC236}">
                <a16:creationId xmlns:a16="http://schemas.microsoft.com/office/drawing/2014/main" id="{87500D51-C3F6-4142-B049-87F365246798}"/>
              </a:ext>
            </a:extLst>
          </p:cNvPr>
          <p:cNvSpPr>
            <a:spLocks xmlns:a="http://schemas.openxmlformats.org/drawingml/2006/main" noGrp="1"/>
          </p:cNvSpPr>
          <p:nvPr/>
        </p:nvSpPr>
        <p:spPr>
          <a:xfrm xmlns:a="http://schemas.openxmlformats.org/drawingml/2006/main">
            <a:off x="4991100" y="3895725"/>
            <a:ext cx="2209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450" b="1">
                <a:solidFill>
                  <a:srgbClr val="F4F2EC"/>
                </a:solidFill>
                <a:latin typeface="Helvetica Neue"/>
                <a:ea typeface="Helvetica Neue"/>
                <a:cs typeface="Helvetica Neue"/>
              </a:defRPr>
            </a:pPr>
            <a:r>
              <a:rPr sz="3450" b="1">
                <a:solidFill>
                  <a:srgbClr val="F4F2EC"/>
                </a:solidFill>
                <a:latin typeface="Helvetica Neue"/>
                <a:ea typeface="Helvetica Neue"/>
                <a:cs typeface="Helvetica Neue"/>
              </a:rPr>
              <a:t>07:30</a:t>
            </a:r>
          </a:p>
        </p:txBody>
      </p:sp>
      <p:sp>
        <p:nvSpPr>
          <p:cNvPr id="19" name="text-168">
            <a:extLst xmlns:a="http://schemas.openxmlformats.org/drawingml/2006/main">
              <a:ext uri="{FF2B5EF4-FFF2-40B4-BE49-F238E27FC236}">
                <a16:creationId xmlns:a16="http://schemas.microsoft.com/office/drawing/2014/main" id="{6A1203F8-ABA3-40E7-9087-1A09849C8952}"/>
              </a:ext>
            </a:extLst>
          </p:cNvPr>
          <p:cNvSpPr>
            <a:spLocks xmlns:a="http://schemas.openxmlformats.org/drawingml/2006/main" noGrp="1"/>
          </p:cNvSpPr>
          <p:nvPr/>
        </p:nvSpPr>
        <p:spPr>
          <a:xfrm xmlns:a="http://schemas.openxmlformats.org/drawingml/2006/main">
            <a:off x="4991100" y="4343400"/>
            <a:ext cx="2209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0">
                <a:solidFill>
                  <a:srgbClr val="AEBFCB"/>
                </a:solidFill>
                <a:latin typeface="Helvetica Neue"/>
                <a:ea typeface="Helvetica Neue"/>
                <a:cs typeface="Helvetica Neue"/>
              </a:defRPr>
            </a:pPr>
            <a:r>
              <a:rPr sz="1875" b="0">
                <a:solidFill>
                  <a:srgbClr val="AEBFCB"/>
                </a:solidFill>
                <a:latin typeface="Helvetica Neue"/>
                <a:ea typeface="Helvetica Neue"/>
                <a:cs typeface="Helvetica Neue"/>
              </a:rPr>
              <a:t>1 vend i lirë</a:t>
            </a:r>
          </a:p>
        </p:txBody>
      </p:sp>
      <p:sp>
        <p:nvSpPr>
          <p:cNvPr id="20" name="surface-169">
            <a:extLst xmlns:a="http://schemas.openxmlformats.org/drawingml/2006/main">
              <a:ext uri="{FF2B5EF4-FFF2-40B4-BE49-F238E27FC236}">
                <a16:creationId xmlns:a16="http://schemas.microsoft.com/office/drawing/2014/main" id="{60122B12-D9AD-41EF-9E7E-761300826947}"/>
              </a:ext>
            </a:extLst>
          </p:cNvPr>
          <p:cNvSpPr>
            <a:spLocks xmlns:a="http://schemas.openxmlformats.org/drawingml/2006/main" noGrp="1"/>
          </p:cNvSpPr>
          <p:nvPr/>
        </p:nvSpPr>
        <p:spPr>
          <a:xfrm xmlns:a="http://schemas.openxmlformats.org/drawingml/2006/main">
            <a:off x="4991100" y="4781550"/>
            <a:ext cx="2209800" cy="466725"/>
          </a:xfrm>
          <a:prstGeom xmlns:a="http://schemas.openxmlformats.org/drawingml/2006/main" prst="roundRect">
            <a:avLst>
              <a:gd name="adj" fmla="val 16327"/>
            </a:avLst>
          </a:prstGeom>
          <a:solidFill xmlns:a="http://schemas.openxmlformats.org/drawingml/2006/main">
            <a:srgbClr val="63CDF2"/>
          </a:solidFill>
          <a:ln xmlns:a="http://schemas.openxmlformats.org/drawingml/2006/main" w="0">
            <a:noFill/>
          </a:ln>
        </p:spPr>
      </p:sp>
      <p:sp>
        <p:nvSpPr>
          <p:cNvPr id="21" name="text-170">
            <a:extLst xmlns:a="http://schemas.openxmlformats.org/drawingml/2006/main">
              <a:ext uri="{FF2B5EF4-FFF2-40B4-BE49-F238E27FC236}">
                <a16:creationId xmlns:a16="http://schemas.microsoft.com/office/drawing/2014/main" id="{87AC059D-3BD4-459A-8634-AED34ACC4F64}"/>
              </a:ext>
            </a:extLst>
          </p:cNvPr>
          <p:cNvSpPr>
            <a:spLocks xmlns:a="http://schemas.openxmlformats.org/drawingml/2006/main" noGrp="1"/>
          </p:cNvSpPr>
          <p:nvPr/>
        </p:nvSpPr>
        <p:spPr>
          <a:xfrm xmlns:a="http://schemas.openxmlformats.org/drawingml/2006/main">
            <a:off x="4991100" y="4781550"/>
            <a:ext cx="2209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Kërko vend</a:t>
            </a:r>
          </a:p>
        </p:txBody>
      </p:sp>
      <p:sp>
        <p:nvSpPr>
          <p:cNvPr id="22" name="surface-171">
            <a:extLst xmlns:a="http://schemas.openxmlformats.org/drawingml/2006/main">
              <a:ext uri="{FF2B5EF4-FFF2-40B4-BE49-F238E27FC236}">
                <a16:creationId xmlns:a16="http://schemas.microsoft.com/office/drawing/2014/main" id="{E815AFB0-24B0-4573-833E-40323B2E160A}"/>
              </a:ext>
            </a:extLst>
          </p:cNvPr>
          <p:cNvSpPr>
            <a:spLocks xmlns:a="http://schemas.openxmlformats.org/drawingml/2006/main" noGrp="1"/>
          </p:cNvSpPr>
          <p:nvPr/>
        </p:nvSpPr>
        <p:spPr>
          <a:xfrm xmlns:a="http://schemas.openxmlformats.org/drawingml/2006/main">
            <a:off x="8629650" y="1809750"/>
            <a:ext cx="2667000" cy="3810000"/>
          </a:xfrm>
          <a:prstGeom xmlns:a="http://schemas.openxmlformats.org/drawingml/2006/main" prst="roundRect">
            <a:avLst>
              <a:gd name="adj" fmla="val 10000"/>
            </a:avLst>
          </a:prstGeom>
          <a:solidFill xmlns:a="http://schemas.openxmlformats.org/drawingml/2006/main">
            <a:srgbClr val="0A1117"/>
          </a:solidFill>
          <a:ln xmlns:a="http://schemas.openxmlformats.org/drawingml/2006/main" w="19050">
            <a:solidFill>
              <a:srgbClr val="3E5769"/>
            </a:solidFill>
          </a:ln>
        </p:spPr>
      </p:sp>
      <p:sp>
        <p:nvSpPr>
          <p:cNvPr id="23" name="surface-172">
            <a:extLst xmlns:a="http://schemas.openxmlformats.org/drawingml/2006/main">
              <a:ext uri="{FF2B5EF4-FFF2-40B4-BE49-F238E27FC236}">
                <a16:creationId xmlns:a16="http://schemas.microsoft.com/office/drawing/2014/main" id="{54169D1D-9F8C-4B63-9FD6-149B81787D07}"/>
              </a:ext>
            </a:extLst>
          </p:cNvPr>
          <p:cNvSpPr>
            <a:spLocks xmlns:a="http://schemas.openxmlformats.org/drawingml/2006/main" noGrp="1"/>
          </p:cNvSpPr>
          <p:nvPr/>
        </p:nvSpPr>
        <p:spPr>
          <a:xfrm xmlns:a="http://schemas.openxmlformats.org/drawingml/2006/main">
            <a:off x="8724900" y="1905000"/>
            <a:ext cx="2476500" cy="3619500"/>
          </a:xfrm>
          <a:prstGeom xmlns:a="http://schemas.openxmlformats.org/drawingml/2006/main" prst="roundRect">
            <a:avLst>
              <a:gd name="adj" fmla="val 8462"/>
            </a:avLst>
          </a:prstGeom>
          <a:solidFill xmlns:a="http://schemas.openxmlformats.org/drawingml/2006/main">
            <a:srgbClr val="192732"/>
          </a:solidFill>
          <a:ln xmlns:a="http://schemas.openxmlformats.org/drawingml/2006/main" w="0">
            <a:noFill/>
          </a:ln>
        </p:spPr>
      </p:sp>
      <p:sp>
        <p:nvSpPr>
          <p:cNvPr id="24" name="surface-173">
            <a:extLst xmlns:a="http://schemas.openxmlformats.org/drawingml/2006/main">
              <a:ext uri="{FF2B5EF4-FFF2-40B4-BE49-F238E27FC236}">
                <a16:creationId xmlns:a16="http://schemas.microsoft.com/office/drawing/2014/main" id="{65E1BC14-A34E-4523-BEC8-B8AEE90DDF2A}"/>
              </a:ext>
            </a:extLst>
          </p:cNvPr>
          <p:cNvSpPr>
            <a:spLocks xmlns:a="http://schemas.openxmlformats.org/drawingml/2006/main" noGrp="1"/>
          </p:cNvSpPr>
          <p:nvPr/>
        </p:nvSpPr>
        <p:spPr>
          <a:xfrm xmlns:a="http://schemas.openxmlformats.org/drawingml/2006/main">
            <a:off x="9563100" y="1971675"/>
            <a:ext cx="800100" cy="57150"/>
          </a:xfrm>
          <a:prstGeom xmlns:a="http://schemas.openxmlformats.org/drawingml/2006/main" prst="roundRect">
            <a:avLst>
              <a:gd name="adj" fmla="val 50000"/>
            </a:avLst>
          </a:prstGeom>
          <a:solidFill xmlns:a="http://schemas.openxmlformats.org/drawingml/2006/main">
            <a:srgbClr val="3E5769"/>
          </a:solidFill>
          <a:ln xmlns:a="http://schemas.openxmlformats.org/drawingml/2006/main" w="0">
            <a:noFill/>
          </a:ln>
        </p:spPr>
      </p:sp>
      <p:sp>
        <p:nvSpPr>
          <p:cNvPr id="25" name="text-174">
            <a:extLst xmlns:a="http://schemas.openxmlformats.org/drawingml/2006/main">
              <a:ext uri="{FF2B5EF4-FFF2-40B4-BE49-F238E27FC236}">
                <a16:creationId xmlns:a16="http://schemas.microsoft.com/office/drawing/2014/main" id="{510D8E7B-5463-4E54-82F4-A54E6060057F}"/>
              </a:ext>
            </a:extLst>
          </p:cNvPr>
          <p:cNvSpPr>
            <a:spLocks xmlns:a="http://schemas.openxmlformats.org/drawingml/2006/main" noGrp="1"/>
          </p:cNvSpPr>
          <p:nvPr/>
        </p:nvSpPr>
        <p:spPr>
          <a:xfrm xmlns:a="http://schemas.openxmlformats.org/drawingml/2006/main">
            <a:off x="8858250" y="2209800"/>
            <a:ext cx="2209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1">
                <a:solidFill>
                  <a:srgbClr val="63CDF2"/>
                </a:solidFill>
                <a:latin typeface="Helvetica Neue"/>
                <a:ea typeface="Helvetica Neue"/>
                <a:cs typeface="Helvetica Neue"/>
              </a:defRPr>
            </a:pPr>
            <a:r>
              <a:rPr sz="2025" b="1">
                <a:solidFill>
                  <a:srgbClr val="63CDF2"/>
                </a:solidFill>
                <a:latin typeface="Helvetica Neue"/>
                <a:ea typeface="Helvetica Neue"/>
                <a:cs typeface="Helvetica Neue"/>
              </a:rPr>
              <a:t>AAB RideShare</a:t>
            </a:r>
          </a:p>
        </p:txBody>
      </p:sp>
      <p:sp>
        <p:nvSpPr>
          <p:cNvPr id="26" name="text-175">
            <a:extLst xmlns:a="http://schemas.openxmlformats.org/drawingml/2006/main">
              <a:ext uri="{FF2B5EF4-FFF2-40B4-BE49-F238E27FC236}">
                <a16:creationId xmlns:a16="http://schemas.microsoft.com/office/drawing/2014/main" id="{83FD80BA-E491-41F4-AD2F-A9BC1C067972}"/>
              </a:ext>
            </a:extLst>
          </p:cNvPr>
          <p:cNvSpPr>
            <a:spLocks xmlns:a="http://schemas.openxmlformats.org/drawingml/2006/main" noGrp="1"/>
          </p:cNvSpPr>
          <p:nvPr/>
        </p:nvSpPr>
        <p:spPr>
          <a:xfrm xmlns:a="http://schemas.openxmlformats.org/drawingml/2006/main">
            <a:off x="8858250" y="2724150"/>
            <a:ext cx="2209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75" b="1">
                <a:solidFill>
                  <a:srgbClr val="F4F2EC"/>
                </a:solidFill>
                <a:latin typeface="Helvetica Neue"/>
                <a:ea typeface="Helvetica Neue"/>
                <a:cs typeface="Helvetica Neue"/>
              </a:defRPr>
            </a:pPr>
            <a:r>
              <a:rPr sz="2175" b="1">
                <a:solidFill>
                  <a:srgbClr val="F4F2EC"/>
                </a:solidFill>
                <a:latin typeface="Helvetica Neue"/>
                <a:ea typeface="Helvetica Neue"/>
                <a:cs typeface="Helvetica Neue"/>
              </a:rPr>
              <a:t>Kërkesa juaj</a:t>
            </a:r>
          </a:p>
        </p:txBody>
      </p:sp>
      <p:sp>
        <p:nvSpPr>
          <p:cNvPr id="27" name="text-176">
            <a:extLst xmlns:a="http://schemas.openxmlformats.org/drawingml/2006/main">
              <a:ext uri="{FF2B5EF4-FFF2-40B4-BE49-F238E27FC236}">
                <a16:creationId xmlns:a16="http://schemas.microsoft.com/office/drawing/2014/main" id="{A3DAC7E6-4062-4F69-9BA9-0E59EEF21F10}"/>
              </a:ext>
            </a:extLst>
          </p:cNvPr>
          <p:cNvSpPr>
            <a:spLocks xmlns:a="http://schemas.openxmlformats.org/drawingml/2006/main" noGrp="1"/>
          </p:cNvSpPr>
          <p:nvPr/>
        </p:nvSpPr>
        <p:spPr>
          <a:xfrm xmlns:a="http://schemas.openxmlformats.org/drawingml/2006/main">
            <a:off x="8858250" y="3371850"/>
            <a:ext cx="2209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250" b="1">
                <a:solidFill>
                  <a:srgbClr val="F2BB66"/>
                </a:solidFill>
                <a:latin typeface="Helvetica Neue"/>
                <a:ea typeface="Helvetica Neue"/>
                <a:cs typeface="Helvetica Neue"/>
              </a:defRPr>
            </a:pPr>
            <a:r>
              <a:rPr sz="2250" b="1">
                <a:solidFill>
                  <a:srgbClr val="F2BB66"/>
                </a:solidFill>
                <a:latin typeface="Helvetica Neue"/>
                <a:ea typeface="Helvetica Neue"/>
                <a:cs typeface="Helvetica Neue"/>
              </a:rPr>
              <a:t>NË PRITJE</a:t>
            </a:r>
          </a:p>
        </p:txBody>
      </p:sp>
      <p:sp>
        <p:nvSpPr>
          <p:cNvPr id="28" name="text-177">
            <a:extLst xmlns:a="http://schemas.openxmlformats.org/drawingml/2006/main">
              <a:ext uri="{FF2B5EF4-FFF2-40B4-BE49-F238E27FC236}">
                <a16:creationId xmlns:a16="http://schemas.microsoft.com/office/drawing/2014/main" id="{9AF1AA4E-D08F-405E-A91D-681208316D08}"/>
              </a:ext>
            </a:extLst>
          </p:cNvPr>
          <p:cNvSpPr>
            <a:spLocks xmlns:a="http://schemas.openxmlformats.org/drawingml/2006/main" noGrp="1"/>
          </p:cNvSpPr>
          <p:nvPr/>
        </p:nvSpPr>
        <p:spPr>
          <a:xfrm xmlns:a="http://schemas.openxmlformats.org/drawingml/2006/main">
            <a:off x="8858250" y="3990975"/>
            <a:ext cx="2209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0">
                <a:solidFill>
                  <a:srgbClr val="AEBFCB"/>
                </a:solidFill>
                <a:latin typeface="Helvetica Neue"/>
                <a:ea typeface="Helvetica Neue"/>
                <a:cs typeface="Helvetica Neue"/>
              </a:defRPr>
            </a:pPr>
            <a:r>
              <a:rPr sz="1875" b="0">
                <a:solidFill>
                  <a:srgbClr val="AEBFCB"/>
                </a:solidFill>
                <a:latin typeface="Helvetica Neue"/>
                <a:ea typeface="Helvetica Neue"/>
                <a:cs typeface="Helvetica Neue"/>
              </a:rPr>
              <a:t>Shoferi ende</a:t>
            </a:r>
          </a:p>
          <a:p xmlns:a="http://schemas.openxmlformats.org/drawingml/2006/main">
            <a:pPr algn="l">
              <a:buNone/>
              <a:defRPr sz="1875" b="0">
                <a:solidFill>
                  <a:srgbClr val="AEBFCB"/>
                </a:solidFill>
                <a:latin typeface="Helvetica Neue"/>
                <a:ea typeface="Helvetica Neue"/>
                <a:cs typeface="Helvetica Neue"/>
              </a:defRPr>
            </a:pPr>
            <a:r>
              <a:rPr sz="1875" b="0">
                <a:solidFill>
                  <a:srgbClr val="AEBFCB"/>
                </a:solidFill>
                <a:latin typeface="Helvetica Neue"/>
                <a:ea typeface="Helvetica Neue"/>
                <a:cs typeface="Helvetica Neue"/>
              </a:rPr>
              <a:t>nuk e ka pranuar.</a:t>
            </a:r>
          </a:p>
        </p:txBody>
      </p:sp>
      <p:sp>
        <p:nvSpPr>
          <p:cNvPr id="29" name="flow-178">
            <a:extLst xmlns:a="http://schemas.openxmlformats.org/drawingml/2006/main">
              <a:ext uri="{FF2B5EF4-FFF2-40B4-BE49-F238E27FC236}">
                <a16:creationId xmlns:a16="http://schemas.microsoft.com/office/drawing/2014/main" id="{C6E2534E-9BEE-4A5B-8D03-3AEB4242FB3D}"/>
              </a:ext>
            </a:extLst>
          </p:cNvPr>
          <p:cNvSpPr>
            <a:spLocks xmlns:a="http://schemas.openxmlformats.org/drawingml/2006/main" noGrp="1"/>
          </p:cNvSpPr>
          <p:nvPr/>
        </p:nvSpPr>
        <p:spPr>
          <a:xfrm xmlns:a="http://schemas.openxmlformats.org/drawingml/2006/main">
            <a:off x="3819525" y="3533775"/>
            <a:ext cx="619125"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30" name="flow-179">
            <a:extLst xmlns:a="http://schemas.openxmlformats.org/drawingml/2006/main">
              <a:ext uri="{FF2B5EF4-FFF2-40B4-BE49-F238E27FC236}">
                <a16:creationId xmlns:a16="http://schemas.microsoft.com/office/drawing/2014/main" id="{A015F52D-FD68-4623-A2AD-1BF39271DFD7}"/>
              </a:ext>
            </a:extLst>
          </p:cNvPr>
          <p:cNvSpPr>
            <a:spLocks xmlns:a="http://schemas.openxmlformats.org/drawingml/2006/main" noGrp="1"/>
          </p:cNvSpPr>
          <p:nvPr/>
        </p:nvSpPr>
        <p:spPr>
          <a:xfrm xmlns:a="http://schemas.openxmlformats.org/drawingml/2006/main">
            <a:off x="7686675" y="3533775"/>
            <a:ext cx="619125"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31" name="text-180">
            <a:extLst xmlns:a="http://schemas.openxmlformats.org/drawingml/2006/main">
              <a:ext uri="{FF2B5EF4-FFF2-40B4-BE49-F238E27FC236}">
                <a16:creationId xmlns:a16="http://schemas.microsoft.com/office/drawing/2014/main" id="{5E882A32-F2B2-4E69-8D57-31DAF89E596C}"/>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Në cilën pamje mund të keqkuptohet konfirmimi?</a:t>
            </a:r>
          </a:p>
        </p:txBody>
      </p:sp>
      <p:pic>
        <p:nvPicPr>
          <p:cNvPr id="65" name=""/>
          <p:cNvPicPr>
            <a:picLocks xmlns:a="http://schemas.openxmlformats.org/drawingml/2006/main" noChangeAspect="1"/>
          </p:cNvPicPr>
          <p:nvPr/>
        </p:nvPicPr>
        <p:blipFill>
          <a:blip xmlns:r="http://schemas.openxmlformats.org/officeDocument/2006/relationships" xmlns:a="http://schemas.openxmlformats.org/drawingml/2006/main" r:embed="Rb6623f22b2be473b"/>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51358378"/>
      </p:ext>
    </p:extLst>
  </p:cSld>
</p:sld>
</file>

<file path=ppt/slides/slide19.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16" name="text-181">
            <a:extLst xmlns:a="http://schemas.openxmlformats.org/drawingml/2006/main">
              <a:ext uri="{FF2B5EF4-FFF2-40B4-BE49-F238E27FC236}">
                <a16:creationId xmlns:a16="http://schemas.microsoft.com/office/drawing/2014/main" id="{E5896EAD-C4A2-4F50-861F-893667DCE3B2}"/>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ARKITEKTURA MOBILE</a:t>
            </a:r>
          </a:p>
        </p:txBody>
      </p:sp>
      <p:sp>
        <p:nvSpPr>
          <p:cNvPr id="2" name="text-182">
            <a:extLst xmlns:a="http://schemas.openxmlformats.org/drawingml/2006/main">
              <a:ext uri="{FF2B5EF4-FFF2-40B4-BE49-F238E27FC236}">
                <a16:creationId xmlns:a16="http://schemas.microsoft.com/office/drawing/2014/main" id="{134E2F49-5D36-43CA-B2D1-697AA5A7187B}"/>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19</a:t>
            </a:r>
          </a:p>
        </p:txBody>
      </p:sp>
      <p:sp>
        <p:nvSpPr>
          <p:cNvPr id="3" name="text-183">
            <a:extLst xmlns:a="http://schemas.openxmlformats.org/drawingml/2006/main">
              <a:ext uri="{FF2B5EF4-FFF2-40B4-BE49-F238E27FC236}">
                <a16:creationId xmlns:a16="http://schemas.microsoft.com/office/drawing/2014/main" id="{ADADDBCE-2EBD-45C8-BAC6-99FA3AFA4656}"/>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Produkti mbërrin me një lidhje</a:t>
            </a:r>
          </a:p>
        </p:txBody>
      </p:sp>
      <p:sp>
        <p:nvSpPr>
          <p:cNvPr id="4" name="text-184">
            <a:extLst xmlns:a="http://schemas.openxmlformats.org/drawingml/2006/main">
              <a:ext uri="{FF2B5EF4-FFF2-40B4-BE49-F238E27FC236}">
                <a16:creationId xmlns:a16="http://schemas.microsoft.com/office/drawing/2014/main" id="{B822F35F-82E5-4AF9-90BF-12395F6B82ED}"/>
              </a:ext>
            </a:extLst>
          </p:cNvPr>
          <p:cNvSpPr>
            <a:spLocks xmlns:a="http://schemas.openxmlformats.org/drawingml/2006/main" noGrp="1"/>
          </p:cNvSpPr>
          <p:nvPr/>
        </p:nvSpPr>
        <p:spPr>
          <a:xfrm xmlns:a="http://schemas.openxmlformats.org/drawingml/2006/main">
            <a:off x="638175" y="2009775"/>
            <a:ext cx="61436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7050" b="1">
                <a:solidFill>
                  <a:srgbClr val="63CDF2"/>
                </a:solidFill>
                <a:latin typeface="Helvetica Neue"/>
                <a:ea typeface="Helvetica Neue"/>
                <a:cs typeface="Helvetica Neue"/>
              </a:defRPr>
            </a:pPr>
            <a:r>
              <a:rPr sz="7050" b="1">
                <a:solidFill>
                  <a:srgbClr val="63CDF2"/>
                </a:solidFill>
                <a:latin typeface="Helvetica Neue"/>
                <a:ea typeface="Helvetica Neue"/>
                <a:cs typeface="Helvetica Neue"/>
              </a:rPr>
              <a:t>PWA</a:t>
            </a:r>
          </a:p>
        </p:txBody>
      </p:sp>
      <p:sp>
        <p:nvSpPr>
          <p:cNvPr id="5" name="text-185">
            <a:extLst xmlns:a="http://schemas.openxmlformats.org/drawingml/2006/main">
              <a:ext uri="{FF2B5EF4-FFF2-40B4-BE49-F238E27FC236}">
                <a16:creationId xmlns:a16="http://schemas.microsoft.com/office/drawing/2014/main" id="{06CB5F2A-6B59-405F-AE40-FB2E1C6D3AEA}"/>
              </a:ext>
            </a:extLst>
          </p:cNvPr>
          <p:cNvSpPr>
            <a:spLocks xmlns:a="http://schemas.openxmlformats.org/drawingml/2006/main" noGrp="1"/>
          </p:cNvSpPr>
          <p:nvPr/>
        </p:nvSpPr>
        <p:spPr>
          <a:xfrm xmlns:a="http://schemas.openxmlformats.org/drawingml/2006/main">
            <a:off x="676275" y="3286125"/>
            <a:ext cx="6810375"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700" b="0">
                <a:solidFill>
                  <a:srgbClr val="F4F2EC"/>
                </a:solidFill>
                <a:latin typeface="Helvetica Neue"/>
                <a:ea typeface="Helvetica Neue"/>
                <a:cs typeface="Helvetica Neue"/>
              </a:defRPr>
            </a:pPr>
            <a:r>
              <a:rPr sz="2700" b="0">
                <a:solidFill>
                  <a:srgbClr val="F4F2EC"/>
                </a:solidFill>
                <a:latin typeface="Helvetica Neue"/>
                <a:ea typeface="Helvetica Neue"/>
                <a:cs typeface="Helvetica Neue"/>
              </a:rPr>
              <a:t>Një lidhje për ta provuar</a:t>
            </a:r>
          </a:p>
          <a:p xmlns:a="http://schemas.openxmlformats.org/drawingml/2006/main">
            <a:pPr algn="l">
              <a:buNone/>
              <a:defRPr sz="2700" b="0">
                <a:solidFill>
                  <a:srgbClr val="F4F2EC"/>
                </a:solidFill>
                <a:latin typeface="Helvetica Neue"/>
                <a:ea typeface="Helvetica Neue"/>
                <a:cs typeface="Helvetica Neue"/>
              </a:defRPr>
            </a:pPr>
            <a:r>
              <a:rPr sz="2700" b="0">
                <a:solidFill>
                  <a:srgbClr val="F4F2EC"/>
                </a:solidFill>
                <a:latin typeface="Helvetica Neue"/>
                <a:ea typeface="Helvetica Neue"/>
                <a:cs typeface="Helvetica Neue"/>
              </a:rPr>
              <a:t>Instalim kur mbështetet</a:t>
            </a:r>
          </a:p>
          <a:p xmlns:a="http://schemas.openxmlformats.org/drawingml/2006/main">
            <a:pPr algn="l">
              <a:buNone/>
              <a:defRPr sz="2700" b="0">
                <a:solidFill>
                  <a:srgbClr val="F4F2EC"/>
                </a:solidFill>
                <a:latin typeface="Helvetica Neue"/>
                <a:ea typeface="Helvetica Neue"/>
                <a:cs typeface="Helvetica Neue"/>
              </a:defRPr>
            </a:pPr>
            <a:r>
              <a:rPr sz="2700" b="0">
                <a:solidFill>
                  <a:srgbClr val="F4F2EC"/>
                </a:solidFill>
                <a:latin typeface="Helvetica Neue"/>
                <a:ea typeface="Helvetica Neue"/>
                <a:cs typeface="Helvetica Neue"/>
              </a:rPr>
              <a:t>Sjellje offline e projektuar</a:t>
            </a:r>
          </a:p>
        </p:txBody>
      </p:sp>
      <p:sp>
        <p:nvSpPr>
          <p:cNvPr id="6" name="surface-186">
            <a:extLst xmlns:a="http://schemas.openxmlformats.org/drawingml/2006/main">
              <a:ext uri="{FF2B5EF4-FFF2-40B4-BE49-F238E27FC236}">
                <a16:creationId xmlns:a16="http://schemas.microsoft.com/office/drawing/2014/main" id="{40F9F7B3-7260-41BB-A6F6-417D3BC69866}"/>
              </a:ext>
            </a:extLst>
          </p:cNvPr>
          <p:cNvSpPr>
            <a:spLocks xmlns:a="http://schemas.openxmlformats.org/drawingml/2006/main" noGrp="1"/>
          </p:cNvSpPr>
          <p:nvPr/>
        </p:nvSpPr>
        <p:spPr>
          <a:xfrm xmlns:a="http://schemas.openxmlformats.org/drawingml/2006/main">
            <a:off x="8639175" y="1847850"/>
            <a:ext cx="2476500" cy="3714750"/>
          </a:xfrm>
          <a:prstGeom xmlns:a="http://schemas.openxmlformats.org/drawingml/2006/main" prst="roundRect">
            <a:avLst>
              <a:gd name="adj" fmla="val 10769"/>
            </a:avLst>
          </a:prstGeom>
          <a:solidFill xmlns:a="http://schemas.openxmlformats.org/drawingml/2006/main">
            <a:srgbClr val="0A1117"/>
          </a:solidFill>
          <a:ln xmlns:a="http://schemas.openxmlformats.org/drawingml/2006/main" w="19050">
            <a:solidFill>
              <a:srgbClr val="3E5769"/>
            </a:solidFill>
          </a:ln>
        </p:spPr>
      </p:sp>
      <p:sp>
        <p:nvSpPr>
          <p:cNvPr id="7" name="surface-187">
            <a:extLst xmlns:a="http://schemas.openxmlformats.org/drawingml/2006/main">
              <a:ext uri="{FF2B5EF4-FFF2-40B4-BE49-F238E27FC236}">
                <a16:creationId xmlns:a16="http://schemas.microsoft.com/office/drawing/2014/main" id="{DC57CBF1-434B-43FC-92A2-20B4FCAAFE8B}"/>
              </a:ext>
            </a:extLst>
          </p:cNvPr>
          <p:cNvSpPr>
            <a:spLocks xmlns:a="http://schemas.openxmlformats.org/drawingml/2006/main" noGrp="1"/>
          </p:cNvSpPr>
          <p:nvPr/>
        </p:nvSpPr>
        <p:spPr>
          <a:xfrm xmlns:a="http://schemas.openxmlformats.org/drawingml/2006/main">
            <a:off x="8734425" y="1943100"/>
            <a:ext cx="2286000" cy="3524250"/>
          </a:xfrm>
          <a:prstGeom xmlns:a="http://schemas.openxmlformats.org/drawingml/2006/main" prst="roundRect">
            <a:avLst>
              <a:gd name="adj" fmla="val 9167"/>
            </a:avLst>
          </a:prstGeom>
          <a:solidFill xmlns:a="http://schemas.openxmlformats.org/drawingml/2006/main">
            <a:srgbClr val="192732"/>
          </a:solidFill>
          <a:ln xmlns:a="http://schemas.openxmlformats.org/drawingml/2006/main" w="0">
            <a:noFill/>
          </a:ln>
        </p:spPr>
      </p:sp>
      <p:sp>
        <p:nvSpPr>
          <p:cNvPr id="8" name="surface-188">
            <a:extLst xmlns:a="http://schemas.openxmlformats.org/drawingml/2006/main">
              <a:ext uri="{FF2B5EF4-FFF2-40B4-BE49-F238E27FC236}">
                <a16:creationId xmlns:a16="http://schemas.microsoft.com/office/drawing/2014/main" id="{C4C046AA-6C42-427A-B86E-760B616D5126}"/>
              </a:ext>
            </a:extLst>
          </p:cNvPr>
          <p:cNvSpPr>
            <a:spLocks xmlns:a="http://schemas.openxmlformats.org/drawingml/2006/main" noGrp="1"/>
          </p:cNvSpPr>
          <p:nvPr/>
        </p:nvSpPr>
        <p:spPr>
          <a:xfrm xmlns:a="http://schemas.openxmlformats.org/drawingml/2006/main">
            <a:off x="9505950" y="2009775"/>
            <a:ext cx="742950" cy="57150"/>
          </a:xfrm>
          <a:prstGeom xmlns:a="http://schemas.openxmlformats.org/drawingml/2006/main" prst="roundRect">
            <a:avLst>
              <a:gd name="adj" fmla="val 50000"/>
            </a:avLst>
          </a:prstGeom>
          <a:solidFill xmlns:a="http://schemas.openxmlformats.org/drawingml/2006/main">
            <a:srgbClr val="3E5769"/>
          </a:solidFill>
          <a:ln xmlns:a="http://schemas.openxmlformats.org/drawingml/2006/main" w="0">
            <a:noFill/>
          </a:ln>
        </p:spPr>
      </p:sp>
      <p:sp>
        <p:nvSpPr>
          <p:cNvPr id="9" name="text-189">
            <a:extLst xmlns:a="http://schemas.openxmlformats.org/drawingml/2006/main">
              <a:ext uri="{FF2B5EF4-FFF2-40B4-BE49-F238E27FC236}">
                <a16:creationId xmlns:a16="http://schemas.microsoft.com/office/drawing/2014/main" id="{736142B7-25B7-4286-BEFD-A415606E4CDF}"/>
              </a:ext>
            </a:extLst>
          </p:cNvPr>
          <p:cNvSpPr>
            <a:spLocks xmlns:a="http://schemas.openxmlformats.org/drawingml/2006/main" noGrp="1"/>
          </p:cNvSpPr>
          <p:nvPr/>
        </p:nvSpPr>
        <p:spPr>
          <a:xfrm xmlns:a="http://schemas.openxmlformats.org/drawingml/2006/main">
            <a:off x="8867775" y="2247900"/>
            <a:ext cx="2019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950" b="1">
                <a:solidFill>
                  <a:srgbClr val="63CDF2"/>
                </a:solidFill>
                <a:latin typeface="Helvetica Neue"/>
                <a:ea typeface="Helvetica Neue"/>
                <a:cs typeface="Helvetica Neue"/>
              </a:defRPr>
            </a:pPr>
            <a:r>
              <a:rPr sz="1950" b="1">
                <a:solidFill>
                  <a:srgbClr val="63CDF2"/>
                </a:solidFill>
                <a:latin typeface="Helvetica Neue"/>
                <a:ea typeface="Helvetica Neue"/>
                <a:cs typeface="Helvetica Neue"/>
              </a:rPr>
              <a:t>AAB RideShare</a:t>
            </a:r>
          </a:p>
        </p:txBody>
      </p:sp>
      <p:sp>
        <p:nvSpPr>
          <p:cNvPr id="10" name="text-190">
            <a:extLst xmlns:a="http://schemas.openxmlformats.org/drawingml/2006/main">
              <a:ext uri="{FF2B5EF4-FFF2-40B4-BE49-F238E27FC236}">
                <a16:creationId xmlns:a16="http://schemas.microsoft.com/office/drawing/2014/main" id="{DA4EFEEA-6BB2-4E93-9C15-1A3B3276F15B}"/>
              </a:ext>
            </a:extLst>
          </p:cNvPr>
          <p:cNvSpPr>
            <a:spLocks xmlns:a="http://schemas.openxmlformats.org/drawingml/2006/main" noGrp="1"/>
          </p:cNvSpPr>
          <p:nvPr/>
        </p:nvSpPr>
        <p:spPr>
          <a:xfrm xmlns:a="http://schemas.openxmlformats.org/drawingml/2006/main">
            <a:off x="8867775" y="2724150"/>
            <a:ext cx="2019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250" b="1">
                <a:solidFill>
                  <a:srgbClr val="F4F2EC"/>
                </a:solidFill>
                <a:latin typeface="Helvetica Neue"/>
                <a:ea typeface="Helvetica Neue"/>
                <a:cs typeface="Helvetica Neue"/>
              </a:defRPr>
            </a:pPr>
            <a:r>
              <a:rPr sz="2250" b="1">
                <a:solidFill>
                  <a:srgbClr val="F4F2EC"/>
                </a:solidFill>
                <a:latin typeface="Helvetica Neue"/>
                <a:ea typeface="Helvetica Neue"/>
                <a:cs typeface="Helvetica Neue"/>
              </a:rPr>
              <a:t>Udhëtimet</a:t>
            </a:r>
          </a:p>
        </p:txBody>
      </p:sp>
      <p:sp>
        <p:nvSpPr>
          <p:cNvPr id="11" name="text-191">
            <a:extLst xmlns:a="http://schemas.openxmlformats.org/drawingml/2006/main">
              <a:ext uri="{FF2B5EF4-FFF2-40B4-BE49-F238E27FC236}">
                <a16:creationId xmlns:a16="http://schemas.microsoft.com/office/drawing/2014/main" id="{14A492EC-6646-48BD-87EC-64847D7D4186}"/>
              </a:ext>
            </a:extLst>
          </p:cNvPr>
          <p:cNvSpPr>
            <a:spLocks xmlns:a="http://schemas.openxmlformats.org/drawingml/2006/main" noGrp="1"/>
          </p:cNvSpPr>
          <p:nvPr/>
        </p:nvSpPr>
        <p:spPr>
          <a:xfrm xmlns:a="http://schemas.openxmlformats.org/drawingml/2006/main">
            <a:off x="8867775" y="3228975"/>
            <a:ext cx="20193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1">
                <a:solidFill>
                  <a:srgbClr val="F4F2EC"/>
                </a:solidFill>
                <a:latin typeface="Helvetica Neue"/>
                <a:ea typeface="Helvetica Neue"/>
                <a:cs typeface="Helvetica Neue"/>
              </a:defRPr>
            </a:pPr>
            <a:r>
              <a:rPr sz="2025" b="1">
                <a:solidFill>
                  <a:srgbClr val="F4F2EC"/>
                </a:solidFill>
                <a:latin typeface="Helvetica Neue"/>
                <a:ea typeface="Helvetica Neue"/>
                <a:cs typeface="Helvetica Neue"/>
              </a:rPr>
              <a:t>Fushë Kosovë</a:t>
            </a:r>
          </a:p>
          <a:p xmlns:a="http://schemas.openxmlformats.org/drawingml/2006/main">
            <a:pPr algn="l">
              <a:buNone/>
              <a:defRPr sz="2025" b="1">
                <a:solidFill>
                  <a:srgbClr val="F4F2EC"/>
                </a:solidFill>
                <a:latin typeface="Helvetica Neue"/>
                <a:ea typeface="Helvetica Neue"/>
                <a:cs typeface="Helvetica Neue"/>
              </a:defRPr>
            </a:pPr>
            <a:r>
              <a:rPr sz="2025" b="1">
                <a:solidFill>
                  <a:srgbClr val="F4F2EC"/>
                </a:solidFill>
                <a:latin typeface="Helvetica Neue"/>
                <a:ea typeface="Helvetica Neue"/>
                <a:cs typeface="Helvetica Neue"/>
              </a:rPr>
              <a:t>Kampus</a:t>
            </a:r>
          </a:p>
        </p:txBody>
      </p:sp>
      <p:sp>
        <p:nvSpPr>
          <p:cNvPr id="12" name="text-192">
            <a:extLst xmlns:a="http://schemas.openxmlformats.org/drawingml/2006/main">
              <a:ext uri="{FF2B5EF4-FFF2-40B4-BE49-F238E27FC236}">
                <a16:creationId xmlns:a16="http://schemas.microsoft.com/office/drawing/2014/main" id="{15D89264-FDB2-4FC4-B0DE-514A42972020}"/>
              </a:ext>
            </a:extLst>
          </p:cNvPr>
          <p:cNvSpPr>
            <a:spLocks xmlns:a="http://schemas.openxmlformats.org/drawingml/2006/main" noGrp="1"/>
          </p:cNvSpPr>
          <p:nvPr/>
        </p:nvSpPr>
        <p:spPr>
          <a:xfrm xmlns:a="http://schemas.openxmlformats.org/drawingml/2006/main">
            <a:off x="8867775" y="4048125"/>
            <a:ext cx="2019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725" b="0">
                <a:solidFill>
                  <a:srgbClr val="AEBFCB"/>
                </a:solidFill>
                <a:latin typeface="Helvetica Neue"/>
                <a:ea typeface="Helvetica Neue"/>
                <a:cs typeface="Helvetica Neue"/>
              </a:defRPr>
            </a:pPr>
            <a:r>
              <a:rPr sz="1725" b="0">
                <a:solidFill>
                  <a:srgbClr val="AEBFCB"/>
                </a:solidFill>
                <a:latin typeface="Helvetica Neue"/>
                <a:ea typeface="Helvetica Neue"/>
                <a:cs typeface="Helvetica Neue"/>
              </a:rPr>
              <a:t>07:30     1 vend</a:t>
            </a:r>
          </a:p>
        </p:txBody>
      </p:sp>
      <p:sp>
        <p:nvSpPr>
          <p:cNvPr id="13" name="surface-193">
            <a:extLst xmlns:a="http://schemas.openxmlformats.org/drawingml/2006/main">
              <a:ext uri="{FF2B5EF4-FFF2-40B4-BE49-F238E27FC236}">
                <a16:creationId xmlns:a16="http://schemas.microsoft.com/office/drawing/2014/main" id="{21333D1E-86D3-48D5-A887-0A6438D2E0A6}"/>
              </a:ext>
            </a:extLst>
          </p:cNvPr>
          <p:cNvSpPr>
            <a:spLocks xmlns:a="http://schemas.openxmlformats.org/drawingml/2006/main" noGrp="1"/>
          </p:cNvSpPr>
          <p:nvPr/>
        </p:nvSpPr>
        <p:spPr>
          <a:xfrm xmlns:a="http://schemas.openxmlformats.org/drawingml/2006/main">
            <a:off x="8867775" y="4714875"/>
            <a:ext cx="2019300" cy="457200"/>
          </a:xfrm>
          <a:prstGeom xmlns:a="http://schemas.openxmlformats.org/drawingml/2006/main" prst="roundRect">
            <a:avLst>
              <a:gd name="adj" fmla="val 16667"/>
            </a:avLst>
          </a:prstGeom>
          <a:solidFill xmlns:a="http://schemas.openxmlformats.org/drawingml/2006/main">
            <a:srgbClr val="63CDF2"/>
          </a:solidFill>
          <a:ln xmlns:a="http://schemas.openxmlformats.org/drawingml/2006/main" w="0">
            <a:noFill/>
          </a:ln>
        </p:spPr>
      </p:sp>
      <p:sp>
        <p:nvSpPr>
          <p:cNvPr id="14" name="text-194">
            <a:extLst xmlns:a="http://schemas.openxmlformats.org/drawingml/2006/main">
              <a:ext uri="{FF2B5EF4-FFF2-40B4-BE49-F238E27FC236}">
                <a16:creationId xmlns:a16="http://schemas.microsoft.com/office/drawing/2014/main" id="{8203E298-60F4-4BBA-8DDE-7AEFD3967668}"/>
              </a:ext>
            </a:extLst>
          </p:cNvPr>
          <p:cNvSpPr>
            <a:spLocks xmlns:a="http://schemas.openxmlformats.org/drawingml/2006/main" noGrp="1"/>
          </p:cNvSpPr>
          <p:nvPr/>
        </p:nvSpPr>
        <p:spPr>
          <a:xfrm xmlns:a="http://schemas.openxmlformats.org/drawingml/2006/main">
            <a:off x="8867775" y="4714875"/>
            <a:ext cx="2019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Shiko detajet</a:t>
            </a:r>
          </a:p>
        </p:txBody>
      </p:sp>
      <p:sp>
        <p:nvSpPr>
          <p:cNvPr id="15" name="text-195">
            <a:extLst xmlns:a="http://schemas.openxmlformats.org/drawingml/2006/main">
              <a:ext uri="{FF2B5EF4-FFF2-40B4-BE49-F238E27FC236}">
                <a16:creationId xmlns:a16="http://schemas.microsoft.com/office/drawing/2014/main" id="{D1FED3F8-E636-4E61-B1F6-1DB6FBA6C024}"/>
              </a:ext>
            </a:extLst>
          </p:cNvPr>
          <p:cNvSpPr>
            <a:spLocks xmlns:a="http://schemas.openxmlformats.org/drawingml/2006/main" noGrp="1"/>
          </p:cNvSpPr>
          <p:nvPr/>
        </p:nvSpPr>
        <p:spPr>
          <a:xfrm xmlns:a="http://schemas.openxmlformats.org/drawingml/2006/main">
            <a:off x="609600" y="596265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950" b="0">
                <a:solidFill>
                  <a:srgbClr val="AEBFCB"/>
                </a:solidFill>
                <a:latin typeface="Helvetica Neue"/>
                <a:ea typeface="Helvetica Neue"/>
                <a:cs typeface="Helvetica Neue"/>
              </a:defRPr>
            </a:pPr>
            <a:r>
              <a:rPr sz="1950" b="0">
                <a:solidFill>
                  <a:srgbClr val="AEBFCB"/>
                </a:solidFill>
                <a:latin typeface="Helvetica Neue"/>
                <a:ea typeface="Helvetica Neue"/>
                <a:cs typeface="Helvetica Neue"/>
              </a:rPr>
              <a:t>Zgjedhja varet nga aftësitë e pajisjes dhe kërkesat e produktit.</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1afc3fae45b64d34"/>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838670053"/>
      </p:ext>
    </p:extLst>
  </p:cSld>
</p:sld>
</file>

<file path=ppt/slides/slide20.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2" name="text-196">
            <a:extLst xmlns:a="http://schemas.openxmlformats.org/drawingml/2006/main">
              <a:ext uri="{FF2B5EF4-FFF2-40B4-BE49-F238E27FC236}">
                <a16:creationId xmlns:a16="http://schemas.microsoft.com/office/drawing/2014/main" id="{9D35D3C4-333C-4EC0-B097-8ACBEBBFA0D6}"/>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ARKITEKTURA MOBILE</a:t>
            </a:r>
          </a:p>
        </p:txBody>
      </p:sp>
      <p:sp>
        <p:nvSpPr>
          <p:cNvPr id="2" name="text-197">
            <a:extLst xmlns:a="http://schemas.openxmlformats.org/drawingml/2006/main">
              <a:ext uri="{FF2B5EF4-FFF2-40B4-BE49-F238E27FC236}">
                <a16:creationId xmlns:a16="http://schemas.microsoft.com/office/drawing/2014/main" id="{215F1517-FFD5-4ADC-92A9-DE228406DC66}"/>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20</a:t>
            </a:r>
          </a:p>
        </p:txBody>
      </p:sp>
      <p:sp>
        <p:nvSpPr>
          <p:cNvPr id="3" name="text-198">
            <a:extLst xmlns:a="http://schemas.openxmlformats.org/drawingml/2006/main">
              <a:ext uri="{FF2B5EF4-FFF2-40B4-BE49-F238E27FC236}">
                <a16:creationId xmlns:a16="http://schemas.microsoft.com/office/drawing/2014/main" id="{9FBE2B13-A08D-4389-A210-3E61DEDBED80}"/>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Ku ekzekutohet vendimi?</a:t>
            </a:r>
          </a:p>
        </p:txBody>
      </p:sp>
      <p:sp>
        <p:nvSpPr>
          <p:cNvPr id="4" name="text-199">
            <a:extLst xmlns:a="http://schemas.openxmlformats.org/drawingml/2006/main">
              <a:ext uri="{FF2B5EF4-FFF2-40B4-BE49-F238E27FC236}">
                <a16:creationId xmlns:a16="http://schemas.microsoft.com/office/drawing/2014/main" id="{D8037233-5098-4AA4-B85C-AE63C54DDA34}"/>
              </a:ext>
            </a:extLst>
          </p:cNvPr>
          <p:cNvSpPr>
            <a:spLocks xmlns:a="http://schemas.openxmlformats.org/drawingml/2006/main" noGrp="1"/>
          </p:cNvSpPr>
          <p:nvPr/>
        </p:nvSpPr>
        <p:spPr>
          <a:xfrm xmlns:a="http://schemas.openxmlformats.org/drawingml/2006/main">
            <a:off x="628650" y="2105025"/>
            <a:ext cx="30956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00" b="1">
                <a:solidFill>
                  <a:srgbClr val="63CDF2"/>
                </a:solidFill>
                <a:latin typeface="Helvetica Neue"/>
                <a:ea typeface="Helvetica Neue"/>
                <a:cs typeface="Helvetica Neue"/>
              </a:defRPr>
            </a:pPr>
            <a:r>
              <a:rPr sz="1800" b="1">
                <a:solidFill>
                  <a:srgbClr val="63CDF2"/>
                </a:solidFill>
                <a:latin typeface="Helvetica Neue"/>
                <a:ea typeface="Helvetica Neue"/>
                <a:cs typeface="Helvetica Neue"/>
              </a:rPr>
              <a:t>TELEFON</a:t>
            </a:r>
          </a:p>
        </p:txBody>
      </p:sp>
      <p:sp>
        <p:nvSpPr>
          <p:cNvPr id="5" name="text-200">
            <a:extLst xmlns:a="http://schemas.openxmlformats.org/drawingml/2006/main">
              <a:ext uri="{FF2B5EF4-FFF2-40B4-BE49-F238E27FC236}">
                <a16:creationId xmlns:a16="http://schemas.microsoft.com/office/drawing/2014/main" id="{24C1611D-E7F0-4692-AC44-C23C282FBD7A}"/>
              </a:ext>
            </a:extLst>
          </p:cNvPr>
          <p:cNvSpPr>
            <a:spLocks xmlns:a="http://schemas.openxmlformats.org/drawingml/2006/main" noGrp="1"/>
          </p:cNvSpPr>
          <p:nvPr/>
        </p:nvSpPr>
        <p:spPr>
          <a:xfrm xmlns:a="http://schemas.openxmlformats.org/drawingml/2006/main">
            <a:off x="4552950" y="2105025"/>
            <a:ext cx="30956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00" b="1">
                <a:solidFill>
                  <a:srgbClr val="63CDF2"/>
                </a:solidFill>
                <a:latin typeface="Helvetica Neue"/>
                <a:ea typeface="Helvetica Neue"/>
                <a:cs typeface="Helvetica Neue"/>
              </a:defRPr>
            </a:pPr>
            <a:r>
              <a:rPr sz="1800" b="1">
                <a:solidFill>
                  <a:srgbClr val="63CDF2"/>
                </a:solidFill>
                <a:latin typeface="Helvetica Neue"/>
                <a:ea typeface="Helvetica Neue"/>
                <a:cs typeface="Helvetica Neue"/>
              </a:rPr>
              <a:t>SERVER</a:t>
            </a:r>
          </a:p>
        </p:txBody>
      </p:sp>
      <p:sp>
        <p:nvSpPr>
          <p:cNvPr id="6" name="text-201">
            <a:extLst xmlns:a="http://schemas.openxmlformats.org/drawingml/2006/main">
              <a:ext uri="{FF2B5EF4-FFF2-40B4-BE49-F238E27FC236}">
                <a16:creationId xmlns:a16="http://schemas.microsoft.com/office/drawing/2014/main" id="{193D6241-4EB0-4003-991E-DF3B2A7389EB}"/>
              </a:ext>
            </a:extLst>
          </p:cNvPr>
          <p:cNvSpPr>
            <a:spLocks xmlns:a="http://schemas.openxmlformats.org/drawingml/2006/main" noGrp="1"/>
          </p:cNvSpPr>
          <p:nvPr/>
        </p:nvSpPr>
        <p:spPr>
          <a:xfrm xmlns:a="http://schemas.openxmlformats.org/drawingml/2006/main">
            <a:off x="8477250" y="2105025"/>
            <a:ext cx="30956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00" b="1">
                <a:solidFill>
                  <a:srgbClr val="63CDF2"/>
                </a:solidFill>
                <a:latin typeface="Helvetica Neue"/>
                <a:ea typeface="Helvetica Neue"/>
                <a:cs typeface="Helvetica Neue"/>
              </a:defRPr>
            </a:pPr>
            <a:r>
              <a:rPr sz="1800" b="1">
                <a:solidFill>
                  <a:srgbClr val="63CDF2"/>
                </a:solidFill>
                <a:latin typeface="Helvetica Neue"/>
                <a:ea typeface="Helvetica Neue"/>
                <a:cs typeface="Helvetica Neue"/>
              </a:rPr>
              <a:t>TË DHËNA</a:t>
            </a:r>
          </a:p>
        </p:txBody>
      </p:sp>
      <p:sp>
        <p:nvSpPr>
          <p:cNvPr id="7" name="surface-202">
            <a:extLst xmlns:a="http://schemas.openxmlformats.org/drawingml/2006/main">
              <a:ext uri="{FF2B5EF4-FFF2-40B4-BE49-F238E27FC236}">
                <a16:creationId xmlns:a16="http://schemas.microsoft.com/office/drawing/2014/main" id="{B5F99A08-6732-4975-B88C-4BA14C510A29}"/>
              </a:ext>
            </a:extLst>
          </p:cNvPr>
          <p:cNvSpPr>
            <a:spLocks xmlns:a="http://schemas.openxmlformats.org/drawingml/2006/main" noGrp="1"/>
          </p:cNvSpPr>
          <p:nvPr/>
        </p:nvSpPr>
        <p:spPr>
          <a:xfrm xmlns:a="http://schemas.openxmlformats.org/drawingml/2006/main">
            <a:off x="628650" y="2781300"/>
            <a:ext cx="3095625" cy="1381125"/>
          </a:xfrm>
          <a:prstGeom xmlns:a="http://schemas.openxmlformats.org/drawingml/2006/main" prst="roundRect">
            <a:avLst>
              <a:gd name="adj" fmla="val 5517"/>
            </a:avLst>
          </a:prstGeom>
          <a:solidFill xmlns:a="http://schemas.openxmlformats.org/drawingml/2006/main">
            <a:srgbClr val="192732"/>
          </a:solidFill>
          <a:ln xmlns:a="http://schemas.openxmlformats.org/drawingml/2006/main" w="19050">
            <a:solidFill>
              <a:srgbClr val="3E5769"/>
            </a:solidFill>
          </a:ln>
        </p:spPr>
      </p:sp>
      <p:sp>
        <p:nvSpPr>
          <p:cNvPr id="8" name="text-203">
            <a:extLst xmlns:a="http://schemas.openxmlformats.org/drawingml/2006/main">
              <a:ext uri="{FF2B5EF4-FFF2-40B4-BE49-F238E27FC236}">
                <a16:creationId xmlns:a16="http://schemas.microsoft.com/office/drawing/2014/main" id="{0C1B36AA-ABDB-4595-8839-563EF5590725}"/>
              </a:ext>
            </a:extLst>
          </p:cNvPr>
          <p:cNvSpPr>
            <a:spLocks xmlns:a="http://schemas.openxmlformats.org/drawingml/2006/main" noGrp="1"/>
          </p:cNvSpPr>
          <p:nvPr/>
        </p:nvSpPr>
        <p:spPr>
          <a:xfrm xmlns:a="http://schemas.openxmlformats.org/drawingml/2006/main">
            <a:off x="819150" y="3000375"/>
            <a:ext cx="27146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a:solidFill>
                  <a:srgbClr val="F4F2EC"/>
                </a:solidFill>
                <a:latin typeface="Helvetica Neue"/>
                <a:ea typeface="Helvetica Neue"/>
                <a:cs typeface="Helvetica Neue"/>
              </a:defRPr>
            </a:pPr>
            <a:r>
              <a:rPr sz="2925" b="1">
                <a:solidFill>
                  <a:srgbClr val="F4F2EC"/>
                </a:solidFill>
                <a:latin typeface="Helvetica Neue"/>
                <a:ea typeface="Helvetica Neue"/>
                <a:cs typeface="Helvetica Neue"/>
              </a:rPr>
              <a:t>React 19</a:t>
            </a:r>
          </a:p>
        </p:txBody>
      </p:sp>
      <p:sp>
        <p:nvSpPr>
          <p:cNvPr id="9" name="text-204">
            <a:extLst xmlns:a="http://schemas.openxmlformats.org/drawingml/2006/main">
              <a:ext uri="{FF2B5EF4-FFF2-40B4-BE49-F238E27FC236}">
                <a16:creationId xmlns:a16="http://schemas.microsoft.com/office/drawing/2014/main" id="{1D30D268-4005-4B20-BEB0-5E6ECA8B0D44}"/>
              </a:ext>
            </a:extLst>
          </p:cNvPr>
          <p:cNvSpPr>
            <a:spLocks xmlns:a="http://schemas.openxmlformats.org/drawingml/2006/main" noGrp="1"/>
          </p:cNvSpPr>
          <p:nvPr/>
        </p:nvSpPr>
        <p:spPr>
          <a:xfrm xmlns:a="http://schemas.openxmlformats.org/drawingml/2006/main">
            <a:off x="819150" y="3562350"/>
            <a:ext cx="27146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950" b="0">
                <a:solidFill>
                  <a:srgbClr val="AEBFCB"/>
                </a:solidFill>
                <a:latin typeface="Helvetica Neue"/>
                <a:ea typeface="Helvetica Neue"/>
                <a:cs typeface="Helvetica Neue"/>
              </a:defRPr>
            </a:pPr>
            <a:r>
              <a:rPr sz="1950" b="0">
                <a:solidFill>
                  <a:srgbClr val="AEBFCB"/>
                </a:solidFill>
                <a:latin typeface="Helvetica Neue"/>
                <a:ea typeface="Helvetica Neue"/>
                <a:cs typeface="Helvetica Neue"/>
              </a:rPr>
              <a:t>Ndërfaqja mobile</a:t>
            </a:r>
          </a:p>
        </p:txBody>
      </p:sp>
      <p:sp>
        <p:nvSpPr>
          <p:cNvPr id="10" name="flow-205">
            <a:extLst xmlns:a="http://schemas.openxmlformats.org/drawingml/2006/main">
              <a:ext uri="{FF2B5EF4-FFF2-40B4-BE49-F238E27FC236}">
                <a16:creationId xmlns:a16="http://schemas.microsoft.com/office/drawing/2014/main" id="{8A931AB4-E370-49AE-ADE4-AC168891F741}"/>
              </a:ext>
            </a:extLst>
          </p:cNvPr>
          <p:cNvSpPr>
            <a:spLocks xmlns:a="http://schemas.openxmlformats.org/drawingml/2006/main" noGrp="1"/>
          </p:cNvSpPr>
          <p:nvPr/>
        </p:nvSpPr>
        <p:spPr>
          <a:xfrm xmlns:a="http://schemas.openxmlformats.org/drawingml/2006/main">
            <a:off x="3886200" y="3362325"/>
            <a:ext cx="51435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1" name="surface-206">
            <a:extLst xmlns:a="http://schemas.openxmlformats.org/drawingml/2006/main">
              <a:ext uri="{FF2B5EF4-FFF2-40B4-BE49-F238E27FC236}">
                <a16:creationId xmlns:a16="http://schemas.microsoft.com/office/drawing/2014/main" id="{E4CD5269-1E4F-4C9F-BB8A-7953C552B1CD}"/>
              </a:ext>
            </a:extLst>
          </p:cNvPr>
          <p:cNvSpPr>
            <a:spLocks xmlns:a="http://schemas.openxmlformats.org/drawingml/2006/main" noGrp="1"/>
          </p:cNvSpPr>
          <p:nvPr/>
        </p:nvSpPr>
        <p:spPr>
          <a:xfrm xmlns:a="http://schemas.openxmlformats.org/drawingml/2006/main">
            <a:off x="4552950" y="2781300"/>
            <a:ext cx="3095625" cy="1381125"/>
          </a:xfrm>
          <a:prstGeom xmlns:a="http://schemas.openxmlformats.org/drawingml/2006/main" prst="roundRect">
            <a:avLst>
              <a:gd name="adj" fmla="val 5517"/>
            </a:avLst>
          </a:prstGeom>
          <a:solidFill xmlns:a="http://schemas.openxmlformats.org/drawingml/2006/main">
            <a:srgbClr val="192732"/>
          </a:solidFill>
          <a:ln xmlns:a="http://schemas.openxmlformats.org/drawingml/2006/main" w="19050">
            <a:solidFill>
              <a:srgbClr val="3E5769"/>
            </a:solidFill>
          </a:ln>
        </p:spPr>
      </p:sp>
      <p:sp>
        <p:nvSpPr>
          <p:cNvPr id="12" name="text-207">
            <a:extLst xmlns:a="http://schemas.openxmlformats.org/drawingml/2006/main">
              <a:ext uri="{FF2B5EF4-FFF2-40B4-BE49-F238E27FC236}">
                <a16:creationId xmlns:a16="http://schemas.microsoft.com/office/drawing/2014/main" id="{BE590ED3-E67A-49E2-B931-8AE1CDE02170}"/>
              </a:ext>
            </a:extLst>
          </p:cNvPr>
          <p:cNvSpPr>
            <a:spLocks xmlns:a="http://schemas.openxmlformats.org/drawingml/2006/main" noGrp="1"/>
          </p:cNvSpPr>
          <p:nvPr/>
        </p:nvSpPr>
        <p:spPr>
          <a:xfrm xmlns:a="http://schemas.openxmlformats.org/drawingml/2006/main">
            <a:off x="4743450" y="3000375"/>
            <a:ext cx="27146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a:solidFill>
                  <a:srgbClr val="F4F2EC"/>
                </a:solidFill>
                <a:latin typeface="Helvetica Neue"/>
                <a:ea typeface="Helvetica Neue"/>
                <a:cs typeface="Helvetica Neue"/>
              </a:defRPr>
            </a:pPr>
            <a:r>
              <a:rPr sz="2925" b="1">
                <a:solidFill>
                  <a:srgbClr val="F4F2EC"/>
                </a:solidFill>
                <a:latin typeface="Helvetica Neue"/>
                <a:ea typeface="Helvetica Neue"/>
                <a:cs typeface="Helvetica Neue"/>
              </a:rPr>
              <a:t>Next.js 15</a:t>
            </a:r>
          </a:p>
        </p:txBody>
      </p:sp>
      <p:sp>
        <p:nvSpPr>
          <p:cNvPr id="13" name="text-208">
            <a:extLst xmlns:a="http://schemas.openxmlformats.org/drawingml/2006/main">
              <a:ext uri="{FF2B5EF4-FFF2-40B4-BE49-F238E27FC236}">
                <a16:creationId xmlns:a16="http://schemas.microsoft.com/office/drawing/2014/main" id="{EA7F41B3-51DA-4C64-A580-0550DEB2A6D2}"/>
              </a:ext>
            </a:extLst>
          </p:cNvPr>
          <p:cNvSpPr>
            <a:spLocks xmlns:a="http://schemas.openxmlformats.org/drawingml/2006/main" noGrp="1"/>
          </p:cNvSpPr>
          <p:nvPr/>
        </p:nvSpPr>
        <p:spPr>
          <a:xfrm xmlns:a="http://schemas.openxmlformats.org/drawingml/2006/main">
            <a:off x="4743450" y="3562350"/>
            <a:ext cx="27146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950" b="0">
                <a:solidFill>
                  <a:srgbClr val="AEBFCB"/>
                </a:solidFill>
                <a:latin typeface="Helvetica Neue"/>
                <a:ea typeface="Helvetica Neue"/>
                <a:cs typeface="Helvetica Neue"/>
              </a:defRPr>
            </a:pPr>
            <a:r>
              <a:rPr sz="1950" b="0">
                <a:solidFill>
                  <a:srgbClr val="AEBFCB"/>
                </a:solidFill>
                <a:latin typeface="Helvetica Neue"/>
                <a:ea typeface="Helvetica Neue"/>
                <a:cs typeface="Helvetica Neue"/>
              </a:rPr>
              <a:t>App Router / Vercel</a:t>
            </a:r>
          </a:p>
        </p:txBody>
      </p:sp>
      <p:sp>
        <p:nvSpPr>
          <p:cNvPr id="14" name="flow-209">
            <a:extLst xmlns:a="http://schemas.openxmlformats.org/drawingml/2006/main">
              <a:ext uri="{FF2B5EF4-FFF2-40B4-BE49-F238E27FC236}">
                <a16:creationId xmlns:a16="http://schemas.microsoft.com/office/drawing/2014/main" id="{D72E8B87-87D8-4D3C-AA56-969203770E7E}"/>
              </a:ext>
            </a:extLst>
          </p:cNvPr>
          <p:cNvSpPr>
            <a:spLocks xmlns:a="http://schemas.openxmlformats.org/drawingml/2006/main" noGrp="1"/>
          </p:cNvSpPr>
          <p:nvPr/>
        </p:nvSpPr>
        <p:spPr>
          <a:xfrm xmlns:a="http://schemas.openxmlformats.org/drawingml/2006/main">
            <a:off x="7810500" y="3362325"/>
            <a:ext cx="51435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5" name="surface-210">
            <a:extLst xmlns:a="http://schemas.openxmlformats.org/drawingml/2006/main">
              <a:ext uri="{FF2B5EF4-FFF2-40B4-BE49-F238E27FC236}">
                <a16:creationId xmlns:a16="http://schemas.microsoft.com/office/drawing/2014/main" id="{B098932C-1B99-41C8-9B0F-479643C1C6E9}"/>
              </a:ext>
            </a:extLst>
          </p:cNvPr>
          <p:cNvSpPr>
            <a:spLocks xmlns:a="http://schemas.openxmlformats.org/drawingml/2006/main" noGrp="1"/>
          </p:cNvSpPr>
          <p:nvPr/>
        </p:nvSpPr>
        <p:spPr>
          <a:xfrm xmlns:a="http://schemas.openxmlformats.org/drawingml/2006/main">
            <a:off x="8477250" y="2781300"/>
            <a:ext cx="3095625" cy="1381125"/>
          </a:xfrm>
          <a:prstGeom xmlns:a="http://schemas.openxmlformats.org/drawingml/2006/main" prst="roundRect">
            <a:avLst>
              <a:gd name="adj" fmla="val 5517"/>
            </a:avLst>
          </a:prstGeom>
          <a:solidFill xmlns:a="http://schemas.openxmlformats.org/drawingml/2006/main">
            <a:srgbClr val="192732"/>
          </a:solidFill>
          <a:ln xmlns:a="http://schemas.openxmlformats.org/drawingml/2006/main" w="19050">
            <a:solidFill>
              <a:srgbClr val="3E5769"/>
            </a:solidFill>
          </a:ln>
        </p:spPr>
      </p:sp>
      <p:sp>
        <p:nvSpPr>
          <p:cNvPr id="16" name="text-211">
            <a:extLst xmlns:a="http://schemas.openxmlformats.org/drawingml/2006/main">
              <a:ext uri="{FF2B5EF4-FFF2-40B4-BE49-F238E27FC236}">
                <a16:creationId xmlns:a16="http://schemas.microsoft.com/office/drawing/2014/main" id="{47B1056C-1590-48DE-AA3B-CBD722F1770A}"/>
              </a:ext>
            </a:extLst>
          </p:cNvPr>
          <p:cNvSpPr>
            <a:spLocks xmlns:a="http://schemas.openxmlformats.org/drawingml/2006/main" noGrp="1"/>
          </p:cNvSpPr>
          <p:nvPr/>
        </p:nvSpPr>
        <p:spPr>
          <a:xfrm xmlns:a="http://schemas.openxmlformats.org/drawingml/2006/main">
            <a:off x="8667750" y="3000375"/>
            <a:ext cx="27146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a:solidFill>
                  <a:srgbClr val="F4F2EC"/>
                </a:solidFill>
                <a:latin typeface="Helvetica Neue"/>
                <a:ea typeface="Helvetica Neue"/>
                <a:cs typeface="Helvetica Neue"/>
              </a:defRPr>
            </a:pPr>
            <a:r>
              <a:rPr sz="2925" b="1">
                <a:solidFill>
                  <a:srgbClr val="F4F2EC"/>
                </a:solidFill>
                <a:latin typeface="Helvetica Neue"/>
                <a:ea typeface="Helvetica Neue"/>
                <a:cs typeface="Helvetica Neue"/>
              </a:rPr>
              <a:t>Supabase</a:t>
            </a:r>
          </a:p>
        </p:txBody>
      </p:sp>
      <p:sp>
        <p:nvSpPr>
          <p:cNvPr id="17" name="text-212">
            <a:extLst xmlns:a="http://schemas.openxmlformats.org/drawingml/2006/main">
              <a:ext uri="{FF2B5EF4-FFF2-40B4-BE49-F238E27FC236}">
                <a16:creationId xmlns:a16="http://schemas.microsoft.com/office/drawing/2014/main" id="{753BE017-8691-47E4-ACE0-9C7CDC72599F}"/>
              </a:ext>
            </a:extLst>
          </p:cNvPr>
          <p:cNvSpPr>
            <a:spLocks xmlns:a="http://schemas.openxmlformats.org/drawingml/2006/main" noGrp="1"/>
          </p:cNvSpPr>
          <p:nvPr/>
        </p:nvSpPr>
        <p:spPr>
          <a:xfrm xmlns:a="http://schemas.openxmlformats.org/drawingml/2006/main">
            <a:off x="8667750" y="3562350"/>
            <a:ext cx="27146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950" b="0">
                <a:solidFill>
                  <a:srgbClr val="AEBFCB"/>
                </a:solidFill>
                <a:latin typeface="Helvetica Neue"/>
                <a:ea typeface="Helvetica Neue"/>
                <a:cs typeface="Helvetica Neue"/>
              </a:defRPr>
            </a:pPr>
            <a:r>
              <a:rPr sz="1950" b="0">
                <a:solidFill>
                  <a:srgbClr val="AEBFCB"/>
                </a:solidFill>
                <a:latin typeface="Helvetica Neue"/>
                <a:ea typeface="Helvetica Neue"/>
                <a:cs typeface="Helvetica Neue"/>
              </a:rPr>
              <a:t>Auth / PostgreSQL</a:t>
            </a:r>
          </a:p>
        </p:txBody>
      </p:sp>
      <p:sp>
        <p:nvSpPr>
          <p:cNvPr id="18" name="text-213">
            <a:extLst xmlns:a="http://schemas.openxmlformats.org/drawingml/2006/main">
              <a:ext uri="{FF2B5EF4-FFF2-40B4-BE49-F238E27FC236}">
                <a16:creationId xmlns:a16="http://schemas.microsoft.com/office/drawing/2014/main" id="{82C223B2-8E84-4569-B34C-F946466CF19F}"/>
              </a:ext>
            </a:extLst>
          </p:cNvPr>
          <p:cNvSpPr>
            <a:spLocks xmlns:a="http://schemas.openxmlformats.org/drawingml/2006/main" noGrp="1"/>
          </p:cNvSpPr>
          <p:nvPr/>
        </p:nvSpPr>
        <p:spPr>
          <a:xfrm xmlns:a="http://schemas.openxmlformats.org/drawingml/2006/main">
            <a:off x="628650" y="4543425"/>
            <a:ext cx="3667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0">
                <a:solidFill>
                  <a:srgbClr val="AEBFCB"/>
                </a:solidFill>
                <a:latin typeface="Helvetica Neue"/>
                <a:ea typeface="Helvetica Neue"/>
                <a:cs typeface="Helvetica Neue"/>
              </a:defRPr>
            </a:pPr>
            <a:r>
              <a:rPr sz="2025" b="0">
                <a:solidFill>
                  <a:srgbClr val="AEBFCB"/>
                </a:solidFill>
                <a:latin typeface="Helvetica Neue"/>
                <a:ea typeface="Helvetica Neue"/>
                <a:cs typeface="Helvetica Neue"/>
              </a:rPr>
              <a:t>TypeScript + Tailwind</a:t>
            </a:r>
          </a:p>
        </p:txBody>
      </p:sp>
      <p:sp>
        <p:nvSpPr>
          <p:cNvPr id="19" name="text-214">
            <a:extLst xmlns:a="http://schemas.openxmlformats.org/drawingml/2006/main">
              <a:ext uri="{FF2B5EF4-FFF2-40B4-BE49-F238E27FC236}">
                <a16:creationId xmlns:a16="http://schemas.microsoft.com/office/drawing/2014/main" id="{68714BFC-13C4-40CA-AD94-367431D73B93}"/>
              </a:ext>
            </a:extLst>
          </p:cNvPr>
          <p:cNvSpPr>
            <a:spLocks xmlns:a="http://schemas.openxmlformats.org/drawingml/2006/main" noGrp="1"/>
          </p:cNvSpPr>
          <p:nvPr/>
        </p:nvSpPr>
        <p:spPr>
          <a:xfrm xmlns:a="http://schemas.openxmlformats.org/drawingml/2006/main">
            <a:off x="4552950" y="4543425"/>
            <a:ext cx="36861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950" b="0">
                <a:solidFill>
                  <a:srgbClr val="AEBFCB"/>
                </a:solidFill>
                <a:latin typeface="Helvetica Neue"/>
                <a:ea typeface="Helvetica Neue"/>
                <a:cs typeface="Helvetica Neue"/>
              </a:defRPr>
            </a:pPr>
            <a:r>
              <a:rPr sz="1950" b="0">
                <a:solidFill>
                  <a:srgbClr val="AEBFCB"/>
                </a:solidFill>
                <a:latin typeface="Helvetica Neue"/>
                <a:ea typeface="Helvetica Neue"/>
                <a:cs typeface="Helvetica Neue"/>
              </a:rPr>
              <a:t>Server / Client Components</a:t>
            </a:r>
          </a:p>
        </p:txBody>
      </p:sp>
      <p:sp>
        <p:nvSpPr>
          <p:cNvPr id="20" name="text-215">
            <a:extLst xmlns:a="http://schemas.openxmlformats.org/drawingml/2006/main">
              <a:ext uri="{FF2B5EF4-FFF2-40B4-BE49-F238E27FC236}">
                <a16:creationId xmlns:a16="http://schemas.microsoft.com/office/drawing/2014/main" id="{1A1EB905-008A-41C3-9D97-B6008BDADF9E}"/>
              </a:ext>
            </a:extLst>
          </p:cNvPr>
          <p:cNvSpPr>
            <a:spLocks xmlns:a="http://schemas.openxmlformats.org/drawingml/2006/main" noGrp="1"/>
          </p:cNvSpPr>
          <p:nvPr/>
        </p:nvSpPr>
        <p:spPr>
          <a:xfrm xmlns:a="http://schemas.openxmlformats.org/drawingml/2006/main">
            <a:off x="8477250" y="4543425"/>
            <a:ext cx="3095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950" b="0">
                <a:solidFill>
                  <a:srgbClr val="AEBFCB"/>
                </a:solidFill>
                <a:latin typeface="Helvetica Neue"/>
                <a:ea typeface="Helvetica Neue"/>
                <a:cs typeface="Helvetica Neue"/>
              </a:defRPr>
            </a:pPr>
            <a:r>
              <a:rPr sz="1950" b="0">
                <a:solidFill>
                  <a:srgbClr val="AEBFCB"/>
                </a:solidFill>
                <a:latin typeface="Helvetica Neue"/>
                <a:ea typeface="Helvetica Neue"/>
                <a:cs typeface="Helvetica Neue"/>
              </a:rPr>
              <a:t>RLS + rregullat e të dhënave</a:t>
            </a:r>
          </a:p>
        </p:txBody>
      </p:sp>
      <p:sp>
        <p:nvSpPr>
          <p:cNvPr id="21" name="text-216">
            <a:extLst xmlns:a="http://schemas.openxmlformats.org/drawingml/2006/main">
              <a:ext uri="{FF2B5EF4-FFF2-40B4-BE49-F238E27FC236}">
                <a16:creationId xmlns:a16="http://schemas.microsoft.com/office/drawing/2014/main" id="{554658EC-538E-401B-821C-3E4B8C842DC4}"/>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Ku kontrollohet ndryshimi i numrit të vendeve?</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98ace120382a43e3"/>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265983051"/>
      </p:ext>
    </p:extLst>
  </p:cSld>
</p:sld>
</file>

<file path=ppt/slides/slide2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5" name="text-217">
            <a:extLst xmlns:a="http://schemas.openxmlformats.org/drawingml/2006/main">
              <a:ext uri="{FF2B5EF4-FFF2-40B4-BE49-F238E27FC236}">
                <a16:creationId xmlns:a16="http://schemas.microsoft.com/office/drawing/2014/main" id="{8ECF4877-F2F8-4C81-8865-E73898A03450}"/>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ARKITEKTURA MOBILE</a:t>
            </a:r>
          </a:p>
        </p:txBody>
      </p:sp>
      <p:sp>
        <p:nvSpPr>
          <p:cNvPr id="2" name="text-218">
            <a:extLst xmlns:a="http://schemas.openxmlformats.org/drawingml/2006/main">
              <a:ext uri="{FF2B5EF4-FFF2-40B4-BE49-F238E27FC236}">
                <a16:creationId xmlns:a16="http://schemas.microsoft.com/office/drawing/2014/main" id="{0A798ADC-4153-41E0-88AA-39BDD57E4841}"/>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21</a:t>
            </a:r>
          </a:p>
        </p:txBody>
      </p:sp>
      <p:sp>
        <p:nvSpPr>
          <p:cNvPr id="3" name="text-219">
            <a:extLst xmlns:a="http://schemas.openxmlformats.org/drawingml/2006/main">
              <a:ext uri="{FF2B5EF4-FFF2-40B4-BE49-F238E27FC236}">
                <a16:creationId xmlns:a16="http://schemas.microsoft.com/office/drawing/2014/main" id="{EBB13E44-C4D9-4C44-9A54-C07255C97190}"/>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Telefoni kërkon. Sistemi verifikon.</a:t>
            </a:r>
          </a:p>
        </p:txBody>
      </p:sp>
      <p:sp>
        <p:nvSpPr>
          <p:cNvPr id="4" name="text-220">
            <a:extLst xmlns:a="http://schemas.openxmlformats.org/drawingml/2006/main">
              <a:ext uri="{FF2B5EF4-FFF2-40B4-BE49-F238E27FC236}">
                <a16:creationId xmlns:a16="http://schemas.microsoft.com/office/drawing/2014/main" id="{AF338EC6-B57F-4817-806B-7048E6828E2B}"/>
              </a:ext>
            </a:extLst>
          </p:cNvPr>
          <p:cNvSpPr>
            <a:spLocks xmlns:a="http://schemas.openxmlformats.org/drawingml/2006/main" noGrp="1"/>
          </p:cNvSpPr>
          <p:nvPr/>
        </p:nvSpPr>
        <p:spPr>
          <a:xfrm xmlns:a="http://schemas.openxmlformats.org/drawingml/2006/main">
            <a:off x="628650" y="1914525"/>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375" b="1">
                <a:solidFill>
                  <a:srgbClr val="63CDF2"/>
                </a:solidFill>
                <a:latin typeface="Helvetica Neue"/>
                <a:ea typeface="Helvetica Neue"/>
                <a:cs typeface="Helvetica Neue"/>
              </a:defRPr>
            </a:pPr>
            <a:r>
              <a:rPr sz="3375" b="1">
                <a:solidFill>
                  <a:srgbClr val="63CDF2"/>
                </a:solidFill>
                <a:latin typeface="Helvetica Neue"/>
                <a:ea typeface="Helvetica Neue"/>
                <a:cs typeface="Helvetica Neue"/>
              </a:rPr>
              <a:t>Identitet ≠ Leje</a:t>
            </a:r>
          </a:p>
        </p:txBody>
      </p:sp>
      <p:sp>
        <p:nvSpPr>
          <p:cNvPr id="5" name="text-221">
            <a:extLst xmlns:a="http://schemas.openxmlformats.org/drawingml/2006/main">
              <a:ext uri="{FF2B5EF4-FFF2-40B4-BE49-F238E27FC236}">
                <a16:creationId xmlns:a16="http://schemas.microsoft.com/office/drawing/2014/main" id="{4D3256D4-7FA2-4115-B985-15724E16D0F6}"/>
              </a:ext>
            </a:extLst>
          </p:cNvPr>
          <p:cNvSpPr>
            <a:spLocks xmlns:a="http://schemas.openxmlformats.org/drawingml/2006/main" noGrp="1"/>
          </p:cNvSpPr>
          <p:nvPr/>
        </p:nvSpPr>
        <p:spPr>
          <a:xfrm xmlns:a="http://schemas.openxmlformats.org/drawingml/2006/main">
            <a:off x="714375" y="2943225"/>
            <a:ext cx="4191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00" b="1">
                <a:solidFill>
                  <a:srgbClr val="AEBFCB"/>
                </a:solidFill>
                <a:latin typeface="Helvetica Neue"/>
                <a:ea typeface="Helvetica Neue"/>
                <a:cs typeface="Helvetica Neue"/>
              </a:defRPr>
            </a:pPr>
            <a:r>
              <a:rPr sz="1800" b="1">
                <a:solidFill>
                  <a:srgbClr val="AEBFCB"/>
                </a:solidFill>
                <a:latin typeface="Helvetica Neue"/>
                <a:ea typeface="Helvetica Neue"/>
                <a:cs typeface="Helvetica Neue"/>
              </a:rPr>
              <a:t>TELEFONI</a:t>
            </a:r>
          </a:p>
        </p:txBody>
      </p:sp>
      <p:sp>
        <p:nvSpPr>
          <p:cNvPr id="6" name="surface-222">
            <a:extLst xmlns:a="http://schemas.openxmlformats.org/drawingml/2006/main">
              <a:ext uri="{FF2B5EF4-FFF2-40B4-BE49-F238E27FC236}">
                <a16:creationId xmlns:a16="http://schemas.microsoft.com/office/drawing/2014/main" id="{CB6CF7D0-B84D-42C5-BF78-9F6F48AFF00B}"/>
              </a:ext>
            </a:extLst>
          </p:cNvPr>
          <p:cNvSpPr>
            <a:spLocks xmlns:a="http://schemas.openxmlformats.org/drawingml/2006/main" noGrp="1"/>
          </p:cNvSpPr>
          <p:nvPr/>
        </p:nvSpPr>
        <p:spPr>
          <a:xfrm xmlns:a="http://schemas.openxmlformats.org/drawingml/2006/main">
            <a:off x="704850" y="3486150"/>
            <a:ext cx="4219575" cy="838200"/>
          </a:xfrm>
          <a:prstGeom xmlns:a="http://schemas.openxmlformats.org/drawingml/2006/main" prst="roundRect">
            <a:avLst>
              <a:gd name="adj" fmla="val 11364"/>
            </a:avLst>
          </a:prstGeom>
          <a:solidFill xmlns:a="http://schemas.openxmlformats.org/drawingml/2006/main">
            <a:srgbClr val="192732"/>
          </a:solidFill>
          <a:ln xmlns:a="http://schemas.openxmlformats.org/drawingml/2006/main" w="19050">
            <a:solidFill>
              <a:srgbClr val="63CDF2"/>
            </a:solidFill>
          </a:ln>
        </p:spPr>
      </p:sp>
      <p:sp>
        <p:nvSpPr>
          <p:cNvPr id="7" name="text-223">
            <a:extLst xmlns:a="http://schemas.openxmlformats.org/drawingml/2006/main">
              <a:ext uri="{FF2B5EF4-FFF2-40B4-BE49-F238E27FC236}">
                <a16:creationId xmlns:a16="http://schemas.microsoft.com/office/drawing/2014/main" id="{47CEDE09-CCB8-4FEC-842F-914B42797161}"/>
              </a:ext>
            </a:extLst>
          </p:cNvPr>
          <p:cNvSpPr>
            <a:spLocks xmlns:a="http://schemas.openxmlformats.org/drawingml/2006/main" noGrp="1"/>
          </p:cNvSpPr>
          <p:nvPr/>
        </p:nvSpPr>
        <p:spPr>
          <a:xfrm xmlns:a="http://schemas.openxmlformats.org/drawingml/2006/main">
            <a:off x="819150" y="3562350"/>
            <a:ext cx="39909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63CDF2"/>
                </a:solidFill>
                <a:latin typeface="Helvetica Neue"/>
                <a:ea typeface="Helvetica Neue"/>
                <a:cs typeface="Helvetica Neue"/>
              </a:defRPr>
            </a:pPr>
            <a:r>
              <a:rPr sz="2250" b="1">
                <a:solidFill>
                  <a:srgbClr val="63CDF2"/>
                </a:solidFill>
                <a:latin typeface="Helvetica Neue"/>
                <a:ea typeface="Helvetica Neue"/>
                <a:cs typeface="Helvetica Neue"/>
              </a:rPr>
              <a:t>Ndrysho udhëtimin 42</a:t>
            </a:r>
          </a:p>
        </p:txBody>
      </p:sp>
      <p:sp>
        <p:nvSpPr>
          <p:cNvPr id="8" name="line-224">
            <a:extLst xmlns:a="http://schemas.openxmlformats.org/drawingml/2006/main">
              <a:ext uri="{FF2B5EF4-FFF2-40B4-BE49-F238E27FC236}">
                <a16:creationId xmlns:a16="http://schemas.microsoft.com/office/drawing/2014/main" id="{6BCC1B62-9FD0-4AAC-B3F8-68B764D00358}"/>
              </a:ext>
            </a:extLst>
          </p:cNvPr>
          <p:cNvSpPr>
            <a:spLocks xmlns:a="http://schemas.openxmlformats.org/drawingml/2006/main" noGrp="1"/>
          </p:cNvSpPr>
          <p:nvPr/>
        </p:nvSpPr>
        <p:spPr>
          <a:xfrm xmlns:a="http://schemas.openxmlformats.org/drawingml/2006/main">
            <a:off x="6057900" y="2714625"/>
            <a:ext cx="0" cy="142875"/>
          </a:xfrm>
          <a:prstGeom xmlns:a="http://schemas.openxmlformats.org/drawingml/2006/main" prst="line">
            <a:avLst/>
          </a:prstGeom>
          <a:noFill xmlns:a="http://schemas.openxmlformats.org/drawingml/2006/main"/>
          <a:ln xmlns:a="http://schemas.openxmlformats.org/drawingml/2006/main" w="28575">
            <a:solidFill>
              <a:srgbClr val="F2BB66"/>
            </a:solidFill>
          </a:ln>
        </p:spPr>
      </p:sp>
      <p:sp>
        <p:nvSpPr>
          <p:cNvPr id="9" name="line-225">
            <a:extLst xmlns:a="http://schemas.openxmlformats.org/drawingml/2006/main">
              <a:ext uri="{FF2B5EF4-FFF2-40B4-BE49-F238E27FC236}">
                <a16:creationId xmlns:a16="http://schemas.microsoft.com/office/drawing/2014/main" id="{A511E2F8-3BC3-479F-A2DA-AAA1F8F9371B}"/>
              </a:ext>
            </a:extLst>
          </p:cNvPr>
          <p:cNvSpPr>
            <a:spLocks xmlns:a="http://schemas.openxmlformats.org/drawingml/2006/main" noGrp="1"/>
          </p:cNvSpPr>
          <p:nvPr/>
        </p:nvSpPr>
        <p:spPr>
          <a:xfrm xmlns:a="http://schemas.openxmlformats.org/drawingml/2006/main">
            <a:off x="6057900" y="2981325"/>
            <a:ext cx="0" cy="142875"/>
          </a:xfrm>
          <a:prstGeom xmlns:a="http://schemas.openxmlformats.org/drawingml/2006/main" prst="line">
            <a:avLst/>
          </a:prstGeom>
          <a:noFill xmlns:a="http://schemas.openxmlformats.org/drawingml/2006/main"/>
          <a:ln xmlns:a="http://schemas.openxmlformats.org/drawingml/2006/main" w="28575">
            <a:solidFill>
              <a:srgbClr val="F2BB66"/>
            </a:solidFill>
          </a:ln>
        </p:spPr>
      </p:sp>
      <p:sp>
        <p:nvSpPr>
          <p:cNvPr id="10" name="line-226">
            <a:extLst xmlns:a="http://schemas.openxmlformats.org/drawingml/2006/main">
              <a:ext uri="{FF2B5EF4-FFF2-40B4-BE49-F238E27FC236}">
                <a16:creationId xmlns:a16="http://schemas.microsoft.com/office/drawing/2014/main" id="{2C0FF3BF-9AF2-474E-8B49-EEFF67E4819A}"/>
              </a:ext>
            </a:extLst>
          </p:cNvPr>
          <p:cNvSpPr>
            <a:spLocks xmlns:a="http://schemas.openxmlformats.org/drawingml/2006/main" noGrp="1"/>
          </p:cNvSpPr>
          <p:nvPr/>
        </p:nvSpPr>
        <p:spPr>
          <a:xfrm xmlns:a="http://schemas.openxmlformats.org/drawingml/2006/main">
            <a:off x="6057900" y="3248025"/>
            <a:ext cx="0" cy="142875"/>
          </a:xfrm>
          <a:prstGeom xmlns:a="http://schemas.openxmlformats.org/drawingml/2006/main" prst="line">
            <a:avLst/>
          </a:prstGeom>
          <a:noFill xmlns:a="http://schemas.openxmlformats.org/drawingml/2006/main"/>
          <a:ln xmlns:a="http://schemas.openxmlformats.org/drawingml/2006/main" w="28575">
            <a:solidFill>
              <a:srgbClr val="F2BB66"/>
            </a:solidFill>
          </a:ln>
        </p:spPr>
      </p:sp>
      <p:sp>
        <p:nvSpPr>
          <p:cNvPr id="11" name="line-227">
            <a:extLst xmlns:a="http://schemas.openxmlformats.org/drawingml/2006/main">
              <a:ext uri="{FF2B5EF4-FFF2-40B4-BE49-F238E27FC236}">
                <a16:creationId xmlns:a16="http://schemas.microsoft.com/office/drawing/2014/main" id="{D0A68296-774D-4189-B2C0-B0836B1C5A55}"/>
              </a:ext>
            </a:extLst>
          </p:cNvPr>
          <p:cNvSpPr>
            <a:spLocks xmlns:a="http://schemas.openxmlformats.org/drawingml/2006/main" noGrp="1"/>
          </p:cNvSpPr>
          <p:nvPr/>
        </p:nvSpPr>
        <p:spPr>
          <a:xfrm xmlns:a="http://schemas.openxmlformats.org/drawingml/2006/main">
            <a:off x="6057900" y="3514725"/>
            <a:ext cx="0" cy="142875"/>
          </a:xfrm>
          <a:prstGeom xmlns:a="http://schemas.openxmlformats.org/drawingml/2006/main" prst="line">
            <a:avLst/>
          </a:prstGeom>
          <a:noFill xmlns:a="http://schemas.openxmlformats.org/drawingml/2006/main"/>
          <a:ln xmlns:a="http://schemas.openxmlformats.org/drawingml/2006/main" w="28575">
            <a:solidFill>
              <a:srgbClr val="F2BB66"/>
            </a:solidFill>
          </a:ln>
        </p:spPr>
      </p:sp>
      <p:sp>
        <p:nvSpPr>
          <p:cNvPr id="12" name="line-228">
            <a:extLst xmlns:a="http://schemas.openxmlformats.org/drawingml/2006/main">
              <a:ext uri="{FF2B5EF4-FFF2-40B4-BE49-F238E27FC236}">
                <a16:creationId xmlns:a16="http://schemas.microsoft.com/office/drawing/2014/main" id="{54CFBE71-EDB4-4D57-90E3-9C9B87E2734B}"/>
              </a:ext>
            </a:extLst>
          </p:cNvPr>
          <p:cNvSpPr>
            <a:spLocks xmlns:a="http://schemas.openxmlformats.org/drawingml/2006/main" noGrp="1"/>
          </p:cNvSpPr>
          <p:nvPr/>
        </p:nvSpPr>
        <p:spPr>
          <a:xfrm xmlns:a="http://schemas.openxmlformats.org/drawingml/2006/main">
            <a:off x="6057900" y="3781425"/>
            <a:ext cx="0" cy="142875"/>
          </a:xfrm>
          <a:prstGeom xmlns:a="http://schemas.openxmlformats.org/drawingml/2006/main" prst="line">
            <a:avLst/>
          </a:prstGeom>
          <a:noFill xmlns:a="http://schemas.openxmlformats.org/drawingml/2006/main"/>
          <a:ln xmlns:a="http://schemas.openxmlformats.org/drawingml/2006/main" w="28575">
            <a:solidFill>
              <a:srgbClr val="F2BB66"/>
            </a:solidFill>
          </a:ln>
        </p:spPr>
      </p:sp>
      <p:sp>
        <p:nvSpPr>
          <p:cNvPr id="13" name="line-229">
            <a:extLst xmlns:a="http://schemas.openxmlformats.org/drawingml/2006/main">
              <a:ext uri="{FF2B5EF4-FFF2-40B4-BE49-F238E27FC236}">
                <a16:creationId xmlns:a16="http://schemas.microsoft.com/office/drawing/2014/main" id="{81778638-4617-4EB0-8E25-F4A317E6351F}"/>
              </a:ext>
            </a:extLst>
          </p:cNvPr>
          <p:cNvSpPr>
            <a:spLocks xmlns:a="http://schemas.openxmlformats.org/drawingml/2006/main" noGrp="1"/>
          </p:cNvSpPr>
          <p:nvPr/>
        </p:nvSpPr>
        <p:spPr>
          <a:xfrm xmlns:a="http://schemas.openxmlformats.org/drawingml/2006/main">
            <a:off x="6057900" y="4048125"/>
            <a:ext cx="0" cy="142875"/>
          </a:xfrm>
          <a:prstGeom xmlns:a="http://schemas.openxmlformats.org/drawingml/2006/main" prst="line">
            <a:avLst/>
          </a:prstGeom>
          <a:noFill xmlns:a="http://schemas.openxmlformats.org/drawingml/2006/main"/>
          <a:ln xmlns:a="http://schemas.openxmlformats.org/drawingml/2006/main" w="28575">
            <a:solidFill>
              <a:srgbClr val="F2BB66"/>
            </a:solidFill>
          </a:ln>
        </p:spPr>
      </p:sp>
      <p:sp>
        <p:nvSpPr>
          <p:cNvPr id="14" name="line-230">
            <a:extLst xmlns:a="http://schemas.openxmlformats.org/drawingml/2006/main">
              <a:ext uri="{FF2B5EF4-FFF2-40B4-BE49-F238E27FC236}">
                <a16:creationId xmlns:a16="http://schemas.microsoft.com/office/drawing/2014/main" id="{BB81B35D-7E6B-47BF-A047-02BF8454EDCD}"/>
              </a:ext>
            </a:extLst>
          </p:cNvPr>
          <p:cNvSpPr>
            <a:spLocks xmlns:a="http://schemas.openxmlformats.org/drawingml/2006/main" noGrp="1"/>
          </p:cNvSpPr>
          <p:nvPr/>
        </p:nvSpPr>
        <p:spPr>
          <a:xfrm xmlns:a="http://schemas.openxmlformats.org/drawingml/2006/main">
            <a:off x="6057900" y="4314825"/>
            <a:ext cx="0" cy="142875"/>
          </a:xfrm>
          <a:prstGeom xmlns:a="http://schemas.openxmlformats.org/drawingml/2006/main" prst="line">
            <a:avLst/>
          </a:prstGeom>
          <a:noFill xmlns:a="http://schemas.openxmlformats.org/drawingml/2006/main"/>
          <a:ln xmlns:a="http://schemas.openxmlformats.org/drawingml/2006/main" w="28575">
            <a:solidFill>
              <a:srgbClr val="F2BB66"/>
            </a:solidFill>
          </a:ln>
        </p:spPr>
      </p:sp>
      <p:sp>
        <p:nvSpPr>
          <p:cNvPr id="15" name="line-231">
            <a:extLst xmlns:a="http://schemas.openxmlformats.org/drawingml/2006/main">
              <a:ext uri="{FF2B5EF4-FFF2-40B4-BE49-F238E27FC236}">
                <a16:creationId xmlns:a16="http://schemas.microsoft.com/office/drawing/2014/main" id="{88FEAB54-642D-4BCA-8EA6-50CFBE0119E6}"/>
              </a:ext>
            </a:extLst>
          </p:cNvPr>
          <p:cNvSpPr>
            <a:spLocks xmlns:a="http://schemas.openxmlformats.org/drawingml/2006/main" noGrp="1"/>
          </p:cNvSpPr>
          <p:nvPr/>
        </p:nvSpPr>
        <p:spPr>
          <a:xfrm xmlns:a="http://schemas.openxmlformats.org/drawingml/2006/main">
            <a:off x="6057900" y="4581525"/>
            <a:ext cx="0" cy="142875"/>
          </a:xfrm>
          <a:prstGeom xmlns:a="http://schemas.openxmlformats.org/drawingml/2006/main" prst="line">
            <a:avLst/>
          </a:prstGeom>
          <a:noFill xmlns:a="http://schemas.openxmlformats.org/drawingml/2006/main"/>
          <a:ln xmlns:a="http://schemas.openxmlformats.org/drawingml/2006/main" w="28575">
            <a:solidFill>
              <a:srgbClr val="F2BB66"/>
            </a:solidFill>
          </a:ln>
        </p:spPr>
      </p:sp>
      <p:sp>
        <p:nvSpPr>
          <p:cNvPr id="16" name="line-232">
            <a:extLst xmlns:a="http://schemas.openxmlformats.org/drawingml/2006/main">
              <a:ext uri="{FF2B5EF4-FFF2-40B4-BE49-F238E27FC236}">
                <a16:creationId xmlns:a16="http://schemas.microsoft.com/office/drawing/2014/main" id="{1CBDCB34-2C4D-4173-B825-641F6C843492}"/>
              </a:ext>
            </a:extLst>
          </p:cNvPr>
          <p:cNvSpPr>
            <a:spLocks xmlns:a="http://schemas.openxmlformats.org/drawingml/2006/main" noGrp="1"/>
          </p:cNvSpPr>
          <p:nvPr/>
        </p:nvSpPr>
        <p:spPr>
          <a:xfrm xmlns:a="http://schemas.openxmlformats.org/drawingml/2006/main">
            <a:off x="6057900" y="4848225"/>
            <a:ext cx="0" cy="142875"/>
          </a:xfrm>
          <a:prstGeom xmlns:a="http://schemas.openxmlformats.org/drawingml/2006/main" prst="line">
            <a:avLst/>
          </a:prstGeom>
          <a:noFill xmlns:a="http://schemas.openxmlformats.org/drawingml/2006/main"/>
          <a:ln xmlns:a="http://schemas.openxmlformats.org/drawingml/2006/main" w="28575">
            <a:solidFill>
              <a:srgbClr val="F2BB66"/>
            </a:solidFill>
          </a:ln>
        </p:spPr>
      </p:sp>
      <p:sp>
        <p:nvSpPr>
          <p:cNvPr id="17" name="line-233">
            <a:extLst xmlns:a="http://schemas.openxmlformats.org/drawingml/2006/main">
              <a:ext uri="{FF2B5EF4-FFF2-40B4-BE49-F238E27FC236}">
                <a16:creationId xmlns:a16="http://schemas.microsoft.com/office/drawing/2014/main" id="{E781DBE4-9183-4590-89AC-E8428116552C}"/>
              </a:ext>
            </a:extLst>
          </p:cNvPr>
          <p:cNvSpPr>
            <a:spLocks xmlns:a="http://schemas.openxmlformats.org/drawingml/2006/main" noGrp="1"/>
          </p:cNvSpPr>
          <p:nvPr/>
        </p:nvSpPr>
        <p:spPr>
          <a:xfrm xmlns:a="http://schemas.openxmlformats.org/drawingml/2006/main">
            <a:off x="6057900" y="5114925"/>
            <a:ext cx="0" cy="142875"/>
          </a:xfrm>
          <a:prstGeom xmlns:a="http://schemas.openxmlformats.org/drawingml/2006/main" prst="line">
            <a:avLst/>
          </a:prstGeom>
          <a:noFill xmlns:a="http://schemas.openxmlformats.org/drawingml/2006/main"/>
          <a:ln xmlns:a="http://schemas.openxmlformats.org/drawingml/2006/main" w="28575">
            <a:solidFill>
              <a:srgbClr val="F2BB66"/>
            </a:solidFill>
          </a:ln>
        </p:spPr>
      </p:sp>
      <p:sp>
        <p:nvSpPr>
          <p:cNvPr id="18" name="text-234">
            <a:extLst xmlns:a="http://schemas.openxmlformats.org/drawingml/2006/main">
              <a:ext uri="{FF2B5EF4-FFF2-40B4-BE49-F238E27FC236}">
                <a16:creationId xmlns:a16="http://schemas.microsoft.com/office/drawing/2014/main" id="{E730CE74-729D-45AA-ADE7-DB3BB8508191}"/>
              </a:ext>
            </a:extLst>
          </p:cNvPr>
          <p:cNvSpPr>
            <a:spLocks xmlns:a="http://schemas.openxmlformats.org/drawingml/2006/main" noGrp="1"/>
          </p:cNvSpPr>
          <p:nvPr/>
        </p:nvSpPr>
        <p:spPr>
          <a:xfrm xmlns:a="http://schemas.openxmlformats.org/drawingml/2006/main">
            <a:off x="4695825" y="5305425"/>
            <a:ext cx="276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1800" b="0">
                <a:solidFill>
                  <a:srgbClr val="F2BB66"/>
                </a:solidFill>
                <a:latin typeface="Helvetica Neue"/>
                <a:ea typeface="Helvetica Neue"/>
                <a:cs typeface="Helvetica Neue"/>
              </a:defRPr>
            </a:pPr>
            <a:r>
              <a:rPr sz="1800" b="0">
                <a:solidFill>
                  <a:srgbClr val="F2BB66"/>
                </a:solidFill>
                <a:latin typeface="Helvetica Neue"/>
                <a:ea typeface="Helvetica Neue"/>
                <a:cs typeface="Helvetica Neue"/>
              </a:rPr>
              <a:t>Kufiri i besimit</a:t>
            </a:r>
          </a:p>
        </p:txBody>
      </p:sp>
      <p:sp>
        <p:nvSpPr>
          <p:cNvPr id="19" name="flow-235">
            <a:extLst xmlns:a="http://schemas.openxmlformats.org/drawingml/2006/main">
              <a:ext uri="{FF2B5EF4-FFF2-40B4-BE49-F238E27FC236}">
                <a16:creationId xmlns:a16="http://schemas.microsoft.com/office/drawing/2014/main" id="{0EB03BF2-8F5C-4EFC-AAB1-2A304550B60E}"/>
              </a:ext>
            </a:extLst>
          </p:cNvPr>
          <p:cNvSpPr>
            <a:spLocks xmlns:a="http://schemas.openxmlformats.org/drawingml/2006/main" noGrp="1"/>
          </p:cNvSpPr>
          <p:nvPr/>
        </p:nvSpPr>
        <p:spPr>
          <a:xfrm xmlns:a="http://schemas.openxmlformats.org/drawingml/2006/main">
            <a:off x="5172075" y="3819525"/>
            <a:ext cx="600075"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20" name="text-236">
            <a:extLst xmlns:a="http://schemas.openxmlformats.org/drawingml/2006/main">
              <a:ext uri="{FF2B5EF4-FFF2-40B4-BE49-F238E27FC236}">
                <a16:creationId xmlns:a16="http://schemas.microsoft.com/office/drawing/2014/main" id="{E715098E-ABA0-4808-8F36-6DE5291C4E67}"/>
              </a:ext>
            </a:extLst>
          </p:cNvPr>
          <p:cNvSpPr>
            <a:spLocks xmlns:a="http://schemas.openxmlformats.org/drawingml/2006/main" noGrp="1"/>
          </p:cNvSpPr>
          <p:nvPr/>
        </p:nvSpPr>
        <p:spPr>
          <a:xfrm xmlns:a="http://schemas.openxmlformats.org/drawingml/2006/main">
            <a:off x="6962775" y="2981325"/>
            <a:ext cx="44291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775" b="1">
                <a:solidFill>
                  <a:srgbClr val="F4F2EC"/>
                </a:solidFill>
                <a:latin typeface="Helvetica Neue"/>
                <a:ea typeface="Helvetica Neue"/>
                <a:cs typeface="Helvetica Neue"/>
              </a:defRPr>
            </a:pPr>
            <a:r>
              <a:rPr sz="2775" b="1">
                <a:solidFill>
                  <a:srgbClr val="F4F2EC"/>
                </a:solidFill>
                <a:latin typeface="Helvetica Neue"/>
                <a:ea typeface="Helvetica Neue"/>
                <a:cs typeface="Helvetica Neue"/>
              </a:rPr>
              <a:t>A është ky pronari?</a:t>
            </a:r>
          </a:p>
        </p:txBody>
      </p:sp>
      <p:sp>
        <p:nvSpPr>
          <p:cNvPr id="21" name="text-237">
            <a:extLst xmlns:a="http://schemas.openxmlformats.org/drawingml/2006/main">
              <a:ext uri="{FF2B5EF4-FFF2-40B4-BE49-F238E27FC236}">
                <a16:creationId xmlns:a16="http://schemas.microsoft.com/office/drawing/2014/main" id="{827BF539-7A6D-4600-B6BB-5F3D0BEF259E}"/>
              </a:ext>
            </a:extLst>
          </p:cNvPr>
          <p:cNvSpPr>
            <a:spLocks xmlns:a="http://schemas.openxmlformats.org/drawingml/2006/main" noGrp="1"/>
          </p:cNvSpPr>
          <p:nvPr/>
        </p:nvSpPr>
        <p:spPr>
          <a:xfrm xmlns:a="http://schemas.openxmlformats.org/drawingml/2006/main">
            <a:off x="6972300" y="3971925"/>
            <a:ext cx="20097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225" b="1">
                <a:solidFill>
                  <a:srgbClr val="91DEBB"/>
                </a:solidFill>
                <a:latin typeface="Helvetica Neue"/>
                <a:ea typeface="Helvetica Neue"/>
                <a:cs typeface="Helvetica Neue"/>
              </a:defRPr>
            </a:pPr>
            <a:r>
              <a:rPr sz="3225" b="1">
                <a:solidFill>
                  <a:srgbClr val="91DEBB"/>
                </a:solidFill>
                <a:latin typeface="Helvetica Neue"/>
                <a:ea typeface="Helvetica Neue"/>
                <a:cs typeface="Helvetica Neue"/>
              </a:rPr>
              <a:t>Lejo</a:t>
            </a:r>
          </a:p>
        </p:txBody>
      </p:sp>
      <p:sp>
        <p:nvSpPr>
          <p:cNvPr id="22" name="text-238">
            <a:extLst xmlns:a="http://schemas.openxmlformats.org/drawingml/2006/main">
              <a:ext uri="{FF2B5EF4-FFF2-40B4-BE49-F238E27FC236}">
                <a16:creationId xmlns:a16="http://schemas.microsoft.com/office/drawing/2014/main" id="{3D9462B1-7305-4CD0-9FBC-A8FBD300AACF}"/>
              </a:ext>
            </a:extLst>
          </p:cNvPr>
          <p:cNvSpPr>
            <a:spLocks xmlns:a="http://schemas.openxmlformats.org/drawingml/2006/main" noGrp="1"/>
          </p:cNvSpPr>
          <p:nvPr/>
        </p:nvSpPr>
        <p:spPr>
          <a:xfrm xmlns:a="http://schemas.openxmlformats.org/drawingml/2006/main">
            <a:off x="9229725" y="3971925"/>
            <a:ext cx="2171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225" b="1">
                <a:solidFill>
                  <a:srgbClr val="F09D91"/>
                </a:solidFill>
                <a:latin typeface="Helvetica Neue"/>
                <a:ea typeface="Helvetica Neue"/>
                <a:cs typeface="Helvetica Neue"/>
              </a:defRPr>
            </a:pPr>
            <a:r>
              <a:rPr sz="3225" b="1">
                <a:solidFill>
                  <a:srgbClr val="F09D91"/>
                </a:solidFill>
                <a:latin typeface="Helvetica Neue"/>
                <a:ea typeface="Helvetica Neue"/>
                <a:cs typeface="Helvetica Neue"/>
              </a:rPr>
              <a:t>Refuzo</a:t>
            </a:r>
          </a:p>
        </p:txBody>
      </p:sp>
      <p:sp>
        <p:nvSpPr>
          <p:cNvPr id="23" name="text-239">
            <a:extLst xmlns:a="http://schemas.openxmlformats.org/drawingml/2006/main">
              <a:ext uri="{FF2B5EF4-FFF2-40B4-BE49-F238E27FC236}">
                <a16:creationId xmlns:a16="http://schemas.microsoft.com/office/drawing/2014/main" id="{DAFBEE67-3A48-41EE-8279-01BC667C18E7}"/>
              </a:ext>
            </a:extLst>
          </p:cNvPr>
          <p:cNvSpPr>
            <a:spLocks xmlns:a="http://schemas.openxmlformats.org/drawingml/2006/main" noGrp="1"/>
          </p:cNvSpPr>
          <p:nvPr/>
        </p:nvSpPr>
        <p:spPr>
          <a:xfrm xmlns:a="http://schemas.openxmlformats.org/drawingml/2006/main">
            <a:off x="6962775" y="4733925"/>
            <a:ext cx="45148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75" b="0">
                <a:solidFill>
                  <a:srgbClr val="AEBFCB"/>
                </a:solidFill>
                <a:latin typeface="Helvetica Neue"/>
                <a:ea typeface="Helvetica Neue"/>
                <a:cs typeface="Helvetica Neue"/>
              </a:defRPr>
            </a:pPr>
            <a:r>
              <a:rPr sz="2175" b="0">
                <a:solidFill>
                  <a:srgbClr val="AEBFCB"/>
                </a:solidFill>
                <a:latin typeface="Helvetica Neue"/>
                <a:ea typeface="Helvetica Neue"/>
                <a:cs typeface="Helvetica Neue"/>
              </a:rPr>
              <a:t>RLS + privilegjet e qasjes</a:t>
            </a:r>
          </a:p>
        </p:txBody>
      </p:sp>
      <p:sp>
        <p:nvSpPr>
          <p:cNvPr id="24" name="text-240">
            <a:extLst xmlns:a="http://schemas.openxmlformats.org/drawingml/2006/main">
              <a:ext uri="{FF2B5EF4-FFF2-40B4-BE49-F238E27FC236}">
                <a16:creationId xmlns:a16="http://schemas.microsoft.com/office/drawing/2014/main" id="{DD9D2255-B35C-47AA-A271-791CF6F100A0}"/>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Fshehja e butonit nuk e ndalon kërkesën. Ku refuzohet ajo?</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5d14c913be434580"/>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605131505"/>
      </p:ext>
    </p:extLst>
  </p:cSld>
</p:sld>
</file>

<file path=ppt/slides/slide22.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26" name="text-241">
            <a:extLst xmlns:a="http://schemas.openxmlformats.org/drawingml/2006/main">
              <a:ext uri="{FF2B5EF4-FFF2-40B4-BE49-F238E27FC236}">
                <a16:creationId xmlns:a16="http://schemas.microsoft.com/office/drawing/2014/main" id="{99D61FBB-69AF-4A56-B388-28053028BC46}"/>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ARKITEKTURA MOBILE</a:t>
            </a:r>
          </a:p>
        </p:txBody>
      </p:sp>
      <p:sp>
        <p:nvSpPr>
          <p:cNvPr id="2" name="text-242">
            <a:extLst xmlns:a="http://schemas.openxmlformats.org/drawingml/2006/main">
              <a:ext uri="{FF2B5EF4-FFF2-40B4-BE49-F238E27FC236}">
                <a16:creationId xmlns:a16="http://schemas.microsoft.com/office/drawing/2014/main" id="{ABD2F826-6B38-4D72-9FBD-12A7B1F6D5EF}"/>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22</a:t>
            </a:r>
          </a:p>
        </p:txBody>
      </p:sp>
      <p:sp>
        <p:nvSpPr>
          <p:cNvPr id="3" name="text-243">
            <a:extLst xmlns:a="http://schemas.openxmlformats.org/drawingml/2006/main">
              <a:ext uri="{FF2B5EF4-FFF2-40B4-BE49-F238E27FC236}">
                <a16:creationId xmlns:a16="http://schemas.microsoft.com/office/drawing/2014/main" id="{FDF6D0C5-54AF-4DAE-95F8-898722EE407B}"/>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Rrjeti nuk është premtim</a:t>
            </a:r>
          </a:p>
        </p:txBody>
      </p:sp>
      <p:sp>
        <p:nvSpPr>
          <p:cNvPr id="4" name="surface-244">
            <a:extLst xmlns:a="http://schemas.openxmlformats.org/drawingml/2006/main">
              <a:ext uri="{FF2B5EF4-FFF2-40B4-BE49-F238E27FC236}">
                <a16:creationId xmlns:a16="http://schemas.microsoft.com/office/drawing/2014/main" id="{36B1558B-BCC8-4FF9-A6CE-FBB0FB466B54}"/>
              </a:ext>
            </a:extLst>
          </p:cNvPr>
          <p:cNvSpPr>
            <a:spLocks xmlns:a="http://schemas.openxmlformats.org/drawingml/2006/main" noGrp="1"/>
          </p:cNvSpPr>
          <p:nvPr/>
        </p:nvSpPr>
        <p:spPr>
          <a:xfrm xmlns:a="http://schemas.openxmlformats.org/drawingml/2006/main">
            <a:off x="790575" y="1771650"/>
            <a:ext cx="2809875" cy="3943350"/>
          </a:xfrm>
          <a:prstGeom xmlns:a="http://schemas.openxmlformats.org/drawingml/2006/main" prst="roundRect">
            <a:avLst>
              <a:gd name="adj" fmla="val 9492"/>
            </a:avLst>
          </a:prstGeom>
          <a:solidFill xmlns:a="http://schemas.openxmlformats.org/drawingml/2006/main">
            <a:srgbClr val="0A1117"/>
          </a:solidFill>
          <a:ln xmlns:a="http://schemas.openxmlformats.org/drawingml/2006/main" w="19050">
            <a:solidFill>
              <a:srgbClr val="3E5769"/>
            </a:solidFill>
          </a:ln>
        </p:spPr>
      </p:sp>
      <p:sp>
        <p:nvSpPr>
          <p:cNvPr id="5" name="surface-245">
            <a:extLst xmlns:a="http://schemas.openxmlformats.org/drawingml/2006/main">
              <a:ext uri="{FF2B5EF4-FFF2-40B4-BE49-F238E27FC236}">
                <a16:creationId xmlns:a16="http://schemas.microsoft.com/office/drawing/2014/main" id="{372CFD31-DEAD-435C-A8CC-1F880ECEC395}"/>
              </a:ext>
            </a:extLst>
          </p:cNvPr>
          <p:cNvSpPr>
            <a:spLocks xmlns:a="http://schemas.openxmlformats.org/drawingml/2006/main" noGrp="1"/>
          </p:cNvSpPr>
          <p:nvPr/>
        </p:nvSpPr>
        <p:spPr>
          <a:xfrm xmlns:a="http://schemas.openxmlformats.org/drawingml/2006/main">
            <a:off x="885825" y="1866900"/>
            <a:ext cx="2619375" cy="3752850"/>
          </a:xfrm>
          <a:prstGeom xmlns:a="http://schemas.openxmlformats.org/drawingml/2006/main" prst="roundRect">
            <a:avLst>
              <a:gd name="adj" fmla="val 8000"/>
            </a:avLst>
          </a:prstGeom>
          <a:solidFill xmlns:a="http://schemas.openxmlformats.org/drawingml/2006/main">
            <a:srgbClr val="192732"/>
          </a:solidFill>
          <a:ln xmlns:a="http://schemas.openxmlformats.org/drawingml/2006/main" w="0">
            <a:noFill/>
          </a:ln>
        </p:spPr>
      </p:sp>
      <p:sp>
        <p:nvSpPr>
          <p:cNvPr id="6" name="surface-246">
            <a:extLst xmlns:a="http://schemas.openxmlformats.org/drawingml/2006/main">
              <a:ext uri="{FF2B5EF4-FFF2-40B4-BE49-F238E27FC236}">
                <a16:creationId xmlns:a16="http://schemas.microsoft.com/office/drawing/2014/main" id="{F407C183-F4AD-4D26-9FCD-F90683962188}"/>
              </a:ext>
            </a:extLst>
          </p:cNvPr>
          <p:cNvSpPr>
            <a:spLocks xmlns:a="http://schemas.openxmlformats.org/drawingml/2006/main" noGrp="1"/>
          </p:cNvSpPr>
          <p:nvPr/>
        </p:nvSpPr>
        <p:spPr>
          <a:xfrm xmlns:a="http://schemas.openxmlformats.org/drawingml/2006/main">
            <a:off x="1774031" y="1933575"/>
            <a:ext cx="842963" cy="57150"/>
          </a:xfrm>
          <a:prstGeom xmlns:a="http://schemas.openxmlformats.org/drawingml/2006/main" prst="roundRect">
            <a:avLst>
              <a:gd name="adj" fmla="val 50000"/>
            </a:avLst>
          </a:prstGeom>
          <a:solidFill xmlns:a="http://schemas.openxmlformats.org/drawingml/2006/main">
            <a:srgbClr val="3E5769"/>
          </a:solidFill>
          <a:ln xmlns:a="http://schemas.openxmlformats.org/drawingml/2006/main" w="0">
            <a:noFill/>
          </a:ln>
        </p:spPr>
      </p:sp>
      <p:sp>
        <p:nvSpPr>
          <p:cNvPr id="7" name="text-247">
            <a:extLst xmlns:a="http://schemas.openxmlformats.org/drawingml/2006/main">
              <a:ext uri="{FF2B5EF4-FFF2-40B4-BE49-F238E27FC236}">
                <a16:creationId xmlns:a16="http://schemas.microsoft.com/office/drawing/2014/main" id="{592457F2-05BB-4575-85FF-87AE16022AED}"/>
              </a:ext>
            </a:extLst>
          </p:cNvPr>
          <p:cNvSpPr>
            <a:spLocks xmlns:a="http://schemas.openxmlformats.org/drawingml/2006/main" noGrp="1"/>
          </p:cNvSpPr>
          <p:nvPr/>
        </p:nvSpPr>
        <p:spPr>
          <a:xfrm xmlns:a="http://schemas.openxmlformats.org/drawingml/2006/main">
            <a:off x="1019175" y="2171700"/>
            <a:ext cx="23526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1">
                <a:solidFill>
                  <a:srgbClr val="63CDF2"/>
                </a:solidFill>
                <a:latin typeface="Helvetica Neue"/>
                <a:ea typeface="Helvetica Neue"/>
                <a:cs typeface="Helvetica Neue"/>
              </a:defRPr>
            </a:pPr>
            <a:r>
              <a:rPr sz="2025" b="1">
                <a:solidFill>
                  <a:srgbClr val="63CDF2"/>
                </a:solidFill>
                <a:latin typeface="Helvetica Neue"/>
                <a:ea typeface="Helvetica Neue"/>
                <a:cs typeface="Helvetica Neue"/>
              </a:rPr>
              <a:t>AAB RideShare</a:t>
            </a:r>
          </a:p>
        </p:txBody>
      </p:sp>
      <p:sp>
        <p:nvSpPr>
          <p:cNvPr id="8" name="text-248">
            <a:extLst xmlns:a="http://schemas.openxmlformats.org/drawingml/2006/main">
              <a:ext uri="{FF2B5EF4-FFF2-40B4-BE49-F238E27FC236}">
                <a16:creationId xmlns:a16="http://schemas.microsoft.com/office/drawing/2014/main" id="{EF6B1B98-A7E6-4E64-B86C-7837B888D29B}"/>
              </a:ext>
            </a:extLst>
          </p:cNvPr>
          <p:cNvSpPr>
            <a:spLocks xmlns:a="http://schemas.openxmlformats.org/drawingml/2006/main" noGrp="1"/>
          </p:cNvSpPr>
          <p:nvPr/>
        </p:nvSpPr>
        <p:spPr>
          <a:xfrm xmlns:a="http://schemas.openxmlformats.org/drawingml/2006/main">
            <a:off x="1019175" y="2714625"/>
            <a:ext cx="23526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250" b="1">
                <a:solidFill>
                  <a:srgbClr val="F2BB66"/>
                </a:solidFill>
                <a:latin typeface="Helvetica Neue"/>
                <a:ea typeface="Helvetica Neue"/>
                <a:cs typeface="Helvetica Neue"/>
              </a:defRPr>
            </a:pPr>
            <a:r>
              <a:rPr sz="2250" b="1">
                <a:solidFill>
                  <a:srgbClr val="F2BB66"/>
                </a:solidFill>
                <a:latin typeface="Helvetica Neue"/>
                <a:ea typeface="Helvetica Neue"/>
                <a:cs typeface="Helvetica Neue"/>
              </a:rPr>
              <a:t>PA LIDHJE</a:t>
            </a:r>
          </a:p>
        </p:txBody>
      </p:sp>
      <p:sp>
        <p:nvSpPr>
          <p:cNvPr id="9" name="text-249">
            <a:extLst xmlns:a="http://schemas.openxmlformats.org/drawingml/2006/main">
              <a:ext uri="{FF2B5EF4-FFF2-40B4-BE49-F238E27FC236}">
                <a16:creationId xmlns:a16="http://schemas.microsoft.com/office/drawing/2014/main" id="{7CB4B96C-858E-44AE-AE32-7D94A56042D3}"/>
              </a:ext>
            </a:extLst>
          </p:cNvPr>
          <p:cNvSpPr>
            <a:spLocks xmlns:a="http://schemas.openxmlformats.org/drawingml/2006/main" noGrp="1"/>
          </p:cNvSpPr>
          <p:nvPr/>
        </p:nvSpPr>
        <p:spPr>
          <a:xfrm xmlns:a="http://schemas.openxmlformats.org/drawingml/2006/main">
            <a:off x="1019175" y="3371850"/>
            <a:ext cx="23526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0">
                <a:solidFill>
                  <a:srgbClr val="AEBFCB"/>
                </a:solidFill>
                <a:latin typeface="Helvetica Neue"/>
                <a:ea typeface="Helvetica Neue"/>
                <a:cs typeface="Helvetica Neue"/>
              </a:defRPr>
            </a:pPr>
            <a:r>
              <a:rPr sz="1875" b="0">
                <a:solidFill>
                  <a:srgbClr val="AEBFCB"/>
                </a:solidFill>
                <a:latin typeface="Helvetica Neue"/>
                <a:ea typeface="Helvetica Neue"/>
                <a:cs typeface="Helvetica Neue"/>
              </a:rPr>
              <a:t>Pamje e ruajtur</a:t>
            </a:r>
          </a:p>
          <a:p xmlns:a="http://schemas.openxmlformats.org/drawingml/2006/main">
            <a:pPr algn="l">
              <a:buNone/>
              <a:defRPr sz="1875" b="0">
                <a:solidFill>
                  <a:srgbClr val="AEBFCB"/>
                </a:solidFill>
                <a:latin typeface="Helvetica Neue"/>
                <a:ea typeface="Helvetica Neue"/>
                <a:cs typeface="Helvetica Neue"/>
              </a:defRPr>
            </a:pPr>
            <a:r>
              <a:rPr sz="1875" b="0">
                <a:solidFill>
                  <a:srgbClr val="AEBFCB"/>
                </a:solidFill>
                <a:latin typeface="Helvetica Neue"/>
                <a:ea typeface="Helvetica Neue"/>
                <a:cs typeface="Helvetica Neue"/>
              </a:rPr>
              <a:t>Përditësuar 07:10</a:t>
            </a:r>
          </a:p>
        </p:txBody>
      </p:sp>
      <p:sp>
        <p:nvSpPr>
          <p:cNvPr id="10" name="line-250">
            <a:extLst xmlns:a="http://schemas.openxmlformats.org/drawingml/2006/main">
              <a:ext uri="{FF2B5EF4-FFF2-40B4-BE49-F238E27FC236}">
                <a16:creationId xmlns:a16="http://schemas.microsoft.com/office/drawing/2014/main" id="{B6306EBF-0C8D-49A2-AB92-5733496B7B75}"/>
              </a:ext>
            </a:extLst>
          </p:cNvPr>
          <p:cNvSpPr>
            <a:spLocks xmlns:a="http://schemas.openxmlformats.org/drawingml/2006/main" noGrp="1"/>
          </p:cNvSpPr>
          <p:nvPr/>
        </p:nvSpPr>
        <p:spPr>
          <a:xfrm xmlns:a="http://schemas.openxmlformats.org/drawingml/2006/main">
            <a:off x="1019175" y="4286250"/>
            <a:ext cx="2352675" cy="0"/>
          </a:xfrm>
          <a:prstGeom xmlns:a="http://schemas.openxmlformats.org/drawingml/2006/main" prst="line">
            <a:avLst/>
          </a:prstGeom>
          <a:noFill xmlns:a="http://schemas.openxmlformats.org/drawingml/2006/main"/>
          <a:ln xmlns:a="http://schemas.openxmlformats.org/drawingml/2006/main" w="19050">
            <a:solidFill>
              <a:srgbClr val="3E5769"/>
            </a:solidFill>
          </a:ln>
        </p:spPr>
      </p:sp>
      <p:sp>
        <p:nvSpPr>
          <p:cNvPr id="11" name="text-251">
            <a:extLst xmlns:a="http://schemas.openxmlformats.org/drawingml/2006/main">
              <a:ext uri="{FF2B5EF4-FFF2-40B4-BE49-F238E27FC236}">
                <a16:creationId xmlns:a16="http://schemas.microsoft.com/office/drawing/2014/main" id="{9CD8396F-8203-48EB-83BD-6A194123ED58}"/>
              </a:ext>
            </a:extLst>
          </p:cNvPr>
          <p:cNvSpPr>
            <a:spLocks xmlns:a="http://schemas.openxmlformats.org/drawingml/2006/main" noGrp="1"/>
          </p:cNvSpPr>
          <p:nvPr/>
        </p:nvSpPr>
        <p:spPr>
          <a:xfrm xmlns:a="http://schemas.openxmlformats.org/drawingml/2006/main">
            <a:off x="1019175" y="4505325"/>
            <a:ext cx="23526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00" b="0">
                <a:solidFill>
                  <a:srgbClr val="F4F2EC"/>
                </a:solidFill>
                <a:latin typeface="Helvetica Neue"/>
                <a:ea typeface="Helvetica Neue"/>
                <a:cs typeface="Helvetica Neue"/>
              </a:defRPr>
            </a:pPr>
            <a:r>
              <a:rPr sz="1800" b="0">
                <a:solidFill>
                  <a:srgbClr val="F4F2EC"/>
                </a:solidFill>
                <a:latin typeface="Helvetica Neue"/>
                <a:ea typeface="Helvetica Neue"/>
                <a:cs typeface="Helvetica Neue"/>
              </a:rPr>
              <a:t>Konfirmimi kërkon</a:t>
            </a:r>
          </a:p>
          <a:p xmlns:a="http://schemas.openxmlformats.org/drawingml/2006/main">
            <a:pPr algn="l">
              <a:buNone/>
              <a:defRPr sz="1800" b="0">
                <a:solidFill>
                  <a:srgbClr val="F4F2EC"/>
                </a:solidFill>
                <a:latin typeface="Helvetica Neue"/>
                <a:ea typeface="Helvetica Neue"/>
                <a:cs typeface="Helvetica Neue"/>
              </a:defRPr>
            </a:pPr>
            <a:r>
              <a:rPr sz="1800" b="0">
                <a:solidFill>
                  <a:srgbClr val="F4F2EC"/>
                </a:solidFill>
                <a:latin typeface="Helvetica Neue"/>
                <a:ea typeface="Helvetica Neue"/>
                <a:cs typeface="Helvetica Neue"/>
              </a:rPr>
              <a:t>lidhje me serverin.</a:t>
            </a:r>
          </a:p>
        </p:txBody>
      </p:sp>
      <p:sp>
        <p:nvSpPr>
          <p:cNvPr id="12" name="surface-252">
            <a:extLst xmlns:a="http://schemas.openxmlformats.org/drawingml/2006/main">
              <a:ext uri="{FF2B5EF4-FFF2-40B4-BE49-F238E27FC236}">
                <a16:creationId xmlns:a16="http://schemas.microsoft.com/office/drawing/2014/main" id="{E4F7990A-D544-41AD-8A75-6C2341C4224A}"/>
              </a:ext>
            </a:extLst>
          </p:cNvPr>
          <p:cNvSpPr>
            <a:spLocks xmlns:a="http://schemas.openxmlformats.org/drawingml/2006/main" noGrp="1"/>
          </p:cNvSpPr>
          <p:nvPr/>
        </p:nvSpPr>
        <p:spPr>
          <a:xfrm xmlns:a="http://schemas.openxmlformats.org/drawingml/2006/main">
            <a:off x="4667250" y="2771775"/>
            <a:ext cx="2781300" cy="838200"/>
          </a:xfrm>
          <a:prstGeom xmlns:a="http://schemas.openxmlformats.org/drawingml/2006/main" prst="roundRect">
            <a:avLst>
              <a:gd name="adj" fmla="val 11364"/>
            </a:avLst>
          </a:prstGeom>
          <a:solidFill xmlns:a="http://schemas.openxmlformats.org/drawingml/2006/main">
            <a:srgbClr val="192732"/>
          </a:solidFill>
          <a:ln xmlns:a="http://schemas.openxmlformats.org/drawingml/2006/main" w="19050">
            <a:solidFill>
              <a:srgbClr val="63CDF2"/>
            </a:solidFill>
          </a:ln>
        </p:spPr>
      </p:sp>
      <p:sp>
        <p:nvSpPr>
          <p:cNvPr id="13" name="text-253">
            <a:extLst xmlns:a="http://schemas.openxmlformats.org/drawingml/2006/main">
              <a:ext uri="{FF2B5EF4-FFF2-40B4-BE49-F238E27FC236}">
                <a16:creationId xmlns:a16="http://schemas.microsoft.com/office/drawing/2014/main" id="{FA1F4AD3-FE52-4E00-83FA-1FA98C9724B2}"/>
              </a:ext>
            </a:extLst>
          </p:cNvPr>
          <p:cNvSpPr>
            <a:spLocks xmlns:a="http://schemas.openxmlformats.org/drawingml/2006/main" noGrp="1"/>
          </p:cNvSpPr>
          <p:nvPr/>
        </p:nvSpPr>
        <p:spPr>
          <a:xfrm xmlns:a="http://schemas.openxmlformats.org/drawingml/2006/main">
            <a:off x="4781550" y="2847975"/>
            <a:ext cx="2552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63CDF2"/>
                </a:solidFill>
                <a:latin typeface="Helvetica Neue"/>
                <a:ea typeface="Helvetica Neue"/>
                <a:cs typeface="Helvetica Neue"/>
              </a:defRPr>
            </a:pPr>
            <a:r>
              <a:rPr sz="2250" b="1">
                <a:solidFill>
                  <a:srgbClr val="63CDF2"/>
                </a:solidFill>
                <a:latin typeface="Helvetica Neue"/>
                <a:ea typeface="Helvetica Neue"/>
                <a:cs typeface="Helvetica Neue"/>
              </a:rPr>
              <a:t>Service Worker</a:t>
            </a:r>
          </a:p>
        </p:txBody>
      </p:sp>
      <p:sp>
        <p:nvSpPr>
          <p:cNvPr id="14" name="flow-254">
            <a:extLst xmlns:a="http://schemas.openxmlformats.org/drawingml/2006/main">
              <a:ext uri="{FF2B5EF4-FFF2-40B4-BE49-F238E27FC236}">
                <a16:creationId xmlns:a16="http://schemas.microsoft.com/office/drawing/2014/main" id="{BC59187B-5E60-42E8-A62D-A7504E16427A}"/>
              </a:ext>
            </a:extLst>
          </p:cNvPr>
          <p:cNvSpPr>
            <a:spLocks xmlns:a="http://schemas.openxmlformats.org/drawingml/2006/main" noGrp="1"/>
          </p:cNvSpPr>
          <p:nvPr/>
        </p:nvSpPr>
        <p:spPr>
          <a:xfrm xmlns:a="http://schemas.openxmlformats.org/drawingml/2006/main">
            <a:off x="3829050" y="3105150"/>
            <a:ext cx="542925"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5" name="surface-255">
            <a:extLst xmlns:a="http://schemas.openxmlformats.org/drawingml/2006/main">
              <a:ext uri="{FF2B5EF4-FFF2-40B4-BE49-F238E27FC236}">
                <a16:creationId xmlns:a16="http://schemas.microsoft.com/office/drawing/2014/main" id="{8B6F8BFC-282E-4100-9AC8-87925B5C7F97}"/>
              </a:ext>
            </a:extLst>
          </p:cNvPr>
          <p:cNvSpPr>
            <a:spLocks xmlns:a="http://schemas.openxmlformats.org/drawingml/2006/main" noGrp="1"/>
          </p:cNvSpPr>
          <p:nvPr/>
        </p:nvSpPr>
        <p:spPr>
          <a:xfrm xmlns:a="http://schemas.openxmlformats.org/drawingml/2006/main">
            <a:off x="8534400" y="1971675"/>
            <a:ext cx="2771775" cy="800100"/>
          </a:xfrm>
          <a:prstGeom xmlns:a="http://schemas.openxmlformats.org/drawingml/2006/main" prst="roundRect">
            <a:avLst>
              <a:gd name="adj" fmla="val 11905"/>
            </a:avLst>
          </a:prstGeom>
          <a:solidFill xmlns:a="http://schemas.openxmlformats.org/drawingml/2006/main">
            <a:srgbClr val="192732"/>
          </a:solidFill>
          <a:ln xmlns:a="http://schemas.openxmlformats.org/drawingml/2006/main" w="19050">
            <a:solidFill>
              <a:srgbClr val="AEBFCB"/>
            </a:solidFill>
          </a:ln>
        </p:spPr>
      </p:sp>
      <p:sp>
        <p:nvSpPr>
          <p:cNvPr id="16" name="text-256">
            <a:extLst xmlns:a="http://schemas.openxmlformats.org/drawingml/2006/main">
              <a:ext uri="{FF2B5EF4-FFF2-40B4-BE49-F238E27FC236}">
                <a16:creationId xmlns:a16="http://schemas.microsoft.com/office/drawing/2014/main" id="{393F3345-687D-4FB1-AB68-64D32E99E0ED}"/>
              </a:ext>
            </a:extLst>
          </p:cNvPr>
          <p:cNvSpPr>
            <a:spLocks xmlns:a="http://schemas.openxmlformats.org/drawingml/2006/main" noGrp="1"/>
          </p:cNvSpPr>
          <p:nvPr/>
        </p:nvSpPr>
        <p:spPr>
          <a:xfrm xmlns:a="http://schemas.openxmlformats.org/drawingml/2006/main">
            <a:off x="8648700" y="2047875"/>
            <a:ext cx="25431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AEBFCB"/>
                </a:solidFill>
                <a:latin typeface="Helvetica Neue"/>
                <a:ea typeface="Helvetica Neue"/>
                <a:cs typeface="Helvetica Neue"/>
              </a:defRPr>
            </a:pPr>
            <a:r>
              <a:rPr sz="2250" b="1">
                <a:solidFill>
                  <a:srgbClr val="AEBFCB"/>
                </a:solidFill>
                <a:latin typeface="Helvetica Neue"/>
                <a:ea typeface="Helvetica Neue"/>
                <a:cs typeface="Helvetica Neue"/>
              </a:rPr>
              <a:t>Rrjeti</a:t>
            </a:r>
          </a:p>
        </p:txBody>
      </p:sp>
      <p:sp>
        <p:nvSpPr>
          <p:cNvPr id="17" name="surface-257">
            <a:extLst xmlns:a="http://schemas.openxmlformats.org/drawingml/2006/main">
              <a:ext uri="{FF2B5EF4-FFF2-40B4-BE49-F238E27FC236}">
                <a16:creationId xmlns:a16="http://schemas.microsoft.com/office/drawing/2014/main" id="{85D849B0-C36C-4366-9739-0B8F66DAF7FB}"/>
              </a:ext>
            </a:extLst>
          </p:cNvPr>
          <p:cNvSpPr>
            <a:spLocks xmlns:a="http://schemas.openxmlformats.org/drawingml/2006/main" noGrp="1"/>
          </p:cNvSpPr>
          <p:nvPr/>
        </p:nvSpPr>
        <p:spPr>
          <a:xfrm xmlns:a="http://schemas.openxmlformats.org/drawingml/2006/main">
            <a:off x="8534400" y="3876675"/>
            <a:ext cx="2771775" cy="800100"/>
          </a:xfrm>
          <a:prstGeom xmlns:a="http://schemas.openxmlformats.org/drawingml/2006/main" prst="roundRect">
            <a:avLst>
              <a:gd name="adj" fmla="val 11905"/>
            </a:avLst>
          </a:prstGeom>
          <a:solidFill xmlns:a="http://schemas.openxmlformats.org/drawingml/2006/main">
            <a:srgbClr val="192732"/>
          </a:solidFill>
          <a:ln xmlns:a="http://schemas.openxmlformats.org/drawingml/2006/main" w="19050">
            <a:solidFill>
              <a:srgbClr val="F2BB66"/>
            </a:solidFill>
          </a:ln>
        </p:spPr>
      </p:sp>
      <p:sp>
        <p:nvSpPr>
          <p:cNvPr id="18" name="text-258">
            <a:extLst xmlns:a="http://schemas.openxmlformats.org/drawingml/2006/main">
              <a:ext uri="{FF2B5EF4-FFF2-40B4-BE49-F238E27FC236}">
                <a16:creationId xmlns:a16="http://schemas.microsoft.com/office/drawing/2014/main" id="{4CBD1AC5-9FAF-4516-8910-F79E1ECE5613}"/>
              </a:ext>
            </a:extLst>
          </p:cNvPr>
          <p:cNvSpPr>
            <a:spLocks xmlns:a="http://schemas.openxmlformats.org/drawingml/2006/main" noGrp="1"/>
          </p:cNvSpPr>
          <p:nvPr/>
        </p:nvSpPr>
        <p:spPr>
          <a:xfrm xmlns:a="http://schemas.openxmlformats.org/drawingml/2006/main">
            <a:off x="8648700" y="3952875"/>
            <a:ext cx="25431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F2BB66"/>
                </a:solidFill>
                <a:latin typeface="Helvetica Neue"/>
                <a:ea typeface="Helvetica Neue"/>
                <a:cs typeface="Helvetica Neue"/>
              </a:defRPr>
            </a:pPr>
            <a:r>
              <a:rPr sz="2250" b="1">
                <a:solidFill>
                  <a:srgbClr val="F2BB66"/>
                </a:solidFill>
                <a:latin typeface="Helvetica Neue"/>
                <a:ea typeface="Helvetica Neue"/>
                <a:cs typeface="Helvetica Neue"/>
              </a:rPr>
              <a:t>Cache Storage</a:t>
            </a:r>
          </a:p>
        </p:txBody>
      </p:sp>
      <p:sp>
        <p:nvSpPr>
          <p:cNvPr id="19" name="line-259">
            <a:extLst xmlns:a="http://schemas.openxmlformats.org/drawingml/2006/main">
              <a:ext uri="{FF2B5EF4-FFF2-40B4-BE49-F238E27FC236}">
                <a16:creationId xmlns:a16="http://schemas.microsoft.com/office/drawing/2014/main" id="{54B68B5C-5B2F-4A1D-AEDF-F21010B4FEEC}"/>
              </a:ext>
            </a:extLst>
          </p:cNvPr>
          <p:cNvSpPr>
            <a:spLocks xmlns:a="http://schemas.openxmlformats.org/drawingml/2006/main" noGrp="1"/>
          </p:cNvSpPr>
          <p:nvPr/>
        </p:nvSpPr>
        <p:spPr>
          <a:xfrm xmlns:a="http://schemas.openxmlformats.org/drawingml/2006/main">
            <a:off x="7800975" y="2371725"/>
            <a:ext cx="0" cy="1905000"/>
          </a:xfrm>
          <a:prstGeom xmlns:a="http://schemas.openxmlformats.org/drawingml/2006/main" prst="line">
            <a:avLst/>
          </a:prstGeom>
          <a:noFill xmlns:a="http://schemas.openxmlformats.org/drawingml/2006/main"/>
          <a:ln xmlns:a="http://schemas.openxmlformats.org/drawingml/2006/main" w="28575">
            <a:solidFill>
              <a:srgbClr val="3E5769"/>
            </a:solidFill>
          </a:ln>
        </p:spPr>
      </p:sp>
      <p:sp>
        <p:nvSpPr>
          <p:cNvPr id="20" name="line-260">
            <a:extLst xmlns:a="http://schemas.openxmlformats.org/drawingml/2006/main">
              <a:ext uri="{FF2B5EF4-FFF2-40B4-BE49-F238E27FC236}">
                <a16:creationId xmlns:a16="http://schemas.microsoft.com/office/drawing/2014/main" id="{0A6308A3-A504-4E1F-BD14-3C13A0AAA040}"/>
              </a:ext>
            </a:extLst>
          </p:cNvPr>
          <p:cNvSpPr>
            <a:spLocks xmlns:a="http://schemas.openxmlformats.org/drawingml/2006/main" noGrp="1"/>
          </p:cNvSpPr>
          <p:nvPr/>
        </p:nvSpPr>
        <p:spPr>
          <a:xfrm xmlns:a="http://schemas.openxmlformats.org/drawingml/2006/main">
            <a:off x="7448550" y="3190875"/>
            <a:ext cx="352425" cy="0"/>
          </a:xfrm>
          <a:prstGeom xmlns:a="http://schemas.openxmlformats.org/drawingml/2006/main" prst="line">
            <a:avLst/>
          </a:prstGeom>
          <a:noFill xmlns:a="http://schemas.openxmlformats.org/drawingml/2006/main"/>
          <a:ln xmlns:a="http://schemas.openxmlformats.org/drawingml/2006/main" w="28575">
            <a:solidFill>
              <a:srgbClr val="3E5769"/>
            </a:solidFill>
          </a:ln>
        </p:spPr>
      </p:sp>
      <p:sp>
        <p:nvSpPr>
          <p:cNvPr id="21" name="line-261">
            <a:extLst xmlns:a="http://schemas.openxmlformats.org/drawingml/2006/main">
              <a:ext uri="{FF2B5EF4-FFF2-40B4-BE49-F238E27FC236}">
                <a16:creationId xmlns:a16="http://schemas.microsoft.com/office/drawing/2014/main" id="{779BE45F-4C71-4AFB-B86C-12A1F06D6432}"/>
              </a:ext>
            </a:extLst>
          </p:cNvPr>
          <p:cNvSpPr>
            <a:spLocks xmlns:a="http://schemas.openxmlformats.org/drawingml/2006/main" noGrp="1"/>
          </p:cNvSpPr>
          <p:nvPr/>
        </p:nvSpPr>
        <p:spPr>
          <a:xfrm xmlns:a="http://schemas.openxmlformats.org/drawingml/2006/main">
            <a:off x="7800975" y="2371725"/>
            <a:ext cx="723900" cy="0"/>
          </a:xfrm>
          <a:prstGeom xmlns:a="http://schemas.openxmlformats.org/drawingml/2006/main" prst="line">
            <a:avLst/>
          </a:prstGeom>
          <a:noFill xmlns:a="http://schemas.openxmlformats.org/drawingml/2006/main"/>
          <a:ln xmlns:a="http://schemas.openxmlformats.org/drawingml/2006/main" w="28575">
            <a:solidFill>
              <a:srgbClr val="3E5769"/>
            </a:solidFill>
          </a:ln>
        </p:spPr>
      </p:sp>
      <p:sp>
        <p:nvSpPr>
          <p:cNvPr id="22" name="line-262">
            <a:extLst xmlns:a="http://schemas.openxmlformats.org/drawingml/2006/main">
              <a:ext uri="{FF2B5EF4-FFF2-40B4-BE49-F238E27FC236}">
                <a16:creationId xmlns:a16="http://schemas.microsoft.com/office/drawing/2014/main" id="{5132964E-39A1-491B-8E40-DDB393EC884E}"/>
              </a:ext>
            </a:extLst>
          </p:cNvPr>
          <p:cNvSpPr>
            <a:spLocks xmlns:a="http://schemas.openxmlformats.org/drawingml/2006/main" noGrp="1"/>
          </p:cNvSpPr>
          <p:nvPr/>
        </p:nvSpPr>
        <p:spPr>
          <a:xfrm xmlns:a="http://schemas.openxmlformats.org/drawingml/2006/main">
            <a:off x="7800975" y="4276725"/>
            <a:ext cx="723900" cy="0"/>
          </a:xfrm>
          <a:prstGeom xmlns:a="http://schemas.openxmlformats.org/drawingml/2006/main" prst="line">
            <a:avLst/>
          </a:prstGeom>
          <a:noFill xmlns:a="http://schemas.openxmlformats.org/drawingml/2006/main"/>
          <a:ln xmlns:a="http://schemas.openxmlformats.org/drawingml/2006/main" w="28575">
            <a:solidFill>
              <a:srgbClr val="F2BB66"/>
            </a:solidFill>
          </a:ln>
        </p:spPr>
      </p:sp>
      <p:sp>
        <p:nvSpPr>
          <p:cNvPr id="23" name="text-263">
            <a:extLst xmlns:a="http://schemas.openxmlformats.org/drawingml/2006/main">
              <a:ext uri="{FF2B5EF4-FFF2-40B4-BE49-F238E27FC236}">
                <a16:creationId xmlns:a16="http://schemas.microsoft.com/office/drawing/2014/main" id="{3AE83A97-594C-45D7-AC82-3A99D4A284D4}"/>
              </a:ext>
            </a:extLst>
          </p:cNvPr>
          <p:cNvSpPr>
            <a:spLocks xmlns:a="http://schemas.openxmlformats.org/drawingml/2006/main" noGrp="1"/>
          </p:cNvSpPr>
          <p:nvPr/>
        </p:nvSpPr>
        <p:spPr>
          <a:xfrm xmlns:a="http://schemas.openxmlformats.org/drawingml/2006/main">
            <a:off x="8620125" y="2962275"/>
            <a:ext cx="28384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0">
                <a:solidFill>
                  <a:srgbClr val="AEBFCB"/>
                </a:solidFill>
                <a:latin typeface="Helvetica Neue"/>
                <a:ea typeface="Helvetica Neue"/>
                <a:cs typeface="Helvetica Neue"/>
              </a:defRPr>
            </a:pPr>
            <a:r>
              <a:rPr sz="1875" b="0">
                <a:solidFill>
                  <a:srgbClr val="AEBFCB"/>
                </a:solidFill>
                <a:latin typeface="Helvetica Neue"/>
                <a:ea typeface="Helvetica Neue"/>
                <a:cs typeface="Helvetica Neue"/>
              </a:rPr>
              <a:t>i padisponueshëm</a:t>
            </a:r>
          </a:p>
        </p:txBody>
      </p:sp>
      <p:sp>
        <p:nvSpPr>
          <p:cNvPr id="24" name="text-264">
            <a:extLst xmlns:a="http://schemas.openxmlformats.org/drawingml/2006/main">
              <a:ext uri="{FF2B5EF4-FFF2-40B4-BE49-F238E27FC236}">
                <a16:creationId xmlns:a16="http://schemas.microsoft.com/office/drawing/2014/main" id="{5F4EDDC0-1F40-407F-83C3-1C8405EBBFA9}"/>
              </a:ext>
            </a:extLst>
          </p:cNvPr>
          <p:cNvSpPr>
            <a:spLocks xmlns:a="http://schemas.openxmlformats.org/drawingml/2006/main" noGrp="1"/>
          </p:cNvSpPr>
          <p:nvPr/>
        </p:nvSpPr>
        <p:spPr>
          <a:xfrm xmlns:a="http://schemas.openxmlformats.org/drawingml/2006/main">
            <a:off x="8334375" y="4895850"/>
            <a:ext cx="3219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875" b="0">
                <a:solidFill>
                  <a:srgbClr val="F2BB66"/>
                </a:solidFill>
                <a:latin typeface="Helvetica Neue"/>
                <a:ea typeface="Helvetica Neue"/>
                <a:cs typeface="Helvetica Neue"/>
              </a:defRPr>
            </a:pPr>
            <a:r>
              <a:rPr sz="1875" b="0">
                <a:solidFill>
                  <a:srgbClr val="F2BB66"/>
                </a:solidFill>
                <a:latin typeface="Helvetica Neue"/>
                <a:ea typeface="Helvetica Neue"/>
                <a:cs typeface="Helvetica Neue"/>
              </a:rPr>
              <a:t>burime të përzgjedhura</a:t>
            </a:r>
          </a:p>
        </p:txBody>
      </p:sp>
      <p:sp>
        <p:nvSpPr>
          <p:cNvPr id="25" name="text-265">
            <a:extLst xmlns:a="http://schemas.openxmlformats.org/drawingml/2006/main">
              <a:ext uri="{FF2B5EF4-FFF2-40B4-BE49-F238E27FC236}">
                <a16:creationId xmlns:a16="http://schemas.microsoft.com/office/drawing/2014/main" id="{8B63ACF9-60F3-493E-892A-79D33ED0FEEF}"/>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Çfarë mund të lexohet pa rrjet? Çfarë kërkon konfirmim?</a:t>
            </a:r>
          </a:p>
        </p:txBody>
      </p:sp>
      <p:pic>
        <p:nvPicPr>
          <p:cNvPr id="53" name=""/>
          <p:cNvPicPr>
            <a:picLocks xmlns:a="http://schemas.openxmlformats.org/drawingml/2006/main" noChangeAspect="1"/>
          </p:cNvPicPr>
          <p:nvPr/>
        </p:nvPicPr>
        <p:blipFill>
          <a:blip xmlns:r="http://schemas.openxmlformats.org/officeDocument/2006/relationships" xmlns:a="http://schemas.openxmlformats.org/drawingml/2006/main" r:embed="Rf8eaaf691b6349f2"/>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235861946"/>
      </p:ext>
    </p:extLst>
  </p:cSld>
</p:sld>
</file>

<file path=ppt/slides/slide23.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16" name="text-266">
            <a:extLst xmlns:a="http://schemas.openxmlformats.org/drawingml/2006/main">
              <a:ext uri="{FF2B5EF4-FFF2-40B4-BE49-F238E27FC236}">
                <a16:creationId xmlns:a16="http://schemas.microsoft.com/office/drawing/2014/main" id="{5BE50439-E861-4463-A38D-E205396A2272}"/>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ARKITEKTURA MOBILE</a:t>
            </a:r>
          </a:p>
        </p:txBody>
      </p:sp>
      <p:sp>
        <p:nvSpPr>
          <p:cNvPr id="2" name="text-267">
            <a:extLst xmlns:a="http://schemas.openxmlformats.org/drawingml/2006/main">
              <a:ext uri="{FF2B5EF4-FFF2-40B4-BE49-F238E27FC236}">
                <a16:creationId xmlns:a16="http://schemas.microsoft.com/office/drawing/2014/main" id="{6482FA3E-CED7-4131-9EB5-2B13A7C204E5}"/>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23</a:t>
            </a:r>
          </a:p>
        </p:txBody>
      </p:sp>
      <p:sp>
        <p:nvSpPr>
          <p:cNvPr id="3" name="text-268">
            <a:extLst xmlns:a="http://schemas.openxmlformats.org/drawingml/2006/main">
              <a:ext uri="{FF2B5EF4-FFF2-40B4-BE49-F238E27FC236}">
                <a16:creationId xmlns:a16="http://schemas.microsoft.com/office/drawing/2014/main" id="{1A5C5EA6-444C-4AB2-AEFF-91227282C1F7}"/>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Kërkesa nuk është konfirmim</a:t>
            </a:r>
          </a:p>
        </p:txBody>
      </p:sp>
      <p:sp>
        <p:nvSpPr>
          <p:cNvPr id="4" name="text-269">
            <a:extLst xmlns:a="http://schemas.openxmlformats.org/drawingml/2006/main">
              <a:ext uri="{FF2B5EF4-FFF2-40B4-BE49-F238E27FC236}">
                <a16:creationId xmlns:a16="http://schemas.microsoft.com/office/drawing/2014/main" id="{0F583F5E-1CBC-4B18-80D1-92E520573C1B}"/>
              </a:ext>
            </a:extLst>
          </p:cNvPr>
          <p:cNvSpPr>
            <a:spLocks xmlns:a="http://schemas.openxmlformats.org/drawingml/2006/main" noGrp="1"/>
          </p:cNvSpPr>
          <p:nvPr/>
        </p:nvSpPr>
        <p:spPr>
          <a:xfrm xmlns:a="http://schemas.openxmlformats.org/drawingml/2006/main">
            <a:off x="676275" y="2047875"/>
            <a:ext cx="10287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000" b="1">
                <a:solidFill>
                  <a:srgbClr val="F2BB66"/>
                </a:solidFill>
                <a:latin typeface="Helvetica Neue"/>
                <a:ea typeface="Helvetica Neue"/>
                <a:cs typeface="Helvetica Neue"/>
              </a:defRPr>
            </a:pPr>
            <a:r>
              <a:rPr sz="3000" b="1">
                <a:solidFill>
                  <a:srgbClr val="F2BB66"/>
                </a:solidFill>
                <a:latin typeface="Helvetica Neue"/>
                <a:ea typeface="Helvetica Neue"/>
                <a:cs typeface="Helvetica Neue"/>
              </a:rPr>
              <a:t>Dërgimi i pakonfirmuar</a:t>
            </a:r>
          </a:p>
        </p:txBody>
      </p:sp>
      <p:sp>
        <p:nvSpPr>
          <p:cNvPr id="5" name="surface-270">
            <a:extLst xmlns:a="http://schemas.openxmlformats.org/drawingml/2006/main">
              <a:ext uri="{FF2B5EF4-FFF2-40B4-BE49-F238E27FC236}">
                <a16:creationId xmlns:a16="http://schemas.microsoft.com/office/drawing/2014/main" id="{6A77FADC-A81F-4AE2-9D5E-308D7EB751FB}"/>
              </a:ext>
            </a:extLst>
          </p:cNvPr>
          <p:cNvSpPr>
            <a:spLocks xmlns:a="http://schemas.openxmlformats.org/drawingml/2006/main" noGrp="1"/>
          </p:cNvSpPr>
          <p:nvPr/>
        </p:nvSpPr>
        <p:spPr>
          <a:xfrm xmlns:a="http://schemas.openxmlformats.org/drawingml/2006/main">
            <a:off x="695325" y="3238500"/>
            <a:ext cx="2552700" cy="838200"/>
          </a:xfrm>
          <a:prstGeom xmlns:a="http://schemas.openxmlformats.org/drawingml/2006/main" prst="roundRect">
            <a:avLst>
              <a:gd name="adj" fmla="val 11364"/>
            </a:avLst>
          </a:prstGeom>
          <a:solidFill xmlns:a="http://schemas.openxmlformats.org/drawingml/2006/main">
            <a:srgbClr val="192732"/>
          </a:solidFill>
          <a:ln xmlns:a="http://schemas.openxmlformats.org/drawingml/2006/main" w="19050">
            <a:solidFill>
              <a:srgbClr val="63CDF2"/>
            </a:solidFill>
          </a:ln>
        </p:spPr>
      </p:sp>
      <p:sp>
        <p:nvSpPr>
          <p:cNvPr id="6" name="text-271">
            <a:extLst xmlns:a="http://schemas.openxmlformats.org/drawingml/2006/main">
              <a:ext uri="{FF2B5EF4-FFF2-40B4-BE49-F238E27FC236}">
                <a16:creationId xmlns:a16="http://schemas.microsoft.com/office/drawing/2014/main" id="{CDD87739-80F1-4456-BB5C-2573474F1A65}"/>
              </a:ext>
            </a:extLst>
          </p:cNvPr>
          <p:cNvSpPr>
            <a:spLocks xmlns:a="http://schemas.openxmlformats.org/drawingml/2006/main" noGrp="1"/>
          </p:cNvSpPr>
          <p:nvPr/>
        </p:nvSpPr>
        <p:spPr>
          <a:xfrm xmlns:a="http://schemas.openxmlformats.org/drawingml/2006/main">
            <a:off x="809625" y="3314700"/>
            <a:ext cx="2324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63CDF2"/>
                </a:solidFill>
                <a:latin typeface="Helvetica Neue"/>
                <a:ea typeface="Helvetica Neue"/>
                <a:cs typeface="Helvetica Neue"/>
              </a:defRPr>
            </a:pPr>
            <a:r>
              <a:rPr sz="2250" b="1">
                <a:solidFill>
                  <a:srgbClr val="63CDF2"/>
                </a:solidFill>
                <a:latin typeface="Helvetica Neue"/>
                <a:ea typeface="Helvetica Neue"/>
                <a:cs typeface="Helvetica Neue"/>
              </a:rPr>
              <a:t>Dërguar</a:t>
            </a:r>
          </a:p>
        </p:txBody>
      </p:sp>
      <p:sp>
        <p:nvSpPr>
          <p:cNvPr id="7" name="surface-272">
            <a:extLst xmlns:a="http://schemas.openxmlformats.org/drawingml/2006/main">
              <a:ext uri="{FF2B5EF4-FFF2-40B4-BE49-F238E27FC236}">
                <a16:creationId xmlns:a16="http://schemas.microsoft.com/office/drawing/2014/main" id="{41366682-C35E-4FE8-B9A3-EF7FCE93CFBF}"/>
              </a:ext>
            </a:extLst>
          </p:cNvPr>
          <p:cNvSpPr>
            <a:spLocks xmlns:a="http://schemas.openxmlformats.org/drawingml/2006/main" noGrp="1"/>
          </p:cNvSpPr>
          <p:nvPr/>
        </p:nvSpPr>
        <p:spPr>
          <a:xfrm xmlns:a="http://schemas.openxmlformats.org/drawingml/2006/main">
            <a:off x="4829175" y="3238500"/>
            <a:ext cx="2552700" cy="838200"/>
          </a:xfrm>
          <a:prstGeom xmlns:a="http://schemas.openxmlformats.org/drawingml/2006/main" prst="roundRect">
            <a:avLst>
              <a:gd name="adj" fmla="val 11364"/>
            </a:avLst>
          </a:prstGeom>
          <a:solidFill xmlns:a="http://schemas.openxmlformats.org/drawingml/2006/main">
            <a:srgbClr val="192732"/>
          </a:solidFill>
          <a:ln xmlns:a="http://schemas.openxmlformats.org/drawingml/2006/main" w="19050">
            <a:solidFill>
              <a:srgbClr val="F2BB66"/>
            </a:solidFill>
          </a:ln>
        </p:spPr>
      </p:sp>
      <p:sp>
        <p:nvSpPr>
          <p:cNvPr id="8" name="text-273">
            <a:extLst xmlns:a="http://schemas.openxmlformats.org/drawingml/2006/main">
              <a:ext uri="{FF2B5EF4-FFF2-40B4-BE49-F238E27FC236}">
                <a16:creationId xmlns:a16="http://schemas.microsoft.com/office/drawing/2014/main" id="{68973B9A-B959-4E6E-9310-ABD07A694C16}"/>
              </a:ext>
            </a:extLst>
          </p:cNvPr>
          <p:cNvSpPr>
            <a:spLocks xmlns:a="http://schemas.openxmlformats.org/drawingml/2006/main" noGrp="1"/>
          </p:cNvSpPr>
          <p:nvPr/>
        </p:nvSpPr>
        <p:spPr>
          <a:xfrm xmlns:a="http://schemas.openxmlformats.org/drawingml/2006/main">
            <a:off x="4943475" y="3314700"/>
            <a:ext cx="2324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F2BB66"/>
                </a:solidFill>
                <a:latin typeface="Helvetica Neue"/>
                <a:ea typeface="Helvetica Neue"/>
                <a:cs typeface="Helvetica Neue"/>
              </a:defRPr>
            </a:pPr>
            <a:r>
              <a:rPr sz="2250" b="1">
                <a:solidFill>
                  <a:srgbClr val="F2BB66"/>
                </a:solidFill>
                <a:latin typeface="Helvetica Neue"/>
                <a:ea typeface="Helvetica Neue"/>
                <a:cs typeface="Helvetica Neue"/>
              </a:rPr>
              <a:t>Në pritje</a:t>
            </a:r>
          </a:p>
        </p:txBody>
      </p:sp>
      <p:sp>
        <p:nvSpPr>
          <p:cNvPr id="9" name="surface-274">
            <a:extLst xmlns:a="http://schemas.openxmlformats.org/drawingml/2006/main">
              <a:ext uri="{FF2B5EF4-FFF2-40B4-BE49-F238E27FC236}">
                <a16:creationId xmlns:a16="http://schemas.microsoft.com/office/drawing/2014/main" id="{BDFDA242-4ABC-47E2-AA92-CFC9B77E914D}"/>
              </a:ext>
            </a:extLst>
          </p:cNvPr>
          <p:cNvSpPr>
            <a:spLocks xmlns:a="http://schemas.openxmlformats.org/drawingml/2006/main" noGrp="1"/>
          </p:cNvSpPr>
          <p:nvPr/>
        </p:nvSpPr>
        <p:spPr>
          <a:xfrm xmlns:a="http://schemas.openxmlformats.org/drawingml/2006/main">
            <a:off x="8953500" y="3238500"/>
            <a:ext cx="2552700" cy="838200"/>
          </a:xfrm>
          <a:prstGeom xmlns:a="http://schemas.openxmlformats.org/drawingml/2006/main" prst="roundRect">
            <a:avLst>
              <a:gd name="adj" fmla="val 11364"/>
            </a:avLst>
          </a:prstGeom>
          <a:solidFill xmlns:a="http://schemas.openxmlformats.org/drawingml/2006/main">
            <a:srgbClr val="192732"/>
          </a:solidFill>
          <a:ln xmlns:a="http://schemas.openxmlformats.org/drawingml/2006/main" w="19050">
            <a:solidFill>
              <a:srgbClr val="91DEBB"/>
            </a:solidFill>
          </a:ln>
        </p:spPr>
      </p:sp>
      <p:sp>
        <p:nvSpPr>
          <p:cNvPr id="10" name="text-275">
            <a:extLst xmlns:a="http://schemas.openxmlformats.org/drawingml/2006/main">
              <a:ext uri="{FF2B5EF4-FFF2-40B4-BE49-F238E27FC236}">
                <a16:creationId xmlns:a16="http://schemas.microsoft.com/office/drawing/2014/main" id="{133FD664-4CA4-4D33-94DE-211E3853567E}"/>
              </a:ext>
            </a:extLst>
          </p:cNvPr>
          <p:cNvSpPr>
            <a:spLocks xmlns:a="http://schemas.openxmlformats.org/drawingml/2006/main" noGrp="1"/>
          </p:cNvSpPr>
          <p:nvPr/>
        </p:nvSpPr>
        <p:spPr>
          <a:xfrm xmlns:a="http://schemas.openxmlformats.org/drawingml/2006/main">
            <a:off x="9067800" y="3314700"/>
            <a:ext cx="2324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2250" b="1">
                <a:solidFill>
                  <a:srgbClr val="91DEBB"/>
                </a:solidFill>
                <a:latin typeface="Helvetica Neue"/>
                <a:ea typeface="Helvetica Neue"/>
                <a:cs typeface="Helvetica Neue"/>
              </a:defRPr>
            </a:pPr>
            <a:r>
              <a:rPr sz="2250" b="1">
                <a:solidFill>
                  <a:srgbClr val="91DEBB"/>
                </a:solidFill>
                <a:latin typeface="Helvetica Neue"/>
                <a:ea typeface="Helvetica Neue"/>
                <a:cs typeface="Helvetica Neue"/>
              </a:rPr>
              <a:t>Pranuar</a:t>
            </a:r>
          </a:p>
        </p:txBody>
      </p:sp>
      <p:sp>
        <p:nvSpPr>
          <p:cNvPr id="11" name="flow-276">
            <a:extLst xmlns:a="http://schemas.openxmlformats.org/drawingml/2006/main">
              <a:ext uri="{FF2B5EF4-FFF2-40B4-BE49-F238E27FC236}">
                <a16:creationId xmlns:a16="http://schemas.microsoft.com/office/drawing/2014/main" id="{E666256B-838A-4700-8332-F091EF6D1750}"/>
              </a:ext>
            </a:extLst>
          </p:cNvPr>
          <p:cNvSpPr>
            <a:spLocks xmlns:a="http://schemas.openxmlformats.org/drawingml/2006/main" noGrp="1"/>
          </p:cNvSpPr>
          <p:nvPr/>
        </p:nvSpPr>
        <p:spPr>
          <a:xfrm xmlns:a="http://schemas.openxmlformats.org/drawingml/2006/main">
            <a:off x="3562350" y="3571875"/>
            <a:ext cx="923925"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2" name="flow-277">
            <a:extLst xmlns:a="http://schemas.openxmlformats.org/drawingml/2006/main">
              <a:ext uri="{FF2B5EF4-FFF2-40B4-BE49-F238E27FC236}">
                <a16:creationId xmlns:a16="http://schemas.microsoft.com/office/drawing/2014/main" id="{FB3646C4-2ADE-40D4-A174-8270023EB9FD}"/>
              </a:ext>
            </a:extLst>
          </p:cNvPr>
          <p:cNvSpPr>
            <a:spLocks xmlns:a="http://schemas.openxmlformats.org/drawingml/2006/main" noGrp="1"/>
          </p:cNvSpPr>
          <p:nvPr/>
        </p:nvSpPr>
        <p:spPr>
          <a:xfrm xmlns:a="http://schemas.openxmlformats.org/drawingml/2006/main">
            <a:off x="7696200" y="3571875"/>
            <a:ext cx="923925"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3" name="line-278">
            <a:extLst xmlns:a="http://schemas.openxmlformats.org/drawingml/2006/main">
              <a:ext uri="{FF2B5EF4-FFF2-40B4-BE49-F238E27FC236}">
                <a16:creationId xmlns:a16="http://schemas.microsoft.com/office/drawing/2014/main" id="{34159CE4-C4C5-4F1D-94D8-DAA9C43CC14E}"/>
              </a:ext>
            </a:extLst>
          </p:cNvPr>
          <p:cNvSpPr>
            <a:spLocks xmlns:a="http://schemas.openxmlformats.org/drawingml/2006/main" noGrp="1"/>
          </p:cNvSpPr>
          <p:nvPr/>
        </p:nvSpPr>
        <p:spPr>
          <a:xfrm xmlns:a="http://schemas.openxmlformats.org/drawingml/2006/main">
            <a:off x="6105525" y="4076700"/>
            <a:ext cx="0" cy="590550"/>
          </a:xfrm>
          <a:prstGeom xmlns:a="http://schemas.openxmlformats.org/drawingml/2006/main" prst="line">
            <a:avLst/>
          </a:prstGeom>
          <a:noFill xmlns:a="http://schemas.openxmlformats.org/drawingml/2006/main"/>
          <a:ln xmlns:a="http://schemas.openxmlformats.org/drawingml/2006/main" w="28575">
            <a:solidFill>
              <a:srgbClr val="3E5769"/>
            </a:solidFill>
          </a:ln>
        </p:spPr>
      </p:sp>
      <p:sp>
        <p:nvSpPr>
          <p:cNvPr id="14" name="text-279">
            <a:extLst xmlns:a="http://schemas.openxmlformats.org/drawingml/2006/main">
              <a:ext uri="{FF2B5EF4-FFF2-40B4-BE49-F238E27FC236}">
                <a16:creationId xmlns:a16="http://schemas.microsoft.com/office/drawing/2014/main" id="{AC696101-93CC-4E41-BF95-B2095CED47D2}"/>
              </a:ext>
            </a:extLst>
          </p:cNvPr>
          <p:cNvSpPr>
            <a:spLocks xmlns:a="http://schemas.openxmlformats.org/drawingml/2006/main" noGrp="1"/>
          </p:cNvSpPr>
          <p:nvPr/>
        </p:nvSpPr>
        <p:spPr>
          <a:xfrm xmlns:a="http://schemas.openxmlformats.org/drawingml/2006/main">
            <a:off x="4543425" y="4829175"/>
            <a:ext cx="39814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0">
                <a:solidFill>
                  <a:srgbClr val="AEBFCB"/>
                </a:solidFill>
                <a:latin typeface="Helvetica Neue"/>
                <a:ea typeface="Helvetica Neue"/>
                <a:cs typeface="Helvetica Neue"/>
              </a:defRPr>
            </a:pPr>
            <a:r>
              <a:rPr sz="2550" b="0">
                <a:solidFill>
                  <a:srgbClr val="AEBFCB"/>
                </a:solidFill>
                <a:latin typeface="Helvetica Neue"/>
                <a:ea typeface="Helvetica Neue"/>
                <a:cs typeface="Helvetica Neue"/>
              </a:rPr>
              <a:t>Refuzuar / Anuluar</a:t>
            </a:r>
          </a:p>
        </p:txBody>
      </p:sp>
      <p:sp>
        <p:nvSpPr>
          <p:cNvPr id="15" name="text-280">
            <a:extLst xmlns:a="http://schemas.openxmlformats.org/drawingml/2006/main">
              <a:ext uri="{FF2B5EF4-FFF2-40B4-BE49-F238E27FC236}">
                <a16:creationId xmlns:a16="http://schemas.microsoft.com/office/drawing/2014/main" id="{43D34A92-E5FF-48AF-8D6F-E0FA9F1C6A79}"/>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Pa përgjigje: dështim apo rezultat ende i panjohur?</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349646eef29c4cd9"/>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429613087"/>
      </p:ext>
    </p:extLst>
  </p:cSld>
</p:sld>
</file>

<file path=ppt/slides/slide24.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12" name="text-281">
            <a:extLst xmlns:a="http://schemas.openxmlformats.org/drawingml/2006/main">
              <a:ext uri="{FF2B5EF4-FFF2-40B4-BE49-F238E27FC236}">
                <a16:creationId xmlns:a16="http://schemas.microsoft.com/office/drawing/2014/main" id="{E8A877A4-5B7A-4913-8F10-5A38539365D7}"/>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INTELIGJENCA ARTIFICIALE</a:t>
            </a:r>
          </a:p>
        </p:txBody>
      </p:sp>
      <p:sp>
        <p:nvSpPr>
          <p:cNvPr id="2" name="text-282">
            <a:extLst xmlns:a="http://schemas.openxmlformats.org/drawingml/2006/main">
              <a:ext uri="{FF2B5EF4-FFF2-40B4-BE49-F238E27FC236}">
                <a16:creationId xmlns:a16="http://schemas.microsoft.com/office/drawing/2014/main" id="{26F1387B-1562-4AB8-A47A-5EBC2565E7E7}"/>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24</a:t>
            </a:r>
          </a:p>
        </p:txBody>
      </p:sp>
      <p:sp>
        <p:nvSpPr>
          <p:cNvPr id="3" name="text-283">
            <a:extLst xmlns:a="http://schemas.openxmlformats.org/drawingml/2006/main">
              <a:ext uri="{FF2B5EF4-FFF2-40B4-BE49-F238E27FC236}">
                <a16:creationId xmlns:a16="http://schemas.microsoft.com/office/drawing/2014/main" id="{916325E6-E437-45C0-9FDB-E389F2AA91CF}"/>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AI propozon. Ju përgjigjeni.</a:t>
            </a:r>
          </a:p>
        </p:txBody>
      </p:sp>
      <p:sp>
        <p:nvSpPr>
          <p:cNvPr id="4" name="text-284">
            <a:extLst xmlns:a="http://schemas.openxmlformats.org/drawingml/2006/main">
              <a:ext uri="{FF2B5EF4-FFF2-40B4-BE49-F238E27FC236}">
                <a16:creationId xmlns:a16="http://schemas.microsoft.com/office/drawing/2014/main" id="{4F8BE097-A97D-4836-9E21-BD275773AC7D}"/>
              </a:ext>
            </a:extLst>
          </p:cNvPr>
          <p:cNvSpPr>
            <a:spLocks xmlns:a="http://schemas.openxmlformats.org/drawingml/2006/main" noGrp="1"/>
          </p:cNvSpPr>
          <p:nvPr/>
        </p:nvSpPr>
        <p:spPr>
          <a:xfrm xmlns:a="http://schemas.openxmlformats.org/drawingml/2006/main">
            <a:off x="685800" y="2381250"/>
            <a:ext cx="32194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500" b="1">
                <a:solidFill>
                  <a:srgbClr val="63CDF2"/>
                </a:solidFill>
                <a:latin typeface="Helvetica Neue"/>
                <a:ea typeface="Helvetica Neue"/>
                <a:cs typeface="Helvetica Neue"/>
              </a:defRPr>
            </a:pPr>
            <a:r>
              <a:rPr sz="4500" b="1">
                <a:solidFill>
                  <a:srgbClr val="63CDF2"/>
                </a:solidFill>
                <a:latin typeface="Helvetica Neue"/>
                <a:ea typeface="Helvetica Neue"/>
                <a:cs typeface="Helvetica Neue"/>
              </a:rPr>
              <a:t>Lexo</a:t>
            </a:r>
          </a:p>
        </p:txBody>
      </p:sp>
      <p:sp>
        <p:nvSpPr>
          <p:cNvPr id="5" name="text-285">
            <a:extLst xmlns:a="http://schemas.openxmlformats.org/drawingml/2006/main">
              <a:ext uri="{FF2B5EF4-FFF2-40B4-BE49-F238E27FC236}">
                <a16:creationId xmlns:a16="http://schemas.microsoft.com/office/drawing/2014/main" id="{6C730ED1-D9CB-472A-B506-882AA6FE3E02}"/>
              </a:ext>
            </a:extLst>
          </p:cNvPr>
          <p:cNvSpPr>
            <a:spLocks xmlns:a="http://schemas.openxmlformats.org/drawingml/2006/main" noGrp="1"/>
          </p:cNvSpPr>
          <p:nvPr/>
        </p:nvSpPr>
        <p:spPr>
          <a:xfrm xmlns:a="http://schemas.openxmlformats.org/drawingml/2006/main">
            <a:off x="4638675" y="2381250"/>
            <a:ext cx="33813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500" b="1">
                <a:solidFill>
                  <a:srgbClr val="F4F2EC"/>
                </a:solidFill>
                <a:latin typeface="Helvetica Neue"/>
                <a:ea typeface="Helvetica Neue"/>
                <a:cs typeface="Helvetica Neue"/>
              </a:defRPr>
            </a:pPr>
            <a:r>
              <a:rPr sz="4500" b="1">
                <a:solidFill>
                  <a:srgbClr val="F4F2EC"/>
                </a:solidFill>
                <a:latin typeface="Helvetica Neue"/>
                <a:ea typeface="Helvetica Neue"/>
                <a:cs typeface="Helvetica Neue"/>
              </a:rPr>
              <a:t>Shpjego</a:t>
            </a:r>
          </a:p>
        </p:txBody>
      </p:sp>
      <p:sp>
        <p:nvSpPr>
          <p:cNvPr id="6" name="text-286">
            <a:extLst xmlns:a="http://schemas.openxmlformats.org/drawingml/2006/main">
              <a:ext uri="{FF2B5EF4-FFF2-40B4-BE49-F238E27FC236}">
                <a16:creationId xmlns:a16="http://schemas.microsoft.com/office/drawing/2014/main" id="{D855D196-61B1-437C-B227-95D5B6D43187}"/>
              </a:ext>
            </a:extLst>
          </p:cNvPr>
          <p:cNvSpPr>
            <a:spLocks xmlns:a="http://schemas.openxmlformats.org/drawingml/2006/main" noGrp="1"/>
          </p:cNvSpPr>
          <p:nvPr/>
        </p:nvSpPr>
        <p:spPr>
          <a:xfrm xmlns:a="http://schemas.openxmlformats.org/drawingml/2006/main">
            <a:off x="8820150" y="2381250"/>
            <a:ext cx="2762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500" b="1">
                <a:solidFill>
                  <a:srgbClr val="91DEBB"/>
                </a:solidFill>
                <a:latin typeface="Helvetica Neue"/>
                <a:ea typeface="Helvetica Neue"/>
                <a:cs typeface="Helvetica Neue"/>
              </a:defRPr>
            </a:pPr>
            <a:r>
              <a:rPr sz="4500" b="1">
                <a:solidFill>
                  <a:srgbClr val="91DEBB"/>
                </a:solidFill>
                <a:latin typeface="Helvetica Neue"/>
                <a:ea typeface="Helvetica Neue"/>
                <a:cs typeface="Helvetica Neue"/>
              </a:rPr>
              <a:t>Testo</a:t>
            </a:r>
          </a:p>
        </p:txBody>
      </p:sp>
      <p:sp>
        <p:nvSpPr>
          <p:cNvPr id="7" name="text-287">
            <a:extLst xmlns:a="http://schemas.openxmlformats.org/drawingml/2006/main">
              <a:ext uri="{FF2B5EF4-FFF2-40B4-BE49-F238E27FC236}">
                <a16:creationId xmlns:a16="http://schemas.microsoft.com/office/drawing/2014/main" id="{530339F3-4392-4BC8-A383-E579B8862BCF}"/>
              </a:ext>
            </a:extLst>
          </p:cNvPr>
          <p:cNvSpPr>
            <a:spLocks xmlns:a="http://schemas.openxmlformats.org/drawingml/2006/main" noGrp="1"/>
          </p:cNvSpPr>
          <p:nvPr/>
        </p:nvSpPr>
        <p:spPr>
          <a:xfrm xmlns:a="http://schemas.openxmlformats.org/drawingml/2006/main">
            <a:off x="704850" y="3419475"/>
            <a:ext cx="321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400" b="0">
                <a:solidFill>
                  <a:srgbClr val="AEBFCB"/>
                </a:solidFill>
                <a:latin typeface="Helvetica Neue"/>
                <a:ea typeface="Helvetica Neue"/>
                <a:cs typeface="Helvetica Neue"/>
              </a:defRPr>
            </a:pPr>
            <a:r>
              <a:rPr sz="2400" b="0">
                <a:solidFill>
                  <a:srgbClr val="AEBFCB"/>
                </a:solidFill>
                <a:latin typeface="Helvetica Neue"/>
                <a:ea typeface="Helvetica Neue"/>
                <a:cs typeface="Helvetica Neue"/>
              </a:rPr>
              <a:t>Supozimin</a:t>
            </a:r>
          </a:p>
        </p:txBody>
      </p:sp>
      <p:sp>
        <p:nvSpPr>
          <p:cNvPr id="8" name="text-288">
            <a:extLst xmlns:a="http://schemas.openxmlformats.org/drawingml/2006/main">
              <a:ext uri="{FF2B5EF4-FFF2-40B4-BE49-F238E27FC236}">
                <a16:creationId xmlns:a16="http://schemas.microsoft.com/office/drawing/2014/main" id="{691BDCAD-E5FA-4EFD-A957-E4D143232417}"/>
              </a:ext>
            </a:extLst>
          </p:cNvPr>
          <p:cNvSpPr>
            <a:spLocks xmlns:a="http://schemas.openxmlformats.org/drawingml/2006/main" noGrp="1"/>
          </p:cNvSpPr>
          <p:nvPr/>
        </p:nvSpPr>
        <p:spPr>
          <a:xfrm xmlns:a="http://schemas.openxmlformats.org/drawingml/2006/main">
            <a:off x="4667250" y="3419475"/>
            <a:ext cx="33813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400" b="0">
                <a:solidFill>
                  <a:srgbClr val="AEBFCB"/>
                </a:solidFill>
                <a:latin typeface="Helvetica Neue"/>
                <a:ea typeface="Helvetica Neue"/>
                <a:cs typeface="Helvetica Neue"/>
              </a:defRPr>
            </a:pPr>
            <a:r>
              <a:rPr sz="2400" b="0">
                <a:solidFill>
                  <a:srgbClr val="AEBFCB"/>
                </a:solidFill>
                <a:latin typeface="Helvetica Neue"/>
                <a:ea typeface="Helvetica Neue"/>
                <a:cs typeface="Helvetica Neue"/>
              </a:rPr>
              <a:t>Vendimin</a:t>
            </a:r>
          </a:p>
        </p:txBody>
      </p:sp>
      <p:sp>
        <p:nvSpPr>
          <p:cNvPr id="9" name="text-289">
            <a:extLst xmlns:a="http://schemas.openxmlformats.org/drawingml/2006/main">
              <a:ext uri="{FF2B5EF4-FFF2-40B4-BE49-F238E27FC236}">
                <a16:creationId xmlns:a16="http://schemas.microsoft.com/office/drawing/2014/main" id="{56607FF0-A766-401E-B604-33C02FE71ECB}"/>
              </a:ext>
            </a:extLst>
          </p:cNvPr>
          <p:cNvSpPr>
            <a:spLocks xmlns:a="http://schemas.openxmlformats.org/drawingml/2006/main" noGrp="1"/>
          </p:cNvSpPr>
          <p:nvPr/>
        </p:nvSpPr>
        <p:spPr>
          <a:xfrm xmlns:a="http://schemas.openxmlformats.org/drawingml/2006/main">
            <a:off x="8839200" y="3419475"/>
            <a:ext cx="27241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325" b="0">
                <a:solidFill>
                  <a:srgbClr val="AEBFCB"/>
                </a:solidFill>
                <a:latin typeface="Helvetica Neue"/>
                <a:ea typeface="Helvetica Neue"/>
                <a:cs typeface="Helvetica Neue"/>
              </a:defRPr>
            </a:pPr>
            <a:r>
              <a:rPr sz="2325" b="0">
                <a:solidFill>
                  <a:srgbClr val="AEBFCB"/>
                </a:solidFill>
                <a:latin typeface="Helvetica Neue"/>
                <a:ea typeface="Helvetica Neue"/>
                <a:cs typeface="Helvetica Neue"/>
              </a:rPr>
              <a:t>Kundërshembullin</a:t>
            </a:r>
          </a:p>
        </p:txBody>
      </p:sp>
      <p:sp>
        <p:nvSpPr>
          <p:cNvPr id="10" name="text-290">
            <a:extLst xmlns:a="http://schemas.openxmlformats.org/drawingml/2006/main">
              <a:ext uri="{FF2B5EF4-FFF2-40B4-BE49-F238E27FC236}">
                <a16:creationId xmlns:a16="http://schemas.microsoft.com/office/drawing/2014/main" id="{C7112C97-850C-4AAE-9ABF-373DA1293C93}"/>
              </a:ext>
            </a:extLst>
          </p:cNvPr>
          <p:cNvSpPr>
            <a:spLocks xmlns:a="http://schemas.openxmlformats.org/drawingml/2006/main" noGrp="1"/>
          </p:cNvSpPr>
          <p:nvPr/>
        </p:nvSpPr>
        <p:spPr>
          <a:xfrm xmlns:a="http://schemas.openxmlformats.org/drawingml/2006/main">
            <a:off x="704850" y="4848225"/>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225" b="1">
                <a:solidFill>
                  <a:srgbClr val="F4F2EC"/>
                </a:solidFill>
                <a:latin typeface="Helvetica Neue"/>
                <a:ea typeface="Helvetica Neue"/>
                <a:cs typeface="Helvetica Neue"/>
              </a:defRPr>
            </a:pPr>
            <a:r>
              <a:rPr sz="3225" b="1">
                <a:solidFill>
                  <a:srgbClr val="F4F2EC"/>
                </a:solidFill>
                <a:latin typeface="Helvetica Neue"/>
                <a:ea typeface="Helvetica Neue"/>
                <a:cs typeface="Helvetica Neue"/>
              </a:rPr>
              <a:t>Përgjegjësia për kodin mbetet e juaja.</a:t>
            </a:r>
          </a:p>
        </p:txBody>
      </p:sp>
      <p:sp>
        <p:nvSpPr>
          <p:cNvPr id="11" name="text-291">
            <a:extLst xmlns:a="http://schemas.openxmlformats.org/drawingml/2006/main">
              <a:ext uri="{FF2B5EF4-FFF2-40B4-BE49-F238E27FC236}">
                <a16:creationId xmlns:a16="http://schemas.microsoft.com/office/drawing/2014/main" id="{D12EE886-CE6A-4158-BCF1-BB20D82E172B}"/>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Çfarë po supozon zgjidhja që propozoi AI?</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c08b661624bd4359"/>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53002853"/>
      </p:ext>
    </p:extLst>
  </p:cSld>
</p:sld>
</file>

<file path=ppt/slides/slide25.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13" name="text-292">
            <a:extLst xmlns:a="http://schemas.openxmlformats.org/drawingml/2006/main">
              <a:ext uri="{FF2B5EF4-FFF2-40B4-BE49-F238E27FC236}">
                <a16:creationId xmlns:a16="http://schemas.microsoft.com/office/drawing/2014/main" id="{8D1B4363-F024-4195-9C41-7AC9E59F1A5B}"/>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INTELIGJENCA ARTIFICIALE</a:t>
            </a:r>
          </a:p>
        </p:txBody>
      </p:sp>
      <p:sp>
        <p:nvSpPr>
          <p:cNvPr id="2" name="text-293">
            <a:extLst xmlns:a="http://schemas.openxmlformats.org/drawingml/2006/main">
              <a:ext uri="{FF2B5EF4-FFF2-40B4-BE49-F238E27FC236}">
                <a16:creationId xmlns:a16="http://schemas.microsoft.com/office/drawing/2014/main" id="{09526FF8-3E55-4269-A368-C62262B19C27}"/>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25</a:t>
            </a:r>
          </a:p>
        </p:txBody>
      </p:sp>
      <p:sp>
        <p:nvSpPr>
          <p:cNvPr id="3" name="text-294">
            <a:extLst xmlns:a="http://schemas.openxmlformats.org/drawingml/2006/main">
              <a:ext uri="{FF2B5EF4-FFF2-40B4-BE49-F238E27FC236}">
                <a16:creationId xmlns:a16="http://schemas.microsoft.com/office/drawing/2014/main" id="{C74C1C25-1217-4C57-89C2-D634E67A7B2B}"/>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Kërkoni edhe kundërshembullin</a:t>
            </a:r>
          </a:p>
        </p:txBody>
      </p:sp>
      <p:sp>
        <p:nvSpPr>
          <p:cNvPr id="4" name="text-295">
            <a:extLst xmlns:a="http://schemas.openxmlformats.org/drawingml/2006/main">
              <a:ext uri="{FF2B5EF4-FFF2-40B4-BE49-F238E27FC236}">
                <a16:creationId xmlns:a16="http://schemas.microsoft.com/office/drawing/2014/main" id="{718484AA-A4F2-4D25-8C0A-EEF0B6B2F104}"/>
              </a:ext>
            </a:extLst>
          </p:cNvPr>
          <p:cNvSpPr>
            <a:spLocks xmlns:a="http://schemas.openxmlformats.org/drawingml/2006/main" noGrp="1"/>
          </p:cNvSpPr>
          <p:nvPr/>
        </p:nvSpPr>
        <p:spPr>
          <a:xfrm xmlns:a="http://schemas.openxmlformats.org/drawingml/2006/main">
            <a:off x="657225" y="200025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525" b="0">
                <a:solidFill>
                  <a:srgbClr val="AEBFCB"/>
                </a:solidFill>
                <a:latin typeface="Helvetica Neue"/>
                <a:ea typeface="Helvetica Neue"/>
                <a:cs typeface="Helvetica Neue"/>
              </a:defRPr>
            </a:pPr>
            <a:r>
              <a:rPr sz="3525" b="0">
                <a:solidFill>
                  <a:srgbClr val="AEBFCB"/>
                </a:solidFill>
                <a:latin typeface="Helvetica Neue"/>
                <a:ea typeface="Helvetica Neue"/>
                <a:cs typeface="Helvetica Neue"/>
              </a:rPr>
              <a:t>“Ndërto RideShare.”</a:t>
            </a:r>
          </a:p>
        </p:txBody>
      </p:sp>
      <p:sp>
        <p:nvSpPr>
          <p:cNvPr id="5" name="line-296">
            <a:extLst xmlns:a="http://schemas.openxmlformats.org/drawingml/2006/main">
              <a:ext uri="{FF2B5EF4-FFF2-40B4-BE49-F238E27FC236}">
                <a16:creationId xmlns:a16="http://schemas.microsoft.com/office/drawing/2014/main" id="{1562FF5B-9EFB-4A97-B4A3-0998CF14CB55}"/>
              </a:ext>
            </a:extLst>
          </p:cNvPr>
          <p:cNvSpPr>
            <a:spLocks xmlns:a="http://schemas.openxmlformats.org/drawingml/2006/main" noGrp="1"/>
          </p:cNvSpPr>
          <p:nvPr/>
        </p:nvSpPr>
        <p:spPr>
          <a:xfrm xmlns:a="http://schemas.openxmlformats.org/drawingml/2006/main">
            <a:off x="666750" y="2886075"/>
            <a:ext cx="10810875" cy="0"/>
          </a:xfrm>
          <a:prstGeom xmlns:a="http://schemas.openxmlformats.org/drawingml/2006/main" prst="line">
            <a:avLst/>
          </a:prstGeom>
          <a:noFill xmlns:a="http://schemas.openxmlformats.org/drawingml/2006/main"/>
          <a:ln xmlns:a="http://schemas.openxmlformats.org/drawingml/2006/main" w="19050">
            <a:solidFill>
              <a:srgbClr val="3E5769"/>
            </a:solidFill>
          </a:ln>
        </p:spPr>
      </p:sp>
      <p:sp>
        <p:nvSpPr>
          <p:cNvPr id="6" name="text-297">
            <a:extLst xmlns:a="http://schemas.openxmlformats.org/drawingml/2006/main">
              <a:ext uri="{FF2B5EF4-FFF2-40B4-BE49-F238E27FC236}">
                <a16:creationId xmlns:a16="http://schemas.microsoft.com/office/drawing/2014/main" id="{16F5EEF5-81AB-47CC-8A5C-4F19C0264866}"/>
              </a:ext>
            </a:extLst>
          </p:cNvPr>
          <p:cNvSpPr>
            <a:spLocks xmlns:a="http://schemas.openxmlformats.org/drawingml/2006/main" noGrp="1"/>
          </p:cNvSpPr>
          <p:nvPr/>
        </p:nvSpPr>
        <p:spPr>
          <a:xfrm xmlns:a="http://schemas.openxmlformats.org/drawingml/2006/main">
            <a:off x="695325" y="3267075"/>
            <a:ext cx="3143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1">
                <a:solidFill>
                  <a:srgbClr val="63CDF2"/>
                </a:solidFill>
                <a:latin typeface="Helvetica Neue"/>
                <a:ea typeface="Helvetica Neue"/>
                <a:cs typeface="Helvetica Neue"/>
              </a:defRPr>
            </a:pPr>
            <a:r>
              <a:rPr sz="2550" b="1">
                <a:solidFill>
                  <a:srgbClr val="63CDF2"/>
                </a:solidFill>
                <a:latin typeface="Helvetica Neue"/>
                <a:ea typeface="Helvetica Neue"/>
                <a:cs typeface="Helvetica Neue"/>
              </a:rPr>
              <a:t>Një veprim</a:t>
            </a:r>
          </a:p>
        </p:txBody>
      </p:sp>
      <p:sp>
        <p:nvSpPr>
          <p:cNvPr id="7" name="text-298">
            <a:extLst xmlns:a="http://schemas.openxmlformats.org/drawingml/2006/main">
              <a:ext uri="{FF2B5EF4-FFF2-40B4-BE49-F238E27FC236}">
                <a16:creationId xmlns:a16="http://schemas.microsoft.com/office/drawing/2014/main" id="{2AA76A4D-8BAC-4980-98FA-91415D979402}"/>
              </a:ext>
            </a:extLst>
          </p:cNvPr>
          <p:cNvSpPr>
            <a:spLocks xmlns:a="http://schemas.openxmlformats.org/drawingml/2006/main" noGrp="1"/>
          </p:cNvSpPr>
          <p:nvPr/>
        </p:nvSpPr>
        <p:spPr>
          <a:xfrm xmlns:a="http://schemas.openxmlformats.org/drawingml/2006/main">
            <a:off x="4686300" y="3267075"/>
            <a:ext cx="66484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0">
                <a:solidFill>
                  <a:srgbClr val="F4F2EC"/>
                </a:solidFill>
                <a:latin typeface="Helvetica Neue"/>
                <a:ea typeface="Helvetica Neue"/>
                <a:cs typeface="Helvetica Neue"/>
              </a:defRPr>
            </a:pPr>
            <a:r>
              <a:rPr sz="2550" b="0">
                <a:solidFill>
                  <a:srgbClr val="F4F2EC"/>
                </a:solidFill>
                <a:latin typeface="Helvetica Neue"/>
                <a:ea typeface="Helvetica Neue"/>
                <a:cs typeface="Helvetica Neue"/>
              </a:rPr>
              <a:t>Kërko një vend</a:t>
            </a:r>
          </a:p>
        </p:txBody>
      </p:sp>
      <p:sp>
        <p:nvSpPr>
          <p:cNvPr id="8" name="text-299">
            <a:extLst xmlns:a="http://schemas.openxmlformats.org/drawingml/2006/main">
              <a:ext uri="{FF2B5EF4-FFF2-40B4-BE49-F238E27FC236}">
                <a16:creationId xmlns:a16="http://schemas.microsoft.com/office/drawing/2014/main" id="{40AD60DA-2A51-4E06-9A15-95323658FF93}"/>
              </a:ext>
            </a:extLst>
          </p:cNvPr>
          <p:cNvSpPr>
            <a:spLocks xmlns:a="http://schemas.openxmlformats.org/drawingml/2006/main" noGrp="1"/>
          </p:cNvSpPr>
          <p:nvPr/>
        </p:nvSpPr>
        <p:spPr>
          <a:xfrm xmlns:a="http://schemas.openxmlformats.org/drawingml/2006/main">
            <a:off x="695325" y="4029075"/>
            <a:ext cx="3143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1">
                <a:solidFill>
                  <a:srgbClr val="63CDF2"/>
                </a:solidFill>
                <a:latin typeface="Helvetica Neue"/>
                <a:ea typeface="Helvetica Neue"/>
                <a:cs typeface="Helvetica Neue"/>
              </a:defRPr>
            </a:pPr>
            <a:r>
              <a:rPr sz="2550" b="1">
                <a:solidFill>
                  <a:srgbClr val="63CDF2"/>
                </a:solidFill>
                <a:latin typeface="Helvetica Neue"/>
                <a:ea typeface="Helvetica Neue"/>
                <a:cs typeface="Helvetica Neue"/>
              </a:rPr>
              <a:t>Rregulla</a:t>
            </a:r>
          </a:p>
        </p:txBody>
      </p:sp>
      <p:sp>
        <p:nvSpPr>
          <p:cNvPr id="9" name="text-300">
            <a:extLst xmlns:a="http://schemas.openxmlformats.org/drawingml/2006/main">
              <a:ext uri="{FF2B5EF4-FFF2-40B4-BE49-F238E27FC236}">
                <a16:creationId xmlns:a16="http://schemas.microsoft.com/office/drawing/2014/main" id="{A5F50123-5C2B-4856-B28A-245E79FD2641}"/>
              </a:ext>
            </a:extLst>
          </p:cNvPr>
          <p:cNvSpPr>
            <a:spLocks xmlns:a="http://schemas.openxmlformats.org/drawingml/2006/main" noGrp="1"/>
          </p:cNvSpPr>
          <p:nvPr/>
        </p:nvSpPr>
        <p:spPr>
          <a:xfrm xmlns:a="http://schemas.openxmlformats.org/drawingml/2006/main">
            <a:off x="4686300" y="4029075"/>
            <a:ext cx="674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400" b="0">
                <a:solidFill>
                  <a:srgbClr val="F4F2EC"/>
                </a:solidFill>
                <a:latin typeface="Helvetica Neue"/>
                <a:ea typeface="Helvetica Neue"/>
                <a:cs typeface="Helvetica Neue"/>
              </a:defRPr>
            </a:pPr>
            <a:r>
              <a:rPr sz="2400" b="0">
                <a:solidFill>
                  <a:srgbClr val="F4F2EC"/>
                </a:solidFill>
                <a:latin typeface="Helvetica Neue"/>
                <a:ea typeface="Helvetica Neue"/>
                <a:cs typeface="Helvetica Neue"/>
              </a:rPr>
              <a:t>Identitet i verifikuar, pa dublikatë</a:t>
            </a:r>
          </a:p>
        </p:txBody>
      </p:sp>
      <p:sp>
        <p:nvSpPr>
          <p:cNvPr id="10" name="text-301">
            <a:extLst xmlns:a="http://schemas.openxmlformats.org/drawingml/2006/main">
              <a:ext uri="{FF2B5EF4-FFF2-40B4-BE49-F238E27FC236}">
                <a16:creationId xmlns:a16="http://schemas.microsoft.com/office/drawing/2014/main" id="{A3C4DD9F-EB64-4FEE-80BE-CD18A96B039A}"/>
              </a:ext>
            </a:extLst>
          </p:cNvPr>
          <p:cNvSpPr>
            <a:spLocks xmlns:a="http://schemas.openxmlformats.org/drawingml/2006/main" noGrp="1"/>
          </p:cNvSpPr>
          <p:nvPr/>
        </p:nvSpPr>
        <p:spPr>
          <a:xfrm xmlns:a="http://schemas.openxmlformats.org/drawingml/2006/main">
            <a:off x="695325" y="4848225"/>
            <a:ext cx="3333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1">
                <a:solidFill>
                  <a:srgbClr val="63CDF2"/>
                </a:solidFill>
                <a:latin typeface="Helvetica Neue"/>
                <a:ea typeface="Helvetica Neue"/>
                <a:cs typeface="Helvetica Neue"/>
              </a:defRPr>
            </a:pPr>
            <a:r>
              <a:rPr sz="2550" b="1">
                <a:solidFill>
                  <a:srgbClr val="63CDF2"/>
                </a:solidFill>
                <a:latin typeface="Helvetica Neue"/>
                <a:ea typeface="Helvetica Neue"/>
                <a:cs typeface="Helvetica Neue"/>
              </a:rPr>
              <a:t>Prova dështimi</a:t>
            </a:r>
          </a:p>
        </p:txBody>
      </p:sp>
      <p:sp>
        <p:nvSpPr>
          <p:cNvPr id="11" name="text-302">
            <a:extLst xmlns:a="http://schemas.openxmlformats.org/drawingml/2006/main">
              <a:ext uri="{FF2B5EF4-FFF2-40B4-BE49-F238E27FC236}">
                <a16:creationId xmlns:a16="http://schemas.microsoft.com/office/drawing/2014/main" id="{347869BE-D2CB-4375-A2A4-3AD6A76E0638}"/>
              </a:ext>
            </a:extLst>
          </p:cNvPr>
          <p:cNvSpPr>
            <a:spLocks xmlns:a="http://schemas.openxmlformats.org/drawingml/2006/main" noGrp="1"/>
          </p:cNvSpPr>
          <p:nvPr/>
        </p:nvSpPr>
        <p:spPr>
          <a:xfrm xmlns:a="http://schemas.openxmlformats.org/drawingml/2006/main">
            <a:off x="4686300" y="4848225"/>
            <a:ext cx="674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400" b="0">
                <a:solidFill>
                  <a:srgbClr val="F4F2EC"/>
                </a:solidFill>
                <a:latin typeface="Helvetica Neue"/>
                <a:ea typeface="Helvetica Neue"/>
                <a:cs typeface="Helvetica Neue"/>
              </a:defRPr>
            </a:pPr>
            <a:r>
              <a:rPr sz="2400" b="0">
                <a:solidFill>
                  <a:srgbClr val="F4F2EC"/>
                </a:solidFill>
                <a:latin typeface="Helvetica Neue"/>
                <a:ea typeface="Helvetica Neue"/>
                <a:cs typeface="Helvetica Neue"/>
              </a:rPr>
              <a:t>Përsëritje, qasje e palejuar</a:t>
            </a:r>
          </a:p>
        </p:txBody>
      </p:sp>
      <p:sp>
        <p:nvSpPr>
          <p:cNvPr id="12" name="text-303">
            <a:extLst xmlns:a="http://schemas.openxmlformats.org/drawingml/2006/main">
              <a:ext uri="{FF2B5EF4-FFF2-40B4-BE49-F238E27FC236}">
                <a16:creationId xmlns:a16="http://schemas.microsoft.com/office/drawing/2014/main" id="{960DDD72-5A33-4DB8-894B-C4AFA2B24D2E}"/>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A e zbulon testi një mbrojtje që mungon?</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2faaef6cf63549da"/>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543092969"/>
      </p:ext>
    </p:extLst>
  </p:cSld>
</p:sld>
</file>

<file path=ppt/slides/slide26.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6" name="text-304">
            <a:extLst xmlns:a="http://schemas.openxmlformats.org/drawingml/2006/main">
              <a:ext uri="{FF2B5EF4-FFF2-40B4-BE49-F238E27FC236}">
                <a16:creationId xmlns:a16="http://schemas.microsoft.com/office/drawing/2014/main" id="{74A5E49A-E7D7-4295-9797-29EA7ED928F8}"/>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VLERËSIMI DHE LABORATORI</a:t>
            </a:r>
          </a:p>
        </p:txBody>
      </p:sp>
      <p:sp>
        <p:nvSpPr>
          <p:cNvPr id="2" name="text-305">
            <a:extLst xmlns:a="http://schemas.openxmlformats.org/drawingml/2006/main">
              <a:ext uri="{FF2B5EF4-FFF2-40B4-BE49-F238E27FC236}">
                <a16:creationId xmlns:a16="http://schemas.microsoft.com/office/drawing/2014/main" id="{AB5DAF55-94BD-4DA1-B61D-2EBF4D27D9C9}"/>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26</a:t>
            </a:r>
          </a:p>
        </p:txBody>
      </p:sp>
      <p:sp>
        <p:nvSpPr>
          <p:cNvPr id="3" name="text-306">
            <a:extLst xmlns:a="http://schemas.openxmlformats.org/drawingml/2006/main">
              <a:ext uri="{FF2B5EF4-FFF2-40B4-BE49-F238E27FC236}">
                <a16:creationId xmlns:a16="http://schemas.microsoft.com/office/drawing/2014/main" id="{9E4C6113-B7E3-44E8-AFB6-873EDEB9D092}"/>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Pikët ndjekin provat</a:t>
            </a:r>
          </a:p>
        </p:txBody>
      </p:sp>
      <p:graphicFrame>
        <p:nvGraphicFramePr>
          <p:cNvPr id="12" name="Chart"/>
          <p:cNvGraphicFramePr/>
          <p:nvPr/>
        </p:nvGraphicFramePr>
        <p:xfrm>
          <a:off xmlns:a="http://schemas.openxmlformats.org/drawingml/2006/main" x="609600" y="2028825"/>
          <a:ext xmlns:a="http://schemas.openxmlformats.org/drawingml/2006/main" cx="10972800" cy="3124200"/>
        </p:xfrm>
        <a:graphic xmlns:a="http://schemas.openxmlformats.org/drawingml/2006/main">
          <a:graphicData uri="http://schemas.openxmlformats.org/drawingml/2006/chart">
            <c:chart xmlns:r="http://schemas.openxmlformats.org/officeDocument/2006/relationships" xmlns:c="http://schemas.openxmlformats.org/drawingml/2006/chart" r:id="Ra5480f1dec004572"/>
          </a:graphicData>
        </a:graphic>
      </p:graphicFrame>
      <p:sp>
        <p:nvSpPr>
          <p:cNvPr id="5" name="text-307">
            <a:extLst xmlns:a="http://schemas.openxmlformats.org/drawingml/2006/main">
              <a:ext uri="{FF2B5EF4-FFF2-40B4-BE49-F238E27FC236}">
                <a16:creationId xmlns:a16="http://schemas.microsoft.com/office/drawing/2014/main" id="{41528812-CA43-466F-AF07-455204B0EB08}"/>
              </a:ext>
            </a:extLst>
          </p:cNvPr>
          <p:cNvSpPr>
            <a:spLocks xmlns:a="http://schemas.openxmlformats.org/drawingml/2006/main" noGrp="1"/>
          </p:cNvSpPr>
          <p:nvPr/>
        </p:nvSpPr>
        <p:spPr>
          <a:xfrm xmlns:a="http://schemas.openxmlformats.org/drawingml/2006/main">
            <a:off x="685800" y="5419725"/>
            <a:ext cx="10763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475" b="0">
                <a:solidFill>
                  <a:srgbClr val="AEBFCB"/>
                </a:solidFill>
                <a:latin typeface="Helvetica Neue"/>
                <a:ea typeface="Helvetica Neue"/>
                <a:cs typeface="Helvetica Neue"/>
              </a:defRPr>
            </a:pPr>
            <a:r>
              <a:rPr sz="2475" b="0">
                <a:solidFill>
                  <a:srgbClr val="AEBFCB"/>
                </a:solidFill>
                <a:latin typeface="Helvetica Neue"/>
                <a:ea typeface="Helvetica Neue"/>
                <a:cs typeface="Helvetica Neue"/>
              </a:rPr>
              <a:t>Rubrika publikohet para dorëzimit.</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66087b0c8c04312"/>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2034763955"/>
      </p:ext>
    </p:extLst>
  </p:cSld>
</p:sld>
</file>

<file path=ppt/slides/slide27.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15" name="text-308">
            <a:extLst xmlns:a="http://schemas.openxmlformats.org/drawingml/2006/main">
              <a:ext uri="{FF2B5EF4-FFF2-40B4-BE49-F238E27FC236}">
                <a16:creationId xmlns:a16="http://schemas.microsoft.com/office/drawing/2014/main" id="{C3517ACD-63EE-4C3E-A7BC-F6EC33E14899}"/>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VLERËSIMI DHE LABORATORI</a:t>
            </a:r>
          </a:p>
        </p:txBody>
      </p:sp>
      <p:sp>
        <p:nvSpPr>
          <p:cNvPr id="2" name="text-309">
            <a:extLst xmlns:a="http://schemas.openxmlformats.org/drawingml/2006/main">
              <a:ext uri="{FF2B5EF4-FFF2-40B4-BE49-F238E27FC236}">
                <a16:creationId xmlns:a16="http://schemas.microsoft.com/office/drawing/2014/main" id="{9884BFF5-4FB4-4D4E-A7B3-4C4023D1E740}"/>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27</a:t>
            </a:r>
          </a:p>
        </p:txBody>
      </p:sp>
      <p:sp>
        <p:nvSpPr>
          <p:cNvPr id="3" name="text-310">
            <a:extLst xmlns:a="http://schemas.openxmlformats.org/drawingml/2006/main">
              <a:ext uri="{FF2B5EF4-FFF2-40B4-BE49-F238E27FC236}">
                <a16:creationId xmlns:a16="http://schemas.microsoft.com/office/drawing/2014/main" id="{B891058B-D119-4F2E-9172-B0F4F02DFCCD}"/>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Demonstroni edhe kur dështon</a:t>
            </a:r>
          </a:p>
        </p:txBody>
      </p:sp>
      <p:sp>
        <p:nvSpPr>
          <p:cNvPr id="4" name="text-311">
            <a:extLst xmlns:a="http://schemas.openxmlformats.org/drawingml/2006/main">
              <a:ext uri="{FF2B5EF4-FFF2-40B4-BE49-F238E27FC236}">
                <a16:creationId xmlns:a16="http://schemas.microsoft.com/office/drawing/2014/main" id="{19C6651E-22AB-452C-94E9-3B00838A508D}"/>
              </a:ext>
            </a:extLst>
          </p:cNvPr>
          <p:cNvSpPr>
            <a:spLocks xmlns:a="http://schemas.openxmlformats.org/drawingml/2006/main" noGrp="1"/>
          </p:cNvSpPr>
          <p:nvPr/>
        </p:nvSpPr>
        <p:spPr>
          <a:xfrm xmlns:a="http://schemas.openxmlformats.org/drawingml/2006/main">
            <a:off x="676275" y="1981200"/>
            <a:ext cx="10791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1">
                <a:solidFill>
                  <a:srgbClr val="63CDF2"/>
                </a:solidFill>
                <a:latin typeface="Helvetica Neue"/>
                <a:ea typeface="Helvetica Neue"/>
                <a:cs typeface="Helvetica Neue"/>
              </a:defRPr>
            </a:pPr>
            <a:r>
              <a:rPr sz="2100" b="1">
                <a:solidFill>
                  <a:srgbClr val="63CDF2"/>
                </a:solidFill>
                <a:latin typeface="Helvetica Neue"/>
                <a:ea typeface="Helvetica Neue"/>
                <a:cs typeface="Helvetica Neue"/>
              </a:rPr>
              <a:t>DEMO DAY</a:t>
            </a:r>
          </a:p>
        </p:txBody>
      </p:sp>
      <p:sp>
        <p:nvSpPr>
          <p:cNvPr id="5" name="text-312">
            <a:extLst xmlns:a="http://schemas.openxmlformats.org/drawingml/2006/main">
              <a:ext uri="{FF2B5EF4-FFF2-40B4-BE49-F238E27FC236}">
                <a16:creationId xmlns:a16="http://schemas.microsoft.com/office/drawing/2014/main" id="{BE899B20-BC84-4573-B4B5-BF9C26292986}"/>
              </a:ext>
            </a:extLst>
          </p:cNvPr>
          <p:cNvSpPr>
            <a:spLocks xmlns:a="http://schemas.openxmlformats.org/drawingml/2006/main" noGrp="1"/>
          </p:cNvSpPr>
          <p:nvPr/>
        </p:nvSpPr>
        <p:spPr>
          <a:xfrm xmlns:a="http://schemas.openxmlformats.org/drawingml/2006/main">
            <a:off x="685800" y="2828925"/>
            <a:ext cx="25336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725" b="1">
                <a:solidFill>
                  <a:srgbClr val="F4F2EC"/>
                </a:solidFill>
                <a:latin typeface="Helvetica Neue"/>
                <a:ea typeface="Helvetica Neue"/>
                <a:cs typeface="Helvetica Neue"/>
              </a:defRPr>
            </a:pPr>
            <a:r>
              <a:rPr sz="4725" b="1">
                <a:solidFill>
                  <a:srgbClr val="F4F2EC"/>
                </a:solidFill>
                <a:latin typeface="Helvetica Neue"/>
                <a:ea typeface="Helvetica Neue"/>
                <a:cs typeface="Helvetica Neue"/>
              </a:rPr>
              <a:t>1 min</a:t>
            </a:r>
          </a:p>
        </p:txBody>
      </p:sp>
      <p:sp>
        <p:nvSpPr>
          <p:cNvPr id="6" name="text-313">
            <a:extLst xmlns:a="http://schemas.openxmlformats.org/drawingml/2006/main">
              <a:ext uri="{FF2B5EF4-FFF2-40B4-BE49-F238E27FC236}">
                <a16:creationId xmlns:a16="http://schemas.microsoft.com/office/drawing/2014/main" id="{3C2B5B72-D4D2-4B97-B4DA-7352D1681857}"/>
              </a:ext>
            </a:extLst>
          </p:cNvPr>
          <p:cNvSpPr>
            <a:spLocks xmlns:a="http://schemas.openxmlformats.org/drawingml/2006/main" noGrp="1"/>
          </p:cNvSpPr>
          <p:nvPr/>
        </p:nvSpPr>
        <p:spPr>
          <a:xfrm xmlns:a="http://schemas.openxmlformats.org/drawingml/2006/main">
            <a:off x="685800" y="3962400"/>
            <a:ext cx="2533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0">
                <a:solidFill>
                  <a:srgbClr val="AEBFCB"/>
                </a:solidFill>
                <a:latin typeface="Helvetica Neue"/>
                <a:ea typeface="Helvetica Neue"/>
                <a:cs typeface="Helvetica Neue"/>
              </a:defRPr>
            </a:pPr>
            <a:r>
              <a:rPr sz="2550" b="0">
                <a:solidFill>
                  <a:srgbClr val="AEBFCB"/>
                </a:solidFill>
                <a:latin typeface="Helvetica Neue"/>
                <a:ea typeface="Helvetica Neue"/>
                <a:cs typeface="Helvetica Neue"/>
              </a:rPr>
              <a:t>Problemi</a:t>
            </a:r>
          </a:p>
        </p:txBody>
      </p:sp>
      <p:sp>
        <p:nvSpPr>
          <p:cNvPr id="7" name="text-314">
            <a:extLst xmlns:a="http://schemas.openxmlformats.org/drawingml/2006/main">
              <a:ext uri="{FF2B5EF4-FFF2-40B4-BE49-F238E27FC236}">
                <a16:creationId xmlns:a16="http://schemas.microsoft.com/office/drawing/2014/main" id="{52F0B725-F346-4988-A068-1502C8D2E093}"/>
              </a:ext>
            </a:extLst>
          </p:cNvPr>
          <p:cNvSpPr>
            <a:spLocks xmlns:a="http://schemas.openxmlformats.org/drawingml/2006/main" noGrp="1"/>
          </p:cNvSpPr>
          <p:nvPr/>
        </p:nvSpPr>
        <p:spPr>
          <a:xfrm xmlns:a="http://schemas.openxmlformats.org/drawingml/2006/main">
            <a:off x="3448050" y="2828925"/>
            <a:ext cx="25336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725" b="1">
                <a:solidFill>
                  <a:srgbClr val="F4F2EC"/>
                </a:solidFill>
                <a:latin typeface="Helvetica Neue"/>
                <a:ea typeface="Helvetica Neue"/>
                <a:cs typeface="Helvetica Neue"/>
              </a:defRPr>
            </a:pPr>
            <a:r>
              <a:rPr sz="4725" b="1">
                <a:solidFill>
                  <a:srgbClr val="F4F2EC"/>
                </a:solidFill>
                <a:latin typeface="Helvetica Neue"/>
                <a:ea typeface="Helvetica Neue"/>
                <a:cs typeface="Helvetica Neue"/>
              </a:rPr>
              <a:t>2 min</a:t>
            </a:r>
          </a:p>
        </p:txBody>
      </p:sp>
      <p:sp>
        <p:nvSpPr>
          <p:cNvPr id="8" name="text-315">
            <a:extLst xmlns:a="http://schemas.openxmlformats.org/drawingml/2006/main">
              <a:ext uri="{FF2B5EF4-FFF2-40B4-BE49-F238E27FC236}">
                <a16:creationId xmlns:a16="http://schemas.microsoft.com/office/drawing/2014/main" id="{C36EB162-27F9-4BEE-862E-8115604EF1FF}"/>
              </a:ext>
            </a:extLst>
          </p:cNvPr>
          <p:cNvSpPr>
            <a:spLocks xmlns:a="http://schemas.openxmlformats.org/drawingml/2006/main" noGrp="1"/>
          </p:cNvSpPr>
          <p:nvPr/>
        </p:nvSpPr>
        <p:spPr>
          <a:xfrm xmlns:a="http://schemas.openxmlformats.org/drawingml/2006/main">
            <a:off x="3448050" y="3962400"/>
            <a:ext cx="2533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0">
                <a:solidFill>
                  <a:srgbClr val="AEBFCB"/>
                </a:solidFill>
                <a:latin typeface="Helvetica Neue"/>
                <a:ea typeface="Helvetica Neue"/>
                <a:cs typeface="Helvetica Neue"/>
              </a:defRPr>
            </a:pPr>
            <a:r>
              <a:rPr sz="2550" b="0">
                <a:solidFill>
                  <a:srgbClr val="AEBFCB"/>
                </a:solidFill>
                <a:latin typeface="Helvetica Neue"/>
                <a:ea typeface="Helvetica Neue"/>
                <a:cs typeface="Helvetica Neue"/>
              </a:rPr>
              <a:t>Rrjedha</a:t>
            </a:r>
          </a:p>
        </p:txBody>
      </p:sp>
      <p:sp>
        <p:nvSpPr>
          <p:cNvPr id="9" name="text-316">
            <a:extLst xmlns:a="http://schemas.openxmlformats.org/drawingml/2006/main">
              <a:ext uri="{FF2B5EF4-FFF2-40B4-BE49-F238E27FC236}">
                <a16:creationId xmlns:a16="http://schemas.microsoft.com/office/drawing/2014/main" id="{9344F881-A446-4BD9-95FD-EC6AB4821075}"/>
              </a:ext>
            </a:extLst>
          </p:cNvPr>
          <p:cNvSpPr>
            <a:spLocks xmlns:a="http://schemas.openxmlformats.org/drawingml/2006/main" noGrp="1"/>
          </p:cNvSpPr>
          <p:nvPr/>
        </p:nvSpPr>
        <p:spPr>
          <a:xfrm xmlns:a="http://schemas.openxmlformats.org/drawingml/2006/main">
            <a:off x="6210300" y="2828925"/>
            <a:ext cx="25336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725" b="1">
                <a:solidFill>
                  <a:srgbClr val="F2BB66"/>
                </a:solidFill>
                <a:latin typeface="Helvetica Neue"/>
                <a:ea typeface="Helvetica Neue"/>
                <a:cs typeface="Helvetica Neue"/>
              </a:defRPr>
            </a:pPr>
            <a:r>
              <a:rPr sz="4725" b="1">
                <a:solidFill>
                  <a:srgbClr val="F2BB66"/>
                </a:solidFill>
                <a:latin typeface="Helvetica Neue"/>
                <a:ea typeface="Helvetica Neue"/>
                <a:cs typeface="Helvetica Neue"/>
              </a:rPr>
              <a:t>1 min</a:t>
            </a:r>
          </a:p>
        </p:txBody>
      </p:sp>
      <p:sp>
        <p:nvSpPr>
          <p:cNvPr id="10" name="text-317">
            <a:extLst xmlns:a="http://schemas.openxmlformats.org/drawingml/2006/main">
              <a:ext uri="{FF2B5EF4-FFF2-40B4-BE49-F238E27FC236}">
                <a16:creationId xmlns:a16="http://schemas.microsoft.com/office/drawing/2014/main" id="{1D0F2E12-DC72-410E-BD92-86D1413ABAB7}"/>
              </a:ext>
            </a:extLst>
          </p:cNvPr>
          <p:cNvSpPr>
            <a:spLocks xmlns:a="http://schemas.openxmlformats.org/drawingml/2006/main" noGrp="1"/>
          </p:cNvSpPr>
          <p:nvPr/>
        </p:nvSpPr>
        <p:spPr>
          <a:xfrm xmlns:a="http://schemas.openxmlformats.org/drawingml/2006/main">
            <a:off x="6210300" y="3962400"/>
            <a:ext cx="2533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0">
                <a:solidFill>
                  <a:srgbClr val="AEBFCB"/>
                </a:solidFill>
                <a:latin typeface="Helvetica Neue"/>
                <a:ea typeface="Helvetica Neue"/>
                <a:cs typeface="Helvetica Neue"/>
              </a:defRPr>
            </a:pPr>
            <a:r>
              <a:rPr sz="2550" b="0">
                <a:solidFill>
                  <a:srgbClr val="AEBFCB"/>
                </a:solidFill>
                <a:latin typeface="Helvetica Neue"/>
                <a:ea typeface="Helvetica Neue"/>
                <a:cs typeface="Helvetica Neue"/>
              </a:rPr>
              <a:t>Dështimi</a:t>
            </a:r>
          </a:p>
        </p:txBody>
      </p:sp>
      <p:sp>
        <p:nvSpPr>
          <p:cNvPr id="11" name="text-318">
            <a:extLst xmlns:a="http://schemas.openxmlformats.org/drawingml/2006/main">
              <a:ext uri="{FF2B5EF4-FFF2-40B4-BE49-F238E27FC236}">
                <a16:creationId xmlns:a16="http://schemas.microsoft.com/office/drawing/2014/main" id="{BBDB0C1F-FDE3-4665-ABD8-8799CA3E1763}"/>
              </a:ext>
            </a:extLst>
          </p:cNvPr>
          <p:cNvSpPr>
            <a:spLocks xmlns:a="http://schemas.openxmlformats.org/drawingml/2006/main" noGrp="1"/>
          </p:cNvSpPr>
          <p:nvPr/>
        </p:nvSpPr>
        <p:spPr>
          <a:xfrm xmlns:a="http://schemas.openxmlformats.org/drawingml/2006/main">
            <a:off x="8972550" y="2828925"/>
            <a:ext cx="25336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4725" b="1">
                <a:solidFill>
                  <a:srgbClr val="F4F2EC"/>
                </a:solidFill>
                <a:latin typeface="Helvetica Neue"/>
                <a:ea typeface="Helvetica Neue"/>
                <a:cs typeface="Helvetica Neue"/>
              </a:defRPr>
            </a:pPr>
            <a:r>
              <a:rPr sz="4725" b="1">
                <a:solidFill>
                  <a:srgbClr val="F4F2EC"/>
                </a:solidFill>
                <a:latin typeface="Helvetica Neue"/>
                <a:ea typeface="Helvetica Neue"/>
                <a:cs typeface="Helvetica Neue"/>
              </a:rPr>
              <a:t>1 min</a:t>
            </a:r>
          </a:p>
        </p:txBody>
      </p:sp>
      <p:sp>
        <p:nvSpPr>
          <p:cNvPr id="12" name="text-319">
            <a:extLst xmlns:a="http://schemas.openxmlformats.org/drawingml/2006/main">
              <a:ext uri="{FF2B5EF4-FFF2-40B4-BE49-F238E27FC236}">
                <a16:creationId xmlns:a16="http://schemas.microsoft.com/office/drawing/2014/main" id="{0AD6F868-9D72-4EF5-B58E-ECF2F0053793}"/>
              </a:ext>
            </a:extLst>
          </p:cNvPr>
          <p:cNvSpPr>
            <a:spLocks xmlns:a="http://schemas.openxmlformats.org/drawingml/2006/main" noGrp="1"/>
          </p:cNvSpPr>
          <p:nvPr/>
        </p:nvSpPr>
        <p:spPr>
          <a:xfrm xmlns:a="http://schemas.openxmlformats.org/drawingml/2006/main">
            <a:off x="8972550" y="3962400"/>
            <a:ext cx="25336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550" b="0">
                <a:solidFill>
                  <a:srgbClr val="AEBFCB"/>
                </a:solidFill>
                <a:latin typeface="Helvetica Neue"/>
                <a:ea typeface="Helvetica Neue"/>
                <a:cs typeface="Helvetica Neue"/>
              </a:defRPr>
            </a:pPr>
            <a:r>
              <a:rPr sz="2550" b="0">
                <a:solidFill>
                  <a:srgbClr val="AEBFCB"/>
                </a:solidFill>
                <a:latin typeface="Helvetica Neue"/>
                <a:ea typeface="Helvetica Neue"/>
                <a:cs typeface="Helvetica Neue"/>
              </a:rPr>
              <a:t>Vendimi</a:t>
            </a:r>
          </a:p>
        </p:txBody>
      </p:sp>
      <p:sp>
        <p:nvSpPr>
          <p:cNvPr id="13" name="text-320">
            <a:extLst xmlns:a="http://schemas.openxmlformats.org/drawingml/2006/main">
              <a:ext uri="{FF2B5EF4-FFF2-40B4-BE49-F238E27FC236}">
                <a16:creationId xmlns:a16="http://schemas.microsoft.com/office/drawing/2014/main" id="{596BD34C-E221-442F-8018-CF09D4A5E144}"/>
              </a:ext>
            </a:extLst>
          </p:cNvPr>
          <p:cNvSpPr>
            <a:spLocks xmlns:a="http://schemas.openxmlformats.org/drawingml/2006/main" noGrp="1"/>
          </p:cNvSpPr>
          <p:nvPr/>
        </p:nvSpPr>
        <p:spPr>
          <a:xfrm xmlns:a="http://schemas.openxmlformats.org/drawingml/2006/main">
            <a:off x="685800" y="5124450"/>
            <a:ext cx="10810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700" b="0">
                <a:solidFill>
                  <a:srgbClr val="F4F2EC"/>
                </a:solidFill>
                <a:latin typeface="Helvetica Neue"/>
                <a:ea typeface="Helvetica Neue"/>
                <a:cs typeface="Helvetica Neue"/>
              </a:defRPr>
            </a:pPr>
            <a:r>
              <a:rPr sz="2700" b="0">
                <a:solidFill>
                  <a:srgbClr val="F4F2EC"/>
                </a:solidFill>
                <a:latin typeface="Helvetica Neue"/>
                <a:ea typeface="Helvetica Neue"/>
                <a:cs typeface="Helvetica Neue"/>
              </a:rPr>
              <a:t>Pastaj: pyetjet e jurisë dhe mbrojtja individuale</a:t>
            </a:r>
          </a:p>
        </p:txBody>
      </p:sp>
      <p:sp>
        <p:nvSpPr>
          <p:cNvPr id="14" name="text-321">
            <a:extLst xmlns:a="http://schemas.openxmlformats.org/drawingml/2006/main">
              <a:ext uri="{FF2B5EF4-FFF2-40B4-BE49-F238E27FC236}">
                <a16:creationId xmlns:a16="http://schemas.microsoft.com/office/drawing/2014/main" id="{531BD16E-B5AB-4C09-A05A-B5BD8BCE93AA}"/>
              </a:ext>
            </a:extLst>
          </p:cNvPr>
          <p:cNvSpPr>
            <a:spLocks xmlns:a="http://schemas.openxmlformats.org/drawingml/2006/main" noGrp="1"/>
          </p:cNvSpPr>
          <p:nvPr/>
        </p:nvSpPr>
        <p:spPr>
          <a:xfrm xmlns:a="http://schemas.openxmlformats.org/drawingml/2006/main">
            <a:off x="609600" y="5943600"/>
            <a:ext cx="10763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63CDF2"/>
                </a:solidFill>
                <a:latin typeface="Helvetica Neue"/>
                <a:ea typeface="Helvetica Neue"/>
                <a:cs typeface="Helvetica Neue"/>
              </a:defRPr>
            </a:pPr>
            <a:r>
              <a:rPr sz="2100" b="0">
                <a:solidFill>
                  <a:srgbClr val="63CDF2"/>
                </a:solidFill>
                <a:latin typeface="Helvetica Neue"/>
                <a:ea typeface="Helvetica Neue"/>
                <a:cs typeface="Helvetica Neue"/>
              </a:rPr>
              <a:t>Çfarë do të provonte dështimi që zgjodhët?</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6283e919e6d64c50"/>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206569021"/>
      </p:ext>
    </p:extLst>
  </p:cSld>
</p:sld>
</file>

<file path=ppt/slides/slide28.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18" name="text-322">
            <a:extLst xmlns:a="http://schemas.openxmlformats.org/drawingml/2006/main">
              <a:ext uri="{FF2B5EF4-FFF2-40B4-BE49-F238E27FC236}">
                <a16:creationId xmlns:a16="http://schemas.microsoft.com/office/drawing/2014/main" id="{2B8D0060-4B12-4917-8C25-3412BE0B177C}"/>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VLERËSIMI DHE LABORATORI</a:t>
            </a:r>
          </a:p>
        </p:txBody>
      </p:sp>
      <p:sp>
        <p:nvSpPr>
          <p:cNvPr id="2" name="text-323">
            <a:extLst xmlns:a="http://schemas.openxmlformats.org/drawingml/2006/main">
              <a:ext uri="{FF2B5EF4-FFF2-40B4-BE49-F238E27FC236}">
                <a16:creationId xmlns:a16="http://schemas.microsoft.com/office/drawing/2014/main" id="{3BB9D33B-900D-408D-BD55-5E4C5F7B43B7}"/>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28</a:t>
            </a:r>
          </a:p>
        </p:txBody>
      </p:sp>
      <p:sp>
        <p:nvSpPr>
          <p:cNvPr id="3" name="text-324">
            <a:extLst xmlns:a="http://schemas.openxmlformats.org/drawingml/2006/main">
              <a:ext uri="{FF2B5EF4-FFF2-40B4-BE49-F238E27FC236}">
                <a16:creationId xmlns:a16="http://schemas.microsoft.com/office/drawing/2014/main" id="{B9135C51-4225-4FDF-B1FA-530FB060F4BC}"/>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Ndryshimi juaj, në telefon</a:t>
            </a:r>
          </a:p>
        </p:txBody>
      </p:sp>
      <p:sp>
        <p:nvSpPr>
          <p:cNvPr id="4" name="text-325">
            <a:extLst xmlns:a="http://schemas.openxmlformats.org/drawingml/2006/main">
              <a:ext uri="{FF2B5EF4-FFF2-40B4-BE49-F238E27FC236}">
                <a16:creationId xmlns:a16="http://schemas.microsoft.com/office/drawing/2014/main" id="{C627B1BC-1B7D-4C75-8502-008D43C7718C}"/>
              </a:ext>
            </a:extLst>
          </p:cNvPr>
          <p:cNvSpPr>
            <a:spLocks xmlns:a="http://schemas.openxmlformats.org/drawingml/2006/main" noGrp="1"/>
          </p:cNvSpPr>
          <p:nvPr/>
        </p:nvSpPr>
        <p:spPr>
          <a:xfrm xmlns:a="http://schemas.openxmlformats.org/drawingml/2006/main">
            <a:off x="647700" y="1971675"/>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025" b="1">
                <a:solidFill>
                  <a:srgbClr val="63CDF2"/>
                </a:solidFill>
                <a:latin typeface="Helvetica Neue"/>
                <a:ea typeface="Helvetica Neue"/>
                <a:cs typeface="Helvetica Neue"/>
              </a:defRPr>
            </a:pPr>
            <a:r>
              <a:rPr sz="2025" b="1">
                <a:solidFill>
                  <a:srgbClr val="63CDF2"/>
                </a:solidFill>
                <a:latin typeface="Helvetica Neue"/>
                <a:ea typeface="Helvetica Neue"/>
                <a:cs typeface="Helvetica Neue"/>
              </a:rPr>
              <a:t>JAVA 2: PUBLIKIMI I PARË</a:t>
            </a:r>
          </a:p>
        </p:txBody>
      </p:sp>
      <p:sp>
        <p:nvSpPr>
          <p:cNvPr id="5" name="text-326">
            <a:extLst xmlns:a="http://schemas.openxmlformats.org/drawingml/2006/main">
              <a:ext uri="{FF2B5EF4-FFF2-40B4-BE49-F238E27FC236}">
                <a16:creationId xmlns:a16="http://schemas.microsoft.com/office/drawing/2014/main" id="{BB2B93F0-5900-4FA3-95E8-2A0D3F713580}"/>
              </a:ext>
            </a:extLst>
          </p:cNvPr>
          <p:cNvSpPr>
            <a:spLocks xmlns:a="http://schemas.openxmlformats.org/drawingml/2006/main" noGrp="1"/>
          </p:cNvSpPr>
          <p:nvPr/>
        </p:nvSpPr>
        <p:spPr>
          <a:xfrm xmlns:a="http://schemas.openxmlformats.org/drawingml/2006/main">
            <a:off x="685800" y="2867025"/>
            <a:ext cx="2362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675" b="1">
                <a:solidFill>
                  <a:srgbClr val="F4F2EC"/>
                </a:solidFill>
                <a:latin typeface="Helvetica Neue"/>
                <a:ea typeface="Helvetica Neue"/>
                <a:cs typeface="Helvetica Neue"/>
              </a:defRPr>
            </a:pPr>
            <a:r>
              <a:rPr sz="3675" b="1">
                <a:solidFill>
                  <a:srgbClr val="F4F2EC"/>
                </a:solidFill>
                <a:latin typeface="Helvetica Neue"/>
                <a:ea typeface="Helvetica Neue"/>
                <a:cs typeface="Helvetica Neue"/>
              </a:rPr>
              <a:t>Repo</a:t>
            </a:r>
          </a:p>
        </p:txBody>
      </p:sp>
      <p:sp>
        <p:nvSpPr>
          <p:cNvPr id="6" name="text-327">
            <a:extLst xmlns:a="http://schemas.openxmlformats.org/drawingml/2006/main">
              <a:ext uri="{FF2B5EF4-FFF2-40B4-BE49-F238E27FC236}">
                <a16:creationId xmlns:a16="http://schemas.microsoft.com/office/drawing/2014/main" id="{3FA07598-CAE8-4E50-80AB-32698EC3D2F6}"/>
              </a:ext>
            </a:extLst>
          </p:cNvPr>
          <p:cNvSpPr>
            <a:spLocks xmlns:a="http://schemas.openxmlformats.org/drawingml/2006/main" noGrp="1"/>
          </p:cNvSpPr>
          <p:nvPr/>
        </p:nvSpPr>
        <p:spPr>
          <a:xfrm xmlns:a="http://schemas.openxmlformats.org/drawingml/2006/main">
            <a:off x="685800" y="3829050"/>
            <a:ext cx="2438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AEBFCB"/>
                </a:solidFill>
                <a:latin typeface="Helvetica Neue"/>
                <a:ea typeface="Helvetica Neue"/>
                <a:cs typeface="Helvetica Neue"/>
              </a:defRPr>
            </a:pPr>
            <a:r>
              <a:rPr sz="2100" b="0">
                <a:solidFill>
                  <a:srgbClr val="AEBFCB"/>
                </a:solidFill>
                <a:latin typeface="Helvetica Neue"/>
                <a:ea typeface="Helvetica Neue"/>
                <a:cs typeface="Helvetica Neue"/>
              </a:rPr>
              <a:t>0–10 min</a:t>
            </a:r>
          </a:p>
        </p:txBody>
      </p:sp>
      <p:sp>
        <p:nvSpPr>
          <p:cNvPr id="7" name="flow-328">
            <a:extLst xmlns:a="http://schemas.openxmlformats.org/drawingml/2006/main">
              <a:ext uri="{FF2B5EF4-FFF2-40B4-BE49-F238E27FC236}">
                <a16:creationId xmlns:a16="http://schemas.microsoft.com/office/drawing/2014/main" id="{5DA913B9-CF5D-48F7-A1C3-C722ED4A693A}"/>
              </a:ext>
            </a:extLst>
          </p:cNvPr>
          <p:cNvSpPr>
            <a:spLocks xmlns:a="http://schemas.openxmlformats.org/drawingml/2006/main" noGrp="1"/>
          </p:cNvSpPr>
          <p:nvPr/>
        </p:nvSpPr>
        <p:spPr>
          <a:xfrm xmlns:a="http://schemas.openxmlformats.org/drawingml/2006/main">
            <a:off x="2933700" y="3124200"/>
            <a:ext cx="30480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8" name="text-329">
            <a:extLst xmlns:a="http://schemas.openxmlformats.org/drawingml/2006/main">
              <a:ext uri="{FF2B5EF4-FFF2-40B4-BE49-F238E27FC236}">
                <a16:creationId xmlns:a16="http://schemas.microsoft.com/office/drawing/2014/main" id="{5CA97FD0-4FC5-4F85-B865-2ED4ACDB2271}"/>
              </a:ext>
            </a:extLst>
          </p:cNvPr>
          <p:cNvSpPr>
            <a:spLocks xmlns:a="http://schemas.openxmlformats.org/drawingml/2006/main" noGrp="1"/>
          </p:cNvSpPr>
          <p:nvPr/>
        </p:nvSpPr>
        <p:spPr>
          <a:xfrm xmlns:a="http://schemas.openxmlformats.org/drawingml/2006/main">
            <a:off x="3448050" y="2867025"/>
            <a:ext cx="2362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675" b="1">
                <a:solidFill>
                  <a:srgbClr val="F4F2EC"/>
                </a:solidFill>
                <a:latin typeface="Helvetica Neue"/>
                <a:ea typeface="Helvetica Neue"/>
                <a:cs typeface="Helvetica Neue"/>
              </a:defRPr>
            </a:pPr>
            <a:r>
              <a:rPr sz="3675" b="1">
                <a:solidFill>
                  <a:srgbClr val="F4F2EC"/>
                </a:solidFill>
                <a:latin typeface="Helvetica Neue"/>
                <a:ea typeface="Helvetica Neue"/>
                <a:cs typeface="Helvetica Neue"/>
              </a:rPr>
              <a:t>Commit</a:t>
            </a:r>
          </a:p>
        </p:txBody>
      </p:sp>
      <p:sp>
        <p:nvSpPr>
          <p:cNvPr id="9" name="text-330">
            <a:extLst xmlns:a="http://schemas.openxmlformats.org/drawingml/2006/main">
              <a:ext uri="{FF2B5EF4-FFF2-40B4-BE49-F238E27FC236}">
                <a16:creationId xmlns:a16="http://schemas.microsoft.com/office/drawing/2014/main" id="{B412443B-BFF8-4099-A7DD-EA9E0889573E}"/>
              </a:ext>
            </a:extLst>
          </p:cNvPr>
          <p:cNvSpPr>
            <a:spLocks xmlns:a="http://schemas.openxmlformats.org/drawingml/2006/main" noGrp="1"/>
          </p:cNvSpPr>
          <p:nvPr/>
        </p:nvSpPr>
        <p:spPr>
          <a:xfrm xmlns:a="http://schemas.openxmlformats.org/drawingml/2006/main">
            <a:off x="3448050" y="3829050"/>
            <a:ext cx="2438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AEBFCB"/>
                </a:solidFill>
                <a:latin typeface="Helvetica Neue"/>
                <a:ea typeface="Helvetica Neue"/>
                <a:cs typeface="Helvetica Neue"/>
              </a:defRPr>
            </a:pPr>
            <a:r>
              <a:rPr sz="2100" b="0">
                <a:solidFill>
                  <a:srgbClr val="AEBFCB"/>
                </a:solidFill>
                <a:latin typeface="Helvetica Neue"/>
                <a:ea typeface="Helvetica Neue"/>
                <a:cs typeface="Helvetica Neue"/>
              </a:rPr>
              <a:t>10–20 min</a:t>
            </a:r>
          </a:p>
        </p:txBody>
      </p:sp>
      <p:sp>
        <p:nvSpPr>
          <p:cNvPr id="10" name="flow-331">
            <a:extLst xmlns:a="http://schemas.openxmlformats.org/drawingml/2006/main">
              <a:ext uri="{FF2B5EF4-FFF2-40B4-BE49-F238E27FC236}">
                <a16:creationId xmlns:a16="http://schemas.microsoft.com/office/drawing/2014/main" id="{9998EA0D-6988-4F66-A289-156FA73AC7F3}"/>
              </a:ext>
            </a:extLst>
          </p:cNvPr>
          <p:cNvSpPr>
            <a:spLocks xmlns:a="http://schemas.openxmlformats.org/drawingml/2006/main" noGrp="1"/>
          </p:cNvSpPr>
          <p:nvPr/>
        </p:nvSpPr>
        <p:spPr>
          <a:xfrm xmlns:a="http://schemas.openxmlformats.org/drawingml/2006/main">
            <a:off x="5695950" y="3124200"/>
            <a:ext cx="30480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1" name="text-332">
            <a:extLst xmlns:a="http://schemas.openxmlformats.org/drawingml/2006/main">
              <a:ext uri="{FF2B5EF4-FFF2-40B4-BE49-F238E27FC236}">
                <a16:creationId xmlns:a16="http://schemas.microsoft.com/office/drawing/2014/main" id="{78A3D9C4-CF12-46B8-800E-70B376CA4A92}"/>
              </a:ext>
            </a:extLst>
          </p:cNvPr>
          <p:cNvSpPr>
            <a:spLocks xmlns:a="http://schemas.openxmlformats.org/drawingml/2006/main" noGrp="1"/>
          </p:cNvSpPr>
          <p:nvPr/>
        </p:nvSpPr>
        <p:spPr>
          <a:xfrm xmlns:a="http://schemas.openxmlformats.org/drawingml/2006/main">
            <a:off x="6210300" y="2867025"/>
            <a:ext cx="2362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675" b="1">
                <a:solidFill>
                  <a:srgbClr val="F4F2EC"/>
                </a:solidFill>
                <a:latin typeface="Helvetica Neue"/>
                <a:ea typeface="Helvetica Neue"/>
                <a:cs typeface="Helvetica Neue"/>
              </a:defRPr>
            </a:pPr>
            <a:r>
              <a:rPr sz="3675" b="1">
                <a:solidFill>
                  <a:srgbClr val="F4F2EC"/>
                </a:solidFill>
                <a:latin typeface="Helvetica Neue"/>
                <a:ea typeface="Helvetica Neue"/>
                <a:cs typeface="Helvetica Neue"/>
              </a:rPr>
              <a:t>Deploy</a:t>
            </a:r>
          </a:p>
        </p:txBody>
      </p:sp>
      <p:sp>
        <p:nvSpPr>
          <p:cNvPr id="12" name="text-333">
            <a:extLst xmlns:a="http://schemas.openxmlformats.org/drawingml/2006/main">
              <a:ext uri="{FF2B5EF4-FFF2-40B4-BE49-F238E27FC236}">
                <a16:creationId xmlns:a16="http://schemas.microsoft.com/office/drawing/2014/main" id="{590FB988-82D3-44B7-8A30-C6865989E7A9}"/>
              </a:ext>
            </a:extLst>
          </p:cNvPr>
          <p:cNvSpPr>
            <a:spLocks xmlns:a="http://schemas.openxmlformats.org/drawingml/2006/main" noGrp="1"/>
          </p:cNvSpPr>
          <p:nvPr/>
        </p:nvSpPr>
        <p:spPr>
          <a:xfrm xmlns:a="http://schemas.openxmlformats.org/drawingml/2006/main">
            <a:off x="6210300" y="3829050"/>
            <a:ext cx="2438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AEBFCB"/>
                </a:solidFill>
                <a:latin typeface="Helvetica Neue"/>
                <a:ea typeface="Helvetica Neue"/>
                <a:cs typeface="Helvetica Neue"/>
              </a:defRPr>
            </a:pPr>
            <a:r>
              <a:rPr sz="2100" b="0">
                <a:solidFill>
                  <a:srgbClr val="AEBFCB"/>
                </a:solidFill>
                <a:latin typeface="Helvetica Neue"/>
                <a:ea typeface="Helvetica Neue"/>
                <a:cs typeface="Helvetica Neue"/>
              </a:rPr>
              <a:t>20–35 min</a:t>
            </a:r>
          </a:p>
        </p:txBody>
      </p:sp>
      <p:sp>
        <p:nvSpPr>
          <p:cNvPr id="13" name="flow-334">
            <a:extLst xmlns:a="http://schemas.openxmlformats.org/drawingml/2006/main">
              <a:ext uri="{FF2B5EF4-FFF2-40B4-BE49-F238E27FC236}">
                <a16:creationId xmlns:a16="http://schemas.microsoft.com/office/drawing/2014/main" id="{5105AEA6-0110-42C9-AA11-59A9327ABD47}"/>
              </a:ext>
            </a:extLst>
          </p:cNvPr>
          <p:cNvSpPr>
            <a:spLocks xmlns:a="http://schemas.openxmlformats.org/drawingml/2006/main" noGrp="1"/>
          </p:cNvSpPr>
          <p:nvPr/>
        </p:nvSpPr>
        <p:spPr>
          <a:xfrm xmlns:a="http://schemas.openxmlformats.org/drawingml/2006/main">
            <a:off x="8458200" y="3124200"/>
            <a:ext cx="304800" cy="171450"/>
          </a:xfrm>
          <a:prstGeom xmlns:a="http://schemas.openxmlformats.org/drawingml/2006/main" prst="rightArrow">
            <a:avLst/>
          </a:prstGeom>
          <a:solidFill xmlns:a="http://schemas.openxmlformats.org/drawingml/2006/main">
            <a:srgbClr val="63CDF2"/>
          </a:solidFill>
          <a:ln xmlns:a="http://schemas.openxmlformats.org/drawingml/2006/main" w="0">
            <a:noFill/>
          </a:ln>
        </p:spPr>
      </p:sp>
      <p:sp>
        <p:nvSpPr>
          <p:cNvPr id="14" name="text-335">
            <a:extLst xmlns:a="http://schemas.openxmlformats.org/drawingml/2006/main">
              <a:ext uri="{FF2B5EF4-FFF2-40B4-BE49-F238E27FC236}">
                <a16:creationId xmlns:a16="http://schemas.microsoft.com/office/drawing/2014/main" id="{7DC2E976-1BB1-47BF-BA47-6E680CC79CEE}"/>
              </a:ext>
            </a:extLst>
          </p:cNvPr>
          <p:cNvSpPr>
            <a:spLocks xmlns:a="http://schemas.openxmlformats.org/drawingml/2006/main" noGrp="1"/>
          </p:cNvSpPr>
          <p:nvPr/>
        </p:nvSpPr>
        <p:spPr>
          <a:xfrm xmlns:a="http://schemas.openxmlformats.org/drawingml/2006/main">
            <a:off x="8972550" y="2867025"/>
            <a:ext cx="2362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675" b="1">
                <a:solidFill>
                  <a:srgbClr val="F4F2EC"/>
                </a:solidFill>
                <a:latin typeface="Helvetica Neue"/>
                <a:ea typeface="Helvetica Neue"/>
                <a:cs typeface="Helvetica Neue"/>
              </a:defRPr>
            </a:pPr>
            <a:r>
              <a:rPr sz="3675" b="1">
                <a:solidFill>
                  <a:srgbClr val="F4F2EC"/>
                </a:solidFill>
                <a:latin typeface="Helvetica Neue"/>
                <a:ea typeface="Helvetica Neue"/>
                <a:cs typeface="Helvetica Neue"/>
              </a:rPr>
              <a:t>Telefon</a:t>
            </a:r>
          </a:p>
        </p:txBody>
      </p:sp>
      <p:sp>
        <p:nvSpPr>
          <p:cNvPr id="15" name="text-336">
            <a:extLst xmlns:a="http://schemas.openxmlformats.org/drawingml/2006/main">
              <a:ext uri="{FF2B5EF4-FFF2-40B4-BE49-F238E27FC236}">
                <a16:creationId xmlns:a16="http://schemas.microsoft.com/office/drawing/2014/main" id="{017BC553-2884-4219-938C-C1BAA44C4EAB}"/>
              </a:ext>
            </a:extLst>
          </p:cNvPr>
          <p:cNvSpPr>
            <a:spLocks xmlns:a="http://schemas.openxmlformats.org/drawingml/2006/main" noGrp="1"/>
          </p:cNvSpPr>
          <p:nvPr/>
        </p:nvSpPr>
        <p:spPr>
          <a:xfrm xmlns:a="http://schemas.openxmlformats.org/drawingml/2006/main">
            <a:off x="8972550" y="3829050"/>
            <a:ext cx="2438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100" b="0">
                <a:solidFill>
                  <a:srgbClr val="AEBFCB"/>
                </a:solidFill>
                <a:latin typeface="Helvetica Neue"/>
                <a:ea typeface="Helvetica Neue"/>
                <a:cs typeface="Helvetica Neue"/>
              </a:defRPr>
            </a:pPr>
            <a:r>
              <a:rPr sz="2100" b="0">
                <a:solidFill>
                  <a:srgbClr val="AEBFCB"/>
                </a:solidFill>
                <a:latin typeface="Helvetica Neue"/>
                <a:ea typeface="Helvetica Neue"/>
                <a:cs typeface="Helvetica Neue"/>
              </a:rPr>
              <a:t>35–45 min</a:t>
            </a:r>
          </a:p>
        </p:txBody>
      </p:sp>
      <p:sp>
        <p:nvSpPr>
          <p:cNvPr id="16" name="text-337">
            <a:extLst xmlns:a="http://schemas.openxmlformats.org/drawingml/2006/main">
              <a:ext uri="{FF2B5EF4-FFF2-40B4-BE49-F238E27FC236}">
                <a16:creationId xmlns:a16="http://schemas.microsoft.com/office/drawing/2014/main" id="{3E5A6713-8ED9-47C0-94EA-A242E87F2754}"/>
              </a:ext>
            </a:extLst>
          </p:cNvPr>
          <p:cNvSpPr>
            <a:spLocks xmlns:a="http://schemas.openxmlformats.org/drawingml/2006/main" noGrp="1"/>
          </p:cNvSpPr>
          <p:nvPr/>
        </p:nvSpPr>
        <p:spPr>
          <a:xfrm xmlns:a="http://schemas.openxmlformats.org/drawingml/2006/main">
            <a:off x="695325" y="4914900"/>
            <a:ext cx="10763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925" b="1">
                <a:solidFill>
                  <a:srgbClr val="91DEBB"/>
                </a:solidFill>
                <a:latin typeface="Helvetica Neue"/>
                <a:ea typeface="Helvetica Neue"/>
                <a:cs typeface="Helvetica Neue"/>
              </a:defRPr>
            </a:pPr>
            <a:r>
              <a:rPr sz="2925" b="1">
                <a:solidFill>
                  <a:srgbClr val="91DEBB"/>
                </a:solidFill>
                <a:latin typeface="Helvetica Neue"/>
                <a:ea typeface="Helvetica Neue"/>
                <a:cs typeface="Helvetica Neue"/>
              </a:rPr>
              <a:t>Prova: një ndryshim i dytë, i dukshëm në telefon.</a:t>
            </a:r>
          </a:p>
        </p:txBody>
      </p:sp>
      <p:sp>
        <p:nvSpPr>
          <p:cNvPr id="17" name="text-338">
            <a:extLst xmlns:a="http://schemas.openxmlformats.org/drawingml/2006/main">
              <a:ext uri="{FF2B5EF4-FFF2-40B4-BE49-F238E27FC236}">
                <a16:creationId xmlns:a16="http://schemas.microsoft.com/office/drawing/2014/main" id="{3FD56265-CA8B-4650-BEB9-C46E17AC08DD}"/>
              </a:ext>
            </a:extLst>
          </p:cNvPr>
          <p:cNvSpPr>
            <a:spLocks xmlns:a="http://schemas.openxmlformats.org/drawingml/2006/main" noGrp="1"/>
          </p:cNvSpPr>
          <p:nvPr/>
        </p:nvSpPr>
        <p:spPr>
          <a:xfrm xmlns:a="http://schemas.openxmlformats.org/drawingml/2006/main">
            <a:off x="609600" y="596265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950" b="0">
                <a:solidFill>
                  <a:srgbClr val="AEBFCB"/>
                </a:solidFill>
                <a:latin typeface="Helvetica Neue"/>
                <a:ea typeface="Helvetica Neue"/>
                <a:cs typeface="Helvetica Neue"/>
              </a:defRPr>
            </a:pPr>
            <a:r>
              <a:rPr sz="1950" b="0">
                <a:solidFill>
                  <a:srgbClr val="AEBFCB"/>
                </a:solidFill>
                <a:latin typeface="Helvetica Neue"/>
                <a:ea typeface="Helvetica Neue"/>
                <a:cs typeface="Helvetica Neue"/>
              </a:rPr>
              <a:t>24 shtator: segmenti hyrës i ushtrimeve. Vazhdoni në aplikacionin tuaj.</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0e9f8901551f4f7f"/>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1150682099"/>
      </p:ext>
    </p:extLst>
  </p:cSld>
</p:sld>
</file>

<file path=ppt/slides/slide29.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10" name="text-339">
            <a:extLst xmlns:a="http://schemas.openxmlformats.org/drawingml/2006/main">
              <a:ext uri="{FF2B5EF4-FFF2-40B4-BE49-F238E27FC236}">
                <a16:creationId xmlns:a16="http://schemas.microsoft.com/office/drawing/2014/main" id="{8827077C-A6D8-4D32-9F27-55A96C20F068}"/>
              </a:ext>
            </a:extLst>
          </p:cNvPr>
          <p:cNvSpPr>
            <a:spLocks xmlns:a="http://schemas.openxmlformats.org/drawingml/2006/main" noGrp="1"/>
          </p:cNvSpPr>
          <p:nvPr/>
        </p:nvSpPr>
        <p:spPr>
          <a:xfrm xmlns:a="http://schemas.openxmlformats.org/drawingml/2006/main">
            <a:off x="609600" y="285750"/>
            <a:ext cx="971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425" b="1">
                <a:solidFill>
                  <a:srgbClr val="63CDF2"/>
                </a:solidFill>
                <a:latin typeface="Helvetica Neue"/>
                <a:ea typeface="Helvetica Neue"/>
                <a:cs typeface="Helvetica Neue"/>
              </a:defRPr>
            </a:pPr>
            <a:r>
              <a:rPr sz="1425" b="1">
                <a:solidFill>
                  <a:srgbClr val="63CDF2"/>
                </a:solidFill>
                <a:latin typeface="Helvetica Neue"/>
                <a:ea typeface="Helvetica Neue"/>
                <a:cs typeface="Helvetica Neue"/>
              </a:rPr>
              <a:t>REFLEKTIMI</a:t>
            </a:r>
          </a:p>
        </p:txBody>
      </p:sp>
      <p:sp>
        <p:nvSpPr>
          <p:cNvPr id="2" name="text-340">
            <a:extLst xmlns:a="http://schemas.openxmlformats.org/drawingml/2006/main">
              <a:ext uri="{FF2B5EF4-FFF2-40B4-BE49-F238E27FC236}">
                <a16:creationId xmlns:a16="http://schemas.microsoft.com/office/drawing/2014/main" id="{59FB8CA1-91D1-462A-8DEA-7DB999048A2A}"/>
              </a:ext>
            </a:extLst>
          </p:cNvPr>
          <p:cNvSpPr>
            <a:spLocks xmlns:a="http://schemas.openxmlformats.org/drawingml/2006/main" noGrp="1"/>
          </p:cNvSpPr>
          <p:nvPr/>
        </p:nvSpPr>
        <p:spPr>
          <a:xfrm xmlns:a="http://schemas.openxmlformats.org/drawingml/2006/main">
            <a:off x="10953750" y="285750"/>
            <a:ext cx="628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buNone/>
              <a:defRPr sz="1500" b="0">
                <a:solidFill>
                  <a:srgbClr val="AEBFCB"/>
                </a:solidFill>
                <a:latin typeface="Helvetica Neue"/>
                <a:ea typeface="Helvetica Neue"/>
                <a:cs typeface="Helvetica Neue"/>
              </a:defRPr>
            </a:pPr>
            <a:r>
              <a:rPr sz="1500" b="0">
                <a:solidFill>
                  <a:srgbClr val="AEBFCB"/>
                </a:solidFill>
                <a:latin typeface="Helvetica Neue"/>
                <a:ea typeface="Helvetica Neue"/>
                <a:cs typeface="Helvetica Neue"/>
              </a:rPr>
              <a:t>29</a:t>
            </a:r>
          </a:p>
        </p:txBody>
      </p:sp>
      <p:sp>
        <p:nvSpPr>
          <p:cNvPr id="3" name="text-341">
            <a:extLst xmlns:a="http://schemas.openxmlformats.org/drawingml/2006/main">
              <a:ext uri="{FF2B5EF4-FFF2-40B4-BE49-F238E27FC236}">
                <a16:creationId xmlns:a16="http://schemas.microsoft.com/office/drawing/2014/main" id="{1EBF6ABA-F00C-4AA0-B277-9CC8FB6960A1}"/>
              </a:ext>
            </a:extLst>
          </p:cNvPr>
          <p:cNvSpPr>
            <a:spLocks xmlns:a="http://schemas.openxmlformats.org/drawingml/2006/main" noGrp="1"/>
          </p:cNvSpPr>
          <p:nvPr/>
        </p:nvSpPr>
        <p:spPr>
          <a:xfrm xmlns:a="http://schemas.openxmlformats.org/drawingml/2006/main">
            <a:off x="609600" y="790575"/>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825" b="1">
                <a:solidFill>
                  <a:srgbClr val="F4F2EC"/>
                </a:solidFill>
                <a:latin typeface="Helvetica Neue"/>
                <a:ea typeface="Helvetica Neue"/>
                <a:cs typeface="Helvetica Neue"/>
              </a:defRPr>
            </a:pPr>
            <a:r>
              <a:rPr sz="3825" b="1">
                <a:solidFill>
                  <a:srgbClr val="F4F2EC"/>
                </a:solidFill>
                <a:latin typeface="Helvetica Neue"/>
                <a:ea typeface="Helvetica Neue"/>
                <a:cs typeface="Helvetica Neue"/>
              </a:rPr>
              <a:t>Cilin supozim do të provoni?</a:t>
            </a:r>
          </a:p>
        </p:txBody>
      </p:sp>
      <p:sp>
        <p:nvSpPr>
          <p:cNvPr id="4" name="text-342">
            <a:extLst xmlns:a="http://schemas.openxmlformats.org/drawingml/2006/main">
              <a:ext uri="{FF2B5EF4-FFF2-40B4-BE49-F238E27FC236}">
                <a16:creationId xmlns:a16="http://schemas.microsoft.com/office/drawing/2014/main" id="{A9F629A1-D09E-4B17-BA00-4D959AED610B}"/>
              </a:ext>
            </a:extLst>
          </p:cNvPr>
          <p:cNvSpPr>
            <a:spLocks xmlns:a="http://schemas.openxmlformats.org/drawingml/2006/main" noGrp="1"/>
          </p:cNvSpPr>
          <p:nvPr/>
        </p:nvSpPr>
        <p:spPr>
          <a:xfrm xmlns:a="http://schemas.openxmlformats.org/drawingml/2006/main">
            <a:off x="676275" y="2124075"/>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150" b="0">
                <a:solidFill>
                  <a:srgbClr val="F4F2EC"/>
                </a:solidFill>
                <a:latin typeface="Helvetica Neue"/>
                <a:ea typeface="Helvetica Neue"/>
                <a:cs typeface="Helvetica Neue"/>
              </a:defRPr>
            </a:pPr>
            <a:r>
              <a:rPr sz="3150" b="0">
                <a:solidFill>
                  <a:srgbClr val="F4F2EC"/>
                </a:solidFill>
                <a:latin typeface="Helvetica Neue"/>
                <a:ea typeface="Helvetica Neue"/>
                <a:cs typeface="Helvetica Neue"/>
              </a:rPr>
              <a:t>Përdoruesi im përpiqet të…</a:t>
            </a:r>
          </a:p>
        </p:txBody>
      </p:sp>
      <p:sp>
        <p:nvSpPr>
          <p:cNvPr id="5" name="text-343">
            <a:extLst xmlns:a="http://schemas.openxmlformats.org/drawingml/2006/main">
              <a:ext uri="{FF2B5EF4-FFF2-40B4-BE49-F238E27FC236}">
                <a16:creationId xmlns:a16="http://schemas.microsoft.com/office/drawing/2014/main" id="{702B8AAB-B157-46A9-8CDD-4B0E18707032}"/>
              </a:ext>
            </a:extLst>
          </p:cNvPr>
          <p:cNvSpPr>
            <a:spLocks xmlns:a="http://schemas.openxmlformats.org/drawingml/2006/main" noGrp="1"/>
          </p:cNvSpPr>
          <p:nvPr/>
        </p:nvSpPr>
        <p:spPr>
          <a:xfrm xmlns:a="http://schemas.openxmlformats.org/drawingml/2006/main">
            <a:off x="676275" y="3105150"/>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150" b="0">
                <a:solidFill>
                  <a:srgbClr val="F4F2EC"/>
                </a:solidFill>
                <a:latin typeface="Helvetica Neue"/>
                <a:ea typeface="Helvetica Neue"/>
                <a:cs typeface="Helvetica Neue"/>
              </a:defRPr>
            </a:pPr>
            <a:r>
              <a:rPr sz="3150" b="0">
                <a:solidFill>
                  <a:srgbClr val="F4F2EC"/>
                </a:solidFill>
                <a:latin typeface="Helvetica Neue"/>
                <a:ea typeface="Helvetica Neue"/>
                <a:cs typeface="Helvetica Neue"/>
              </a:rPr>
              <a:t>Sot pengohet nga…</a:t>
            </a:r>
          </a:p>
        </p:txBody>
      </p:sp>
      <p:sp>
        <p:nvSpPr>
          <p:cNvPr id="6" name="text-344">
            <a:extLst xmlns:a="http://schemas.openxmlformats.org/drawingml/2006/main">
              <a:ext uri="{FF2B5EF4-FFF2-40B4-BE49-F238E27FC236}">
                <a16:creationId xmlns:a16="http://schemas.microsoft.com/office/drawing/2014/main" id="{293E1D56-13AB-42A4-B07E-7ADA08EC848B}"/>
              </a:ext>
            </a:extLst>
          </p:cNvPr>
          <p:cNvSpPr>
            <a:spLocks xmlns:a="http://schemas.openxmlformats.org/drawingml/2006/main" noGrp="1"/>
          </p:cNvSpPr>
          <p:nvPr/>
        </p:nvSpPr>
        <p:spPr>
          <a:xfrm xmlns:a="http://schemas.openxmlformats.org/drawingml/2006/main">
            <a:off x="676275" y="4086225"/>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3150" b="1">
                <a:solidFill>
                  <a:srgbClr val="63CDF2"/>
                </a:solidFill>
                <a:latin typeface="Helvetica Neue"/>
                <a:ea typeface="Helvetica Neue"/>
                <a:cs typeface="Helvetica Neue"/>
              </a:defRPr>
            </a:pPr>
            <a:r>
              <a:rPr sz="3150" b="1">
                <a:solidFill>
                  <a:srgbClr val="63CDF2"/>
                </a:solidFill>
                <a:latin typeface="Helvetica Neue"/>
                <a:ea typeface="Helvetica Neue"/>
                <a:cs typeface="Helvetica Neue"/>
              </a:rPr>
              <a:t>Para kodit, do të verifikoj…</a:t>
            </a:r>
          </a:p>
        </p:txBody>
      </p:sp>
      <p:sp>
        <p:nvSpPr>
          <p:cNvPr id="7" name="text-345">
            <a:extLst xmlns:a="http://schemas.openxmlformats.org/drawingml/2006/main">
              <a:ext uri="{FF2B5EF4-FFF2-40B4-BE49-F238E27FC236}">
                <a16:creationId xmlns:a16="http://schemas.microsoft.com/office/drawing/2014/main" id="{0381C4BE-45BF-4C0C-9956-7F194C811590}"/>
              </a:ext>
            </a:extLst>
          </p:cNvPr>
          <p:cNvSpPr>
            <a:spLocks xmlns:a="http://schemas.openxmlformats.org/drawingml/2006/main" noGrp="1"/>
          </p:cNvSpPr>
          <p:nvPr/>
        </p:nvSpPr>
        <p:spPr>
          <a:xfrm xmlns:a="http://schemas.openxmlformats.org/drawingml/2006/main">
            <a:off x="695325" y="5381625"/>
            <a:ext cx="1809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950" b="1">
                <a:solidFill>
                  <a:srgbClr val="F2BB66"/>
                </a:solidFill>
                <a:latin typeface="Helvetica Neue"/>
                <a:ea typeface="Helvetica Neue"/>
                <a:cs typeface="Helvetica Neue"/>
              </a:defRPr>
            </a:pPr>
            <a:r>
              <a:rPr sz="1950" b="1">
                <a:solidFill>
                  <a:srgbClr val="F2BB66"/>
                </a:solidFill>
                <a:latin typeface="Helvetica Neue"/>
                <a:ea typeface="Helvetica Neue"/>
                <a:cs typeface="Helvetica Neue"/>
              </a:rPr>
              <a:t>JAVA 2</a:t>
            </a:r>
          </a:p>
        </p:txBody>
      </p:sp>
      <p:sp>
        <p:nvSpPr>
          <p:cNvPr id="8" name="text-346">
            <a:extLst xmlns:a="http://schemas.openxmlformats.org/drawingml/2006/main">
              <a:ext uri="{FF2B5EF4-FFF2-40B4-BE49-F238E27FC236}">
                <a16:creationId xmlns:a16="http://schemas.microsoft.com/office/drawing/2014/main" id="{5CFF49B5-30D9-47E9-AC51-D1E695D64BBC}"/>
              </a:ext>
            </a:extLst>
          </p:cNvPr>
          <p:cNvSpPr>
            <a:spLocks xmlns:a="http://schemas.openxmlformats.org/drawingml/2006/main" noGrp="1"/>
          </p:cNvSpPr>
          <p:nvPr/>
        </p:nvSpPr>
        <p:spPr>
          <a:xfrm xmlns:a="http://schemas.openxmlformats.org/drawingml/2006/main">
            <a:off x="2676525" y="5305425"/>
            <a:ext cx="86106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2775" b="1">
                <a:solidFill>
                  <a:srgbClr val="F4F2EC"/>
                </a:solidFill>
                <a:latin typeface="Helvetica Neue"/>
                <a:ea typeface="Helvetica Neue"/>
                <a:cs typeface="Helvetica Neue"/>
              </a:defRPr>
            </a:pPr>
            <a:r>
              <a:rPr sz="2775" b="1">
                <a:solidFill>
                  <a:srgbClr val="F4F2EC"/>
                </a:solidFill>
                <a:latin typeface="Helvetica Neue"/>
                <a:ea typeface="Helvetica Neue"/>
                <a:cs typeface="Helvetica Neue"/>
              </a:rPr>
              <a:t>Tri biseda + PRD paraprake</a:t>
            </a:r>
          </a:p>
        </p:txBody>
      </p:sp>
      <p:sp>
        <p:nvSpPr>
          <p:cNvPr id="9" name="text-347">
            <a:extLst xmlns:a="http://schemas.openxmlformats.org/drawingml/2006/main">
              <a:ext uri="{FF2B5EF4-FFF2-40B4-BE49-F238E27FC236}">
                <a16:creationId xmlns:a16="http://schemas.microsoft.com/office/drawing/2014/main" id="{174ACC61-B993-4DD9-B793-BB65A977E305}"/>
              </a:ext>
            </a:extLst>
          </p:cNvPr>
          <p:cNvSpPr>
            <a:spLocks xmlns:a="http://schemas.openxmlformats.org/drawingml/2006/main" noGrp="1"/>
          </p:cNvSpPr>
          <p:nvPr/>
        </p:nvSpPr>
        <p:spPr>
          <a:xfrm xmlns:a="http://schemas.openxmlformats.org/drawingml/2006/main">
            <a:off x="609600" y="5962650"/>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buNone/>
              <a:defRPr sz="1950" b="0">
                <a:solidFill>
                  <a:srgbClr val="AEBFCB"/>
                </a:solidFill>
                <a:latin typeface="Helvetica Neue"/>
                <a:ea typeface="Helvetica Neue"/>
                <a:cs typeface="Helvetica Neue"/>
              </a:defRPr>
            </a:pPr>
            <a:r>
              <a:rPr sz="1950" b="0">
                <a:solidFill>
                  <a:srgbClr val="AEBFCB"/>
                </a:solidFill>
                <a:latin typeface="Helvetica Neue"/>
                <a:ea typeface="Helvetica Neue"/>
                <a:cs typeface="Helvetica Neue"/>
              </a:rPr>
              <a:t>Exit ticket në letër. Një supozim që jeni të gatshëm ta ndryshoni.</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2405347440b457e"/>
          <a:stretch xmlns:a="http://schemas.openxmlformats.org/drawingml/2006/main"/>
        </p:blipFill>
        <p:spPr>
          <a:xfrm xmlns:a="http://schemas.openxmlformats.org/drawingml/2006/main">
            <a:off x="9525000" y="299045"/>
            <a:ext cx="1190625" cy="240109"/>
          </a:xfrm>
          <a:prstGeom xmlns:a="http://schemas.openxmlformats.org/drawingml/2006/main" prst="rect">
            <a:avLst/>
          </a:prstGeom>
        </p:spPr>
      </p:pic>
    </p:spTree>
    <p:extLst>
      <p:ext uri="{BB962C8B-B14F-4D97-AF65-F5344CB8AC3E}">
        <p14:creationId xmlns:p14="http://schemas.microsoft.com/office/powerpoint/2010/main" val="8294203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2026-09-17T08:15:38.4450000Z</dcterms:created>
  <dcterms:modified xsi:type="dcterms:W3CDTF">2026-09-17T08:15:38.4450000Z</dcterms:modified>
</coreProperties>
</file>